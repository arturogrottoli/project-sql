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05" r:id="rId1"/>
    <p:sldMasterId id="2147483706" r:id="rId2"/>
    <p:sldMasterId id="2147483707" r:id="rId3"/>
    <p:sldMasterId id="2147483708" r:id="rId4"/>
  </p:sldMasterIdLst>
  <p:notesMasterIdLst>
    <p:notesMasterId r:id="rId53"/>
  </p:notesMasterIdLst>
  <p:sldIdLst>
    <p:sldId id="310" r:id="rId5"/>
    <p:sldId id="286" r:id="rId6"/>
    <p:sldId id="293" r:id="rId7"/>
    <p:sldId id="294" r:id="rId8"/>
    <p:sldId id="295" r:id="rId9"/>
    <p:sldId id="296" r:id="rId10"/>
    <p:sldId id="287" r:id="rId11"/>
    <p:sldId id="288" r:id="rId12"/>
    <p:sldId id="289" r:id="rId13"/>
    <p:sldId id="260" r:id="rId14"/>
    <p:sldId id="261" r:id="rId15"/>
    <p:sldId id="290" r:id="rId16"/>
    <p:sldId id="299" r:id="rId17"/>
    <p:sldId id="291" r:id="rId18"/>
    <p:sldId id="265" r:id="rId19"/>
    <p:sldId id="266" r:id="rId20"/>
    <p:sldId id="267" r:id="rId21"/>
    <p:sldId id="268" r:id="rId22"/>
    <p:sldId id="269" r:id="rId23"/>
    <p:sldId id="300" r:id="rId24"/>
    <p:sldId id="271" r:id="rId25"/>
    <p:sldId id="272" r:id="rId26"/>
    <p:sldId id="273" r:id="rId27"/>
    <p:sldId id="298" r:id="rId28"/>
    <p:sldId id="301" r:id="rId29"/>
    <p:sldId id="302" r:id="rId30"/>
    <p:sldId id="303" r:id="rId31"/>
    <p:sldId id="305" r:id="rId32"/>
    <p:sldId id="306" r:id="rId33"/>
    <p:sldId id="307" r:id="rId34"/>
    <p:sldId id="308" r:id="rId35"/>
    <p:sldId id="309" r:id="rId36"/>
    <p:sldId id="311" r:id="rId37"/>
    <p:sldId id="312" r:id="rId38"/>
    <p:sldId id="315" r:id="rId39"/>
    <p:sldId id="316" r:id="rId40"/>
    <p:sldId id="317" r:id="rId41"/>
    <p:sldId id="304" r:id="rId42"/>
    <p:sldId id="313" r:id="rId43"/>
    <p:sldId id="314" r:id="rId44"/>
    <p:sldId id="318" r:id="rId45"/>
    <p:sldId id="319" r:id="rId46"/>
    <p:sldId id="320" r:id="rId47"/>
    <p:sldId id="321" r:id="rId48"/>
    <p:sldId id="322" r:id="rId49"/>
    <p:sldId id="323" r:id="rId50"/>
    <p:sldId id="292" r:id="rId51"/>
    <p:sldId id="297" r:id="rId5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816" y="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bb91f55cac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bb91f55cac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40703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84623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85820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59484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96343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3521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bb91f55cac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bb91f55cac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70478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b53643a157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3b53643a157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22003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b53643a157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3b53643a157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256813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0" name="Google Shape;270;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8" name="Google Shape;288;p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635026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86774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b53643a157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3b53643a157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65618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2" name="Google Shape;332;p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419" sz="1300">
                <a:solidFill>
                  <a:schemeClr val="dk1"/>
                </a:solidFill>
              </a:rPr>
              <a:t>En los casos donde se da esta situación, el contenido de la información sufre de lo que se denomina como </a:t>
            </a:r>
            <a:r>
              <a:rPr lang="es-419" sz="1300" b="1" i="1">
                <a:solidFill>
                  <a:schemeClr val="dk1"/>
                </a:solidFill>
              </a:rPr>
              <a:t>defecto grave en términos de eficiencia</a:t>
            </a:r>
            <a:r>
              <a:rPr lang="es-419" sz="1300">
                <a:solidFill>
                  <a:schemeClr val="dk1"/>
                </a:solidFill>
              </a:rPr>
              <a:t>. Esto ocurre porque sus datos se tornan repetitivos donde, por ejemplo, se repite el nombre de un proveedor en cada una de las celdas que debe figurar la denominación social de éste.</a:t>
            </a:r>
            <a:endParaRPr sz="1300">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sz="1300">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s-419" sz="1300">
                <a:solidFill>
                  <a:schemeClr val="dk1"/>
                </a:solidFill>
              </a:rPr>
              <a:t>Con el tiempo y, sobre todo, en los casos donde la información que se carga es constante, una base de datos plana crecerá de forma significativa por la repetición de caracteres constante que se da cada vez que se registra en la columna </a:t>
            </a:r>
            <a:r>
              <a:rPr lang="es-419" sz="1300" b="1">
                <a:solidFill>
                  <a:schemeClr val="dk1"/>
                </a:solidFill>
              </a:rPr>
              <a:t>PROVEEDOR</a:t>
            </a:r>
            <a:r>
              <a:rPr lang="es-419" sz="1300">
                <a:solidFill>
                  <a:schemeClr val="dk1"/>
                </a:solidFill>
              </a:rPr>
              <a:t>, el nombre de éste. La base de datos se tornará lenta cuando consultemos la información almacenada y está tenga miles o decenas de miles de registros con información repetida.</a:t>
            </a:r>
            <a:endParaRPr>
              <a:solidFill>
                <a:schemeClr val="dk1"/>
              </a:solidFill>
              <a:latin typeface="DM Sans"/>
              <a:ea typeface="DM Sans"/>
              <a:cs typeface="DM Sans"/>
              <a:sym typeface="DM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21c196c32c5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9" name="Google Shape;339;g21c196c32c5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21c196c32c5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7" name="Google Shape;347;g21c196c32c5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419" sz="1300">
                <a:solidFill>
                  <a:schemeClr val="dk1"/>
                </a:solidFill>
              </a:rPr>
              <a:t>Convertir la DB plana en una DB relacional nos lleva a tener que plantear más de una tabla. Separar por un lado los datos del PROVEEDOR de los datos de cada COMPRA eso evitará todos los problemas que trae la redundancia, o la pérdida de información cuando se borre el último registro de un proveedor, o que no se pueda registrar información de un proveedor que aún no ha realizado compras.</a:t>
            </a:r>
            <a:endParaRPr sz="1300">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sz="1300">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s-419" sz="1300">
                <a:solidFill>
                  <a:schemeClr val="dk1"/>
                </a:solidFill>
              </a:rPr>
              <a:t>A medida que avancemos en este curso, todo esto nos será mucho más claro, principalmente en el momento en el cual aprendamos la funcionalidad de las relaciones.</a:t>
            </a:r>
            <a:endParaRPr sz="1300">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sz="1300">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1c196c32c5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5" name="Google Shape;355;g21c196c32c5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419" sz="1300">
                <a:solidFill>
                  <a:schemeClr val="dk1"/>
                </a:solidFill>
              </a:rPr>
              <a:t>Si bien el ejemplo que elaboramos es muy simple, nos alcanza para entender la importancia que implica definir correctamente los datos que debemos almacenar.</a:t>
            </a:r>
            <a:endParaRPr sz="1300">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sz="1300">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s-419" sz="1300">
                <a:solidFill>
                  <a:schemeClr val="dk1"/>
                </a:solidFill>
              </a:rPr>
              <a:t>No deberíamos estar guardando datos duplicados ya que esto lleva a tener anomalías en los datos</a:t>
            </a:r>
            <a:endParaRPr sz="1300">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s-419" sz="1300">
                <a:solidFill>
                  <a:schemeClr val="dk1"/>
                </a:solidFill>
              </a:rPr>
              <a:t>No deberíamos borrar datos que nos lleven a perder información</a:t>
            </a:r>
            <a:endParaRPr sz="1300">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s-419" sz="1300">
                <a:solidFill>
                  <a:schemeClr val="dk1"/>
                </a:solidFill>
              </a:rPr>
              <a:t>Optimizamos el espacio de almacenamiento</a:t>
            </a:r>
            <a:endParaRPr sz="1300">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s-419" sz="1300">
                <a:solidFill>
                  <a:schemeClr val="dk1"/>
                </a:solidFill>
              </a:rPr>
              <a:t>Reducimos el tiempo y complejidad de revisión de las bases de datos cuando es necesario introducir nuevos tipos de datos</a:t>
            </a:r>
            <a:endParaRPr sz="1300">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1" name="Google Shape;361;p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s-419" sz="1300">
                <a:solidFill>
                  <a:schemeClr val="dk1"/>
                </a:solidFill>
              </a:rPr>
              <a:t>Como pista, piensa en cada uno de los datos independientes de otros que puede contener una factura: </a:t>
            </a:r>
            <a:r>
              <a:rPr lang="es-419" sz="1300" b="1">
                <a:solidFill>
                  <a:schemeClr val="dk1"/>
                </a:solidFill>
              </a:rPr>
              <a:t>clientes</a:t>
            </a:r>
            <a:r>
              <a:rPr lang="es-419" sz="1300">
                <a:solidFill>
                  <a:schemeClr val="dk1"/>
                </a:solidFill>
              </a:rPr>
              <a:t>, </a:t>
            </a:r>
            <a:r>
              <a:rPr lang="es-419" sz="1300" b="1">
                <a:solidFill>
                  <a:schemeClr val="dk1"/>
                </a:solidFill>
              </a:rPr>
              <a:t>tipo de cliente</a:t>
            </a:r>
            <a:r>
              <a:rPr lang="es-419" sz="1300">
                <a:solidFill>
                  <a:schemeClr val="dk1"/>
                </a:solidFill>
              </a:rPr>
              <a:t>, </a:t>
            </a:r>
            <a:r>
              <a:rPr lang="es-419" sz="1300" b="1">
                <a:solidFill>
                  <a:schemeClr val="dk1"/>
                </a:solidFill>
              </a:rPr>
              <a:t>proveedor</a:t>
            </a:r>
            <a:r>
              <a:rPr lang="es-419" sz="1300">
                <a:solidFill>
                  <a:schemeClr val="dk1"/>
                </a:solidFill>
              </a:rPr>
              <a:t>, </a:t>
            </a:r>
            <a:r>
              <a:rPr lang="es-419" sz="1300" b="1">
                <a:solidFill>
                  <a:schemeClr val="dk1"/>
                </a:solidFill>
              </a:rPr>
              <a:t>domicilio de facturación</a:t>
            </a:r>
            <a:r>
              <a:rPr lang="es-419" sz="1300">
                <a:solidFill>
                  <a:schemeClr val="dk1"/>
                </a:solidFill>
              </a:rPr>
              <a:t>, </a:t>
            </a:r>
            <a:r>
              <a:rPr lang="es-419" sz="1300" b="1">
                <a:solidFill>
                  <a:schemeClr val="dk1"/>
                </a:solidFill>
              </a:rPr>
              <a:t>domicilio de entrega</a:t>
            </a:r>
            <a:r>
              <a:rPr lang="es-419" sz="1300">
                <a:solidFill>
                  <a:schemeClr val="dk1"/>
                </a:solidFill>
              </a:rPr>
              <a:t>, </a:t>
            </a:r>
            <a:r>
              <a:rPr lang="es-419" sz="1300" b="1">
                <a:solidFill>
                  <a:schemeClr val="dk1"/>
                </a:solidFill>
              </a:rPr>
              <a:t>productos</a:t>
            </a:r>
            <a:r>
              <a:rPr lang="es-419" sz="1300">
                <a:solidFill>
                  <a:schemeClr val="dk1"/>
                </a:solidFill>
              </a:rPr>
              <a:t>, tal vez una </a:t>
            </a:r>
            <a:r>
              <a:rPr lang="es-419" sz="1300" b="1">
                <a:solidFill>
                  <a:schemeClr val="dk1"/>
                </a:solidFill>
              </a:rPr>
              <a:t>lista de precios</a:t>
            </a:r>
            <a:r>
              <a:rPr lang="es-419" sz="1300">
                <a:solidFill>
                  <a:schemeClr val="dk1"/>
                </a:solidFill>
              </a:rPr>
              <a:t> por cada tipo de cliente...</a:t>
            </a:r>
            <a:endParaRPr sz="1300">
              <a:solidFill>
                <a:schemeClr val="dk1"/>
              </a:solidFill>
            </a:endParaRPr>
          </a:p>
          <a:p>
            <a:pPr marL="0" lvl="0" indent="0" algn="l" rtl="0">
              <a:lnSpc>
                <a:spcPct val="100000"/>
              </a:lnSpc>
              <a:spcBef>
                <a:spcPts val="0"/>
              </a:spcBef>
              <a:spcAft>
                <a:spcPts val="0"/>
              </a:spcAft>
              <a:buSzPts val="1100"/>
              <a:buNone/>
            </a:pPr>
            <a:endParaRPr sz="1300">
              <a:solidFill>
                <a:schemeClr val="dk1"/>
              </a:solidFill>
            </a:endParaRPr>
          </a:p>
          <a:p>
            <a:pPr marL="0" lvl="0" indent="0" algn="l" rtl="0">
              <a:lnSpc>
                <a:spcPct val="100000"/>
              </a:lnSpc>
              <a:spcBef>
                <a:spcPts val="0"/>
              </a:spcBef>
              <a:spcAft>
                <a:spcPts val="0"/>
              </a:spcAft>
              <a:buSzPts val="1100"/>
              <a:buNone/>
            </a:pPr>
            <a:r>
              <a:rPr lang="es-419" sz="1300">
                <a:solidFill>
                  <a:schemeClr val="dk1"/>
                </a:solidFill>
              </a:rPr>
              <a:t>Como ves, los datos que podemos encontrar en una factura de compra pueden ser bastante más amplios de lo que podemos imaginarnos. En el transcurso de este curso irás viendo otros ejemplos complejos como éste, para poder entender bien cómo administrar toda la información a almacenar en una base de datos, de la manera más eficiente y menos repetitiva posible.</a:t>
            </a:r>
            <a:endParaRPr b="1">
              <a:solidFill>
                <a:schemeClr val="dk1"/>
              </a:solidFill>
              <a:latin typeface="DM Sans"/>
              <a:ea typeface="DM Sans"/>
              <a:cs typeface="DM Sans"/>
              <a:sym typeface="DM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140199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6" name="Google Shape;376;p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419" b="1">
                <a:solidFill>
                  <a:schemeClr val="dk1"/>
                </a:solidFill>
                <a:latin typeface="DM Sans"/>
                <a:ea typeface="DM Sans"/>
                <a:cs typeface="DM Sans"/>
                <a:sym typeface="DM Sans"/>
              </a:rPr>
              <a:t>“Ejemplo en vivo”</a:t>
            </a:r>
            <a:endParaRPr b="1">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419">
                <a:solidFill>
                  <a:schemeClr val="dk1"/>
                </a:solidFill>
                <a:latin typeface="DM Sans"/>
                <a:ea typeface="DM Sans"/>
                <a:cs typeface="DM Sans"/>
                <a:sym typeface="DM Sans"/>
              </a:rPr>
              <a:t>El docente realizará una tarea compartiendo la pantalla en vivo. Se centrará en los pasos y los aspectos a tener en cuenta.</a:t>
            </a:r>
            <a:endParaRPr>
              <a:latin typeface="DM Sans"/>
              <a:ea typeface="DM Sans"/>
              <a:cs typeface="DM Sans"/>
              <a:sym typeface="DM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8" name="Google Shape;388;p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419">
                <a:solidFill>
                  <a:schemeClr val="dk1"/>
                </a:solidFill>
                <a:latin typeface="DM Sans"/>
                <a:ea typeface="DM Sans"/>
                <a:cs typeface="DM Sans"/>
                <a:sym typeface="DM Sans"/>
              </a:rPr>
              <a:t>Usar para Actividades en clase.</a:t>
            </a:r>
            <a:endParaRPr>
              <a:latin typeface="DM Sans"/>
              <a:ea typeface="DM Sans"/>
              <a:cs typeface="DM Sans"/>
              <a:sym typeface="DM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8" name="Google Shape;398;p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419">
                <a:solidFill>
                  <a:schemeClr val="dk1"/>
                </a:solidFill>
                <a:latin typeface="DM Sans"/>
                <a:ea typeface="DM Sans"/>
                <a:cs typeface="DM Sans"/>
                <a:sym typeface="DM Sans"/>
              </a:rPr>
              <a:t>Usar para las subsiguientes slides de Actividades en clase.</a:t>
            </a:r>
            <a:endParaRPr>
              <a:latin typeface="DM Sans"/>
              <a:ea typeface="DM Sans"/>
              <a:cs typeface="DM Sans"/>
              <a:sym typeface="DM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75628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74382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182389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80872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616171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687905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52563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20145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58692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79524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38317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43178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56772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483491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95110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833277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06297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01201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160951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864589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05378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0191948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592342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937201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97566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02-B">
  <p:cSld name="SECTION_HEADER_1">
    <p:bg>
      <p:bgPr>
        <a:blipFill>
          <a:blip r:embed="rId2">
            <a:alphaModFix/>
          </a:blip>
          <a:stretch>
            <a:fillRect/>
          </a:stretch>
        </a:blipFill>
        <a:effectLst/>
      </p:bgPr>
    </p:bg>
    <p:spTree>
      <p:nvGrpSpPr>
        <p:cNvPr id="1" name="Shape 11"/>
        <p:cNvGrpSpPr/>
        <p:nvPr/>
      </p:nvGrpSpPr>
      <p:grpSpPr>
        <a:xfrm>
          <a:off x="0" y="0"/>
          <a:ext cx="0" cy="0"/>
          <a:chOff x="0" y="0"/>
          <a:chExt cx="0" cy="0"/>
        </a:xfrm>
      </p:grpSpPr>
      <p:pic>
        <p:nvPicPr>
          <p:cNvPr id="12" name="Google Shape;12;p3" title="logo coderhouse"/>
          <p:cNvPicPr preferRelativeResize="0"/>
          <p:nvPr/>
        </p:nvPicPr>
        <p:blipFill rotWithShape="1">
          <a:blip r:embed="rId3">
            <a:alphaModFix/>
          </a:blip>
          <a:srcRect/>
          <a:stretch/>
        </p:blipFill>
        <p:spPr>
          <a:xfrm>
            <a:off x="7874775" y="4720250"/>
            <a:ext cx="1024025" cy="2116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Fondo blanco">
  <p:cSld name="SECTION_HEADER_1_1_1_1_1_1_1_1">
    <p:spTree>
      <p:nvGrpSpPr>
        <p:cNvPr id="1" name="Shape 13"/>
        <p:cNvGrpSpPr/>
        <p:nvPr/>
      </p:nvGrpSpPr>
      <p:grpSpPr>
        <a:xfrm>
          <a:off x="0" y="0"/>
          <a:ext cx="0" cy="0"/>
          <a:chOff x="0" y="0"/>
          <a:chExt cx="0" cy="0"/>
        </a:xfrm>
      </p:grpSpPr>
      <p:pic>
        <p:nvPicPr>
          <p:cNvPr id="14" name="Google Shape;14;p4" title="logo coderhouse"/>
          <p:cNvPicPr preferRelativeResize="0"/>
          <p:nvPr/>
        </p:nvPicPr>
        <p:blipFill rotWithShape="1">
          <a:blip r:embed="rId2">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03-A">
  <p:cSld name="SECTION_HEADER_1_1">
    <p:bg>
      <p:bgPr>
        <a:blipFill>
          <a:blip r:embed="rId2">
            <a:alphaModFix/>
          </a:blip>
          <a:stretch>
            <a:fillRect/>
          </a:stretch>
        </a:blipFill>
        <a:effectLst/>
      </p:bgPr>
    </p:bg>
    <p:spTree>
      <p:nvGrpSpPr>
        <p:cNvPr id="1" name="Shape 15"/>
        <p:cNvGrpSpPr/>
        <p:nvPr/>
      </p:nvGrpSpPr>
      <p:grpSpPr>
        <a:xfrm>
          <a:off x="0" y="0"/>
          <a:ext cx="0" cy="0"/>
          <a:chOff x="0" y="0"/>
          <a:chExt cx="0" cy="0"/>
        </a:xfrm>
      </p:grpSpPr>
      <p:pic>
        <p:nvPicPr>
          <p:cNvPr id="16" name="Google Shape;16;p5"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 imagen">
  <p:cSld name="SECTION_HEADER_1_1_1_1_1_1_1_2">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6"/>
          <p:cNvSpPr/>
          <p:nvPr/>
        </p:nvSpPr>
        <p:spPr>
          <a:xfrm>
            <a:off x="6592475" y="0"/>
            <a:ext cx="2551500" cy="51435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9" name="Google Shape;19;p6"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rátula 1">
  <p:cSld name="SECTION_HEADER_1_1_1">
    <p:bg>
      <p:bgPr>
        <a:blipFill>
          <a:blip r:embed="rId2">
            <a:alphaModFix/>
          </a:blip>
          <a:stretch>
            <a:fillRect/>
          </a:stretch>
        </a:blipFill>
        <a:effectLst/>
      </p:bgPr>
    </p:bg>
    <p:spTree>
      <p:nvGrpSpPr>
        <p:cNvPr id="1" name="Shape 20"/>
        <p:cNvGrpSpPr/>
        <p:nvPr/>
      </p:nvGrpSpPr>
      <p:grpSpPr>
        <a:xfrm>
          <a:off x="0" y="0"/>
          <a:ext cx="0" cy="0"/>
          <a:chOff x="0" y="0"/>
          <a:chExt cx="0" cy="0"/>
        </a:xfrm>
      </p:grpSpPr>
      <p:pic>
        <p:nvPicPr>
          <p:cNvPr id="21" name="Google Shape;21;p7"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 imagen 1">
  <p:cSld name="SECTION_HEADER_1_1_1_1_1_1_1_3">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8"/>
          <p:cNvSpPr/>
          <p:nvPr/>
        </p:nvSpPr>
        <p:spPr>
          <a:xfrm>
            <a:off x="6592475" y="0"/>
            <a:ext cx="2551500" cy="51435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 name="Google Shape;24;p8"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7"/>
        <p:cNvGrpSpPr/>
        <p:nvPr/>
      </p:nvGrpSpPr>
      <p:grpSpPr>
        <a:xfrm>
          <a:off x="0" y="0"/>
          <a:ext cx="0" cy="0"/>
          <a:chOff x="0" y="0"/>
          <a:chExt cx="0" cy="0"/>
        </a:xfrm>
      </p:grpSpPr>
      <p:sp>
        <p:nvSpPr>
          <p:cNvPr id="28" name="Google Shape;28;p10"/>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29" name="Google Shape;29;p10"/>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30" name="Google Shape;3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1"/>
        <p:cNvGrpSpPr/>
        <p:nvPr/>
      </p:nvGrpSpPr>
      <p:grpSpPr>
        <a:xfrm>
          <a:off x="0" y="0"/>
          <a:ext cx="0" cy="0"/>
          <a:chOff x="0" y="0"/>
          <a:chExt cx="0" cy="0"/>
        </a:xfrm>
      </p:grpSpPr>
      <p:sp>
        <p:nvSpPr>
          <p:cNvPr id="32" name="Google Shape;32;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3" name="Google Shape;33;p1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4" name="Google Shape;34;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sp>
        <p:nvSpPr>
          <p:cNvPr id="36" name="Google Shape;36;p12"/>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37" name="Google Shape;37;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0" name="Google Shape;40;p13"/>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1" name="Google Shape;41;p13"/>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2" name="Google Shape;42;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5" name="Google Shape;45;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15"/>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8" name="Google Shape;48;p15"/>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9" name="Google Shape;49;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0"/>
        <p:cNvGrpSpPr/>
        <p:nvPr/>
      </p:nvGrpSpPr>
      <p:grpSpPr>
        <a:xfrm>
          <a:off x="0" y="0"/>
          <a:ext cx="0" cy="0"/>
          <a:chOff x="0" y="0"/>
          <a:chExt cx="0" cy="0"/>
        </a:xfrm>
      </p:grpSpPr>
      <p:sp>
        <p:nvSpPr>
          <p:cNvPr id="51" name="Google Shape;51;p16"/>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52" name="Google Shape;52;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3"/>
        <p:cNvGrpSpPr/>
        <p:nvPr/>
      </p:nvGrpSpPr>
      <p:grpSpPr>
        <a:xfrm>
          <a:off x="0" y="0"/>
          <a:ext cx="0" cy="0"/>
          <a:chOff x="0" y="0"/>
          <a:chExt cx="0" cy="0"/>
        </a:xfrm>
      </p:grpSpPr>
      <p:sp>
        <p:nvSpPr>
          <p:cNvPr id="54" name="Google Shape;54;p17"/>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17"/>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6" name="Google Shape;56;p17"/>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7" name="Google Shape;57;p17"/>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8" name="Google Shape;58;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9"/>
        <p:cNvGrpSpPr/>
        <p:nvPr/>
      </p:nvGrpSpPr>
      <p:grpSpPr>
        <a:xfrm>
          <a:off x="0" y="0"/>
          <a:ext cx="0" cy="0"/>
          <a:chOff x="0" y="0"/>
          <a:chExt cx="0" cy="0"/>
        </a:xfrm>
      </p:grpSpPr>
      <p:sp>
        <p:nvSpPr>
          <p:cNvPr id="60" name="Google Shape;60;p18"/>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61" name="Google Shape;61;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2"/>
        <p:cNvGrpSpPr/>
        <p:nvPr/>
      </p:nvGrpSpPr>
      <p:grpSpPr>
        <a:xfrm>
          <a:off x="0" y="0"/>
          <a:ext cx="0" cy="0"/>
          <a:chOff x="0" y="0"/>
          <a:chExt cx="0" cy="0"/>
        </a:xfrm>
      </p:grpSpPr>
      <p:sp>
        <p:nvSpPr>
          <p:cNvPr id="63" name="Google Shape;63;p19"/>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4" name="Google Shape;64;p19"/>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5" name="Google Shape;65;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6"/>
        <p:cNvGrpSpPr/>
        <p:nvPr/>
      </p:nvGrpSpPr>
      <p:grpSpPr>
        <a:xfrm>
          <a:off x="0" y="0"/>
          <a:ext cx="0" cy="0"/>
          <a:chOff x="0" y="0"/>
          <a:chExt cx="0" cy="0"/>
        </a:xfrm>
      </p:grpSpPr>
      <p:sp>
        <p:nvSpPr>
          <p:cNvPr id="67" name="Google Shape;67;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Gradiente">
  <p:cSld name="Gradiente">
    <p:spTree>
      <p:nvGrpSpPr>
        <p:cNvPr id="1" name="Shape 85"/>
        <p:cNvGrpSpPr/>
        <p:nvPr/>
      </p:nvGrpSpPr>
      <p:grpSpPr>
        <a:xfrm>
          <a:off x="0" y="0"/>
          <a:ext cx="0" cy="0"/>
          <a:chOff x="0" y="0"/>
          <a:chExt cx="0" cy="0"/>
        </a:xfrm>
      </p:grpSpPr>
      <p:pic>
        <p:nvPicPr>
          <p:cNvPr id="86" name="Google Shape;86;p22" title="Coder Facebook (6).png"/>
          <p:cNvPicPr preferRelativeResize="0"/>
          <p:nvPr/>
        </p:nvPicPr>
        <p:blipFill>
          <a:blip r:embed="rId2">
            <a:alphaModFix/>
          </a:blip>
          <a:stretch>
            <a:fillRect/>
          </a:stretch>
        </p:blipFill>
        <p:spPr>
          <a:xfrm>
            <a:off x="-111725" y="0"/>
            <a:ext cx="9255725" cy="5206351"/>
          </a:xfrm>
          <a:prstGeom prst="rect">
            <a:avLst/>
          </a:prstGeom>
          <a:noFill/>
          <a:ln>
            <a:noFill/>
          </a:ln>
        </p:spPr>
      </p:pic>
    </p:spTree>
    <p:extLst>
      <p:ext uri="{BB962C8B-B14F-4D97-AF65-F5344CB8AC3E}">
        <p14:creationId xmlns:p14="http://schemas.microsoft.com/office/powerpoint/2010/main" val="26931979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rrón">
  <p:cSld name="Marrón">
    <p:bg>
      <p:bgPr>
        <a:solidFill>
          <a:srgbClr val="260700"/>
        </a:solidFill>
        <a:effectLst/>
      </p:bgPr>
    </p:bg>
    <p:spTree>
      <p:nvGrpSpPr>
        <p:cNvPr id="1" name="Shape 79"/>
        <p:cNvGrpSpPr/>
        <p:nvPr/>
      </p:nvGrpSpPr>
      <p:grpSpPr>
        <a:xfrm>
          <a:off x="0" y="0"/>
          <a:ext cx="0" cy="0"/>
          <a:chOff x="0" y="0"/>
          <a:chExt cx="0" cy="0"/>
        </a:xfrm>
      </p:grpSpPr>
      <p:sp>
        <p:nvSpPr>
          <p:cNvPr id="80" name="Google Shape;80;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34804628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co 1">
  <p:cSld name="Blanco 1">
    <p:bg>
      <p:bgPr>
        <a:solidFill>
          <a:schemeClr val="lt1"/>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
        <p:nvSpPr>
          <p:cNvPr id="55" name="Google Shape;55;p14"/>
          <p:cNvSpPr txBox="1"/>
          <p:nvPr/>
        </p:nvSpPr>
        <p:spPr>
          <a:xfrm>
            <a:off x="476125" y="165026"/>
            <a:ext cx="6444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Coderhouse</a:t>
            </a:r>
            <a:endParaRPr sz="500">
              <a:solidFill>
                <a:srgbClr val="222224"/>
              </a:solidFill>
              <a:latin typeface="Plus Jakarta Sans"/>
              <a:ea typeface="Plus Jakarta Sans"/>
              <a:cs typeface="Plus Jakarta Sans"/>
              <a:sym typeface="Plus Jakarta Sans"/>
            </a:endParaRPr>
          </a:p>
        </p:txBody>
      </p:sp>
      <p:sp>
        <p:nvSpPr>
          <p:cNvPr id="56" name="Google Shape;56;p14"/>
          <p:cNvSpPr txBox="1"/>
          <p:nvPr/>
        </p:nvSpPr>
        <p:spPr>
          <a:xfrm>
            <a:off x="6923014" y="165026"/>
            <a:ext cx="1188600" cy="1884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Internal  Presentation</a:t>
            </a:r>
            <a:endParaRPr sz="500">
              <a:solidFill>
                <a:srgbClr val="222224"/>
              </a:solidFill>
              <a:latin typeface="Plus Jakarta Sans"/>
              <a:ea typeface="Plus Jakarta Sans"/>
              <a:cs typeface="Plus Jakarta Sans"/>
              <a:sym typeface="Plus Jakarta Sans"/>
            </a:endParaRPr>
          </a:p>
        </p:txBody>
      </p:sp>
      <p:sp>
        <p:nvSpPr>
          <p:cNvPr id="57" name="Google Shape;57;p14"/>
          <p:cNvSpPr txBox="1"/>
          <p:nvPr/>
        </p:nvSpPr>
        <p:spPr>
          <a:xfrm>
            <a:off x="2196557" y="165026"/>
            <a:ext cx="12420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2026</a:t>
            </a:r>
            <a:endParaRPr sz="500">
              <a:solidFill>
                <a:srgbClr val="222224"/>
              </a:solidFill>
              <a:latin typeface="Plus Jakarta Sans"/>
              <a:ea typeface="Plus Jakarta Sans"/>
              <a:cs typeface="Plus Jakarta Sans"/>
              <a:sym typeface="Plus Jakarta Sans"/>
            </a:endParaRPr>
          </a:p>
        </p:txBody>
      </p:sp>
      <p:sp>
        <p:nvSpPr>
          <p:cNvPr id="58" name="Google Shape;58;p14"/>
          <p:cNvSpPr txBox="1"/>
          <p:nvPr/>
        </p:nvSpPr>
        <p:spPr>
          <a:xfrm>
            <a:off x="8373525" y="90649"/>
            <a:ext cx="369600" cy="337200"/>
          </a:xfrm>
          <a:prstGeom prst="rect">
            <a:avLst/>
          </a:prstGeom>
          <a:noFill/>
          <a:ln>
            <a:noFill/>
          </a:ln>
        </p:spPr>
        <p:txBody>
          <a:bodyPr spcFirstLastPara="1" wrap="square" lIns="88475" tIns="88475" rIns="88475" bIns="88475" anchor="ctr" anchorCtr="0">
            <a:noAutofit/>
          </a:bodyPr>
          <a:lstStyle/>
          <a:p>
            <a:pPr marL="0" lvl="0" indent="0" algn="ctr" rtl="0">
              <a:lnSpc>
                <a:spcPct val="100000"/>
              </a:lnSpc>
              <a:spcBef>
                <a:spcPts val="0"/>
              </a:spcBef>
              <a:spcAft>
                <a:spcPts val="0"/>
              </a:spcAft>
              <a:buNone/>
            </a:pPr>
            <a:fld id="{00000000-1234-1234-1234-123412341234}" type="slidenum">
              <a:rPr lang="es" sz="500">
                <a:solidFill>
                  <a:srgbClr val="222224"/>
                </a:solidFill>
                <a:latin typeface="Plus Jakarta Sans"/>
                <a:ea typeface="Plus Jakarta Sans"/>
                <a:cs typeface="Plus Jakarta Sans"/>
                <a:sym typeface="Plus Jakarta Sans"/>
              </a:rPr>
              <a:t>‹Nº›</a:t>
            </a:fld>
            <a:endParaRPr sz="500">
              <a:solidFill>
                <a:srgbClr val="222224"/>
              </a:solidFill>
              <a:latin typeface="Plus Jakarta Sans"/>
              <a:ea typeface="Plus Jakarta Sans"/>
              <a:cs typeface="Plus Jakarta Sans"/>
              <a:sym typeface="Plus Jakarta Sans"/>
            </a:endParaRPr>
          </a:p>
        </p:txBody>
      </p:sp>
    </p:spTree>
    <p:extLst>
      <p:ext uri="{BB962C8B-B14F-4D97-AF65-F5344CB8AC3E}">
        <p14:creationId xmlns:p14="http://schemas.microsoft.com/office/powerpoint/2010/main" val="28920829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03-B">
  <p:cSld name="SECTION_HEADER_1_1_1_1_1_1_1_1_1">
    <p:bg>
      <p:bgPr>
        <a:blipFill>
          <a:blip r:embed="rId2">
            <a:alphaModFix/>
          </a:blip>
          <a:stretch>
            <a:fillRect/>
          </a:stretch>
        </a:blipFill>
        <a:effectLst/>
      </p:bgPr>
    </p:bg>
    <p:spTree>
      <p:nvGrpSpPr>
        <p:cNvPr id="1" name="Shape 72"/>
        <p:cNvGrpSpPr/>
        <p:nvPr/>
      </p:nvGrpSpPr>
      <p:grpSpPr>
        <a:xfrm>
          <a:off x="0" y="0"/>
          <a:ext cx="0" cy="0"/>
          <a:chOff x="0" y="0"/>
          <a:chExt cx="0" cy="0"/>
        </a:xfrm>
      </p:grpSpPr>
      <p:pic>
        <p:nvPicPr>
          <p:cNvPr id="73" name="Google Shape;73;p22"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arátula 1">
  <p:cSld name="SECTION_HEADER_1_1_1">
    <p:bg>
      <p:bgPr>
        <a:blipFill>
          <a:blip r:embed="rId2">
            <a:alphaModFix/>
          </a:blip>
          <a:stretch>
            <a:fillRect/>
          </a:stretch>
        </a:blipFill>
        <a:effectLst/>
      </p:bgPr>
    </p:bg>
    <p:spTree>
      <p:nvGrpSpPr>
        <p:cNvPr id="1" name="Shape 76"/>
        <p:cNvGrpSpPr/>
        <p:nvPr/>
      </p:nvGrpSpPr>
      <p:grpSpPr>
        <a:xfrm>
          <a:off x="0" y="0"/>
          <a:ext cx="0" cy="0"/>
          <a:chOff x="0" y="0"/>
          <a:chExt cx="0" cy="0"/>
        </a:xfrm>
      </p:grpSpPr>
      <p:pic>
        <p:nvPicPr>
          <p:cNvPr id="77" name="Google Shape;77;p24"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uadro">
  <p:cSld name="SECTION_HEADER_1_1_1_1_1_1">
    <p:bg>
      <p:bgPr>
        <a:blipFill>
          <a:blip r:embed="rId2">
            <a:alphaModFix/>
          </a:blip>
          <a:stretch>
            <a:fillRect/>
          </a:stretch>
        </a:blipFill>
        <a:effectLst/>
      </p:bgPr>
    </p:bg>
    <p:spTree>
      <p:nvGrpSpPr>
        <p:cNvPr id="1" name="Shape 81"/>
        <p:cNvGrpSpPr/>
        <p:nvPr/>
      </p:nvGrpSpPr>
      <p:grpSpPr>
        <a:xfrm>
          <a:off x="0" y="0"/>
          <a:ext cx="0" cy="0"/>
          <a:chOff x="0" y="0"/>
          <a:chExt cx="0" cy="0"/>
        </a:xfrm>
      </p:grpSpPr>
      <p:pic>
        <p:nvPicPr>
          <p:cNvPr id="82" name="Google Shape;82;p26"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Fondo blanco">
  <p:cSld name="SECTION_HEADER_1_1_1_1_1_1_1_1">
    <p:spTree>
      <p:nvGrpSpPr>
        <p:cNvPr id="1" name="Shape 83"/>
        <p:cNvGrpSpPr/>
        <p:nvPr/>
      </p:nvGrpSpPr>
      <p:grpSpPr>
        <a:xfrm>
          <a:off x="0" y="0"/>
          <a:ext cx="0" cy="0"/>
          <a:chOff x="0" y="0"/>
          <a:chExt cx="0" cy="0"/>
        </a:xfrm>
      </p:grpSpPr>
      <p:pic>
        <p:nvPicPr>
          <p:cNvPr id="84" name="Google Shape;84;p27" title="logo coderhouse"/>
          <p:cNvPicPr preferRelativeResize="0"/>
          <p:nvPr/>
        </p:nvPicPr>
        <p:blipFill rotWithShape="1">
          <a:blip r:embed="rId2">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co 1" type="title">
  <p:cSld name="TITLE">
    <p:spTree>
      <p:nvGrpSpPr>
        <p:cNvPr id="1" name="Shape 87"/>
        <p:cNvGrpSpPr/>
        <p:nvPr/>
      </p:nvGrpSpPr>
      <p:grpSpPr>
        <a:xfrm>
          <a:off x="0" y="0"/>
          <a:ext cx="0" cy="0"/>
          <a:chOff x="0" y="0"/>
          <a:chExt cx="0" cy="0"/>
        </a:xfrm>
      </p:grpSpPr>
      <p:sp>
        <p:nvSpPr>
          <p:cNvPr id="88" name="Google Shape;88;p29"/>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000"/>
              <a:buFont typeface="DM Sans"/>
              <a:buNone/>
              <a:defRPr sz="4000" b="1">
                <a:latin typeface="DM Sans"/>
                <a:ea typeface="DM Sans"/>
                <a:cs typeface="DM Sans"/>
                <a:sym typeface="DM Sans"/>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89" name="Google Shape;89;p29"/>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000"/>
              <a:buFont typeface="Helvetica Neue"/>
              <a:buNone/>
              <a:defRPr sz="2000">
                <a:latin typeface="Helvetica Neue"/>
                <a:ea typeface="Helvetica Neue"/>
                <a:cs typeface="Helvetica Neue"/>
                <a:sym typeface="Helvetica Neu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pic>
        <p:nvPicPr>
          <p:cNvPr id="90" name="Google Shape;90;p29" title="logo CoderHouse"/>
          <p:cNvPicPr preferRelativeResize="0"/>
          <p:nvPr/>
        </p:nvPicPr>
        <p:blipFill rotWithShape="1">
          <a:blip r:embed="rId2">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03-A">
  <p:cSld name="SECTION_HEADER_1_1">
    <p:bg>
      <p:bgPr>
        <a:blipFill>
          <a:blip r:embed="rId2">
            <a:alphaModFix/>
          </a:blip>
          <a:stretch>
            <a:fillRect/>
          </a:stretch>
        </a:blipFill>
        <a:effectLst/>
      </p:bgPr>
    </p:bg>
    <p:spTree>
      <p:nvGrpSpPr>
        <p:cNvPr id="1" name="Shape 93"/>
        <p:cNvGrpSpPr/>
        <p:nvPr/>
      </p:nvGrpSpPr>
      <p:grpSpPr>
        <a:xfrm>
          <a:off x="0" y="0"/>
          <a:ext cx="0" cy="0"/>
          <a:chOff x="0" y="0"/>
          <a:chExt cx="0" cy="0"/>
        </a:xfrm>
      </p:grpSpPr>
      <p:pic>
        <p:nvPicPr>
          <p:cNvPr id="94" name="Google Shape;94;p31"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arátula 2">
  <p:cSld name="SECTION_HEADER_1_1_1_1">
    <p:bg>
      <p:bgPr>
        <a:blipFill>
          <a:blip r:embed="rId2">
            <a:alphaModFix/>
          </a:blip>
          <a:stretch>
            <a:fillRect/>
          </a:stretch>
        </a:blipFill>
        <a:effectLst/>
      </p:bgPr>
    </p:bg>
    <p:spTree>
      <p:nvGrpSpPr>
        <p:cNvPr id="1" name="Shape 95"/>
        <p:cNvGrpSpPr/>
        <p:nvPr/>
      </p:nvGrpSpPr>
      <p:grpSpPr>
        <a:xfrm>
          <a:off x="0" y="0"/>
          <a:ext cx="0" cy="0"/>
          <a:chOff x="0" y="0"/>
          <a:chExt cx="0" cy="0"/>
        </a:xfrm>
      </p:grpSpPr>
      <p:pic>
        <p:nvPicPr>
          <p:cNvPr id="96" name="Google Shape;96;p32"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Gradiente">
  <p:cSld name="Gradiente">
    <p:spTree>
      <p:nvGrpSpPr>
        <p:cNvPr id="1" name="Shape 85"/>
        <p:cNvGrpSpPr/>
        <p:nvPr/>
      </p:nvGrpSpPr>
      <p:grpSpPr>
        <a:xfrm>
          <a:off x="0" y="0"/>
          <a:ext cx="0" cy="0"/>
          <a:chOff x="0" y="0"/>
          <a:chExt cx="0" cy="0"/>
        </a:xfrm>
      </p:grpSpPr>
      <p:pic>
        <p:nvPicPr>
          <p:cNvPr id="86" name="Google Shape;86;p22" title="Coder Facebook (6).png"/>
          <p:cNvPicPr preferRelativeResize="0"/>
          <p:nvPr/>
        </p:nvPicPr>
        <p:blipFill>
          <a:blip r:embed="rId2">
            <a:alphaModFix/>
          </a:blip>
          <a:stretch>
            <a:fillRect/>
          </a:stretch>
        </p:blipFill>
        <p:spPr>
          <a:xfrm>
            <a:off x="-111725" y="0"/>
            <a:ext cx="9255725" cy="5206351"/>
          </a:xfrm>
          <a:prstGeom prst="rect">
            <a:avLst/>
          </a:prstGeom>
          <a:noFill/>
          <a:ln>
            <a:noFill/>
          </a:ln>
        </p:spPr>
      </p:pic>
    </p:spTree>
    <p:extLst>
      <p:ext uri="{BB962C8B-B14F-4D97-AF65-F5344CB8AC3E}">
        <p14:creationId xmlns:p14="http://schemas.microsoft.com/office/powerpoint/2010/main" val="12951605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1"/>
        <p:cNvGrpSpPr/>
        <p:nvPr/>
      </p:nvGrpSpPr>
      <p:grpSpPr>
        <a:xfrm>
          <a:off x="0" y="0"/>
          <a:ext cx="0" cy="0"/>
          <a:chOff x="0" y="0"/>
          <a:chExt cx="0" cy="0"/>
        </a:xfrm>
      </p:grpSpPr>
      <p:sp>
        <p:nvSpPr>
          <p:cNvPr id="102" name="Google Shape;102;p3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03" name="Google Shape;103;p3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04" name="Google Shape;104;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5"/>
        <p:cNvGrpSpPr/>
        <p:nvPr/>
      </p:nvGrpSpPr>
      <p:grpSpPr>
        <a:xfrm>
          <a:off x="0" y="0"/>
          <a:ext cx="0" cy="0"/>
          <a:chOff x="0" y="0"/>
          <a:chExt cx="0" cy="0"/>
        </a:xfrm>
      </p:grpSpPr>
      <p:sp>
        <p:nvSpPr>
          <p:cNvPr id="106" name="Google Shape;106;p3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7" name="Google Shape;107;p3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08" name="Google Shape;108;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9"/>
        <p:cNvGrpSpPr/>
        <p:nvPr/>
      </p:nvGrpSpPr>
      <p:grpSpPr>
        <a:xfrm>
          <a:off x="0" y="0"/>
          <a:ext cx="0" cy="0"/>
          <a:chOff x="0" y="0"/>
          <a:chExt cx="0" cy="0"/>
        </a:xfrm>
      </p:grpSpPr>
      <p:sp>
        <p:nvSpPr>
          <p:cNvPr id="110" name="Google Shape;110;p3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11" name="Google Shape;111;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12"/>
        <p:cNvGrpSpPr/>
        <p:nvPr/>
      </p:nvGrpSpPr>
      <p:grpSpPr>
        <a:xfrm>
          <a:off x="0" y="0"/>
          <a:ext cx="0" cy="0"/>
          <a:chOff x="0" y="0"/>
          <a:chExt cx="0" cy="0"/>
        </a:xfrm>
      </p:grpSpPr>
      <p:sp>
        <p:nvSpPr>
          <p:cNvPr id="113" name="Google Shape;113;p3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4" name="Google Shape;114;p3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15" name="Google Shape;115;p3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16" name="Google Shape;116;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7"/>
        <p:cNvGrpSpPr/>
        <p:nvPr/>
      </p:nvGrpSpPr>
      <p:grpSpPr>
        <a:xfrm>
          <a:off x="0" y="0"/>
          <a:ext cx="0" cy="0"/>
          <a:chOff x="0" y="0"/>
          <a:chExt cx="0" cy="0"/>
        </a:xfrm>
      </p:grpSpPr>
      <p:sp>
        <p:nvSpPr>
          <p:cNvPr id="118" name="Google Shape;118;p3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9" name="Google Shape;119;p3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20"/>
        <p:cNvGrpSpPr/>
        <p:nvPr/>
      </p:nvGrpSpPr>
      <p:grpSpPr>
        <a:xfrm>
          <a:off x="0" y="0"/>
          <a:ext cx="0" cy="0"/>
          <a:chOff x="0" y="0"/>
          <a:chExt cx="0" cy="0"/>
        </a:xfrm>
      </p:grpSpPr>
      <p:sp>
        <p:nvSpPr>
          <p:cNvPr id="121" name="Google Shape;121;p3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122" name="Google Shape;122;p3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23" name="Google Shape;123;p3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24"/>
        <p:cNvGrpSpPr/>
        <p:nvPr/>
      </p:nvGrpSpPr>
      <p:grpSpPr>
        <a:xfrm>
          <a:off x="0" y="0"/>
          <a:ext cx="0" cy="0"/>
          <a:chOff x="0" y="0"/>
          <a:chExt cx="0" cy="0"/>
        </a:xfrm>
      </p:grpSpPr>
      <p:sp>
        <p:nvSpPr>
          <p:cNvPr id="125" name="Google Shape;125;p4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26" name="Google Shape;126;p4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sp>
        <p:nvSpPr>
          <p:cNvPr id="128" name="Google Shape;128;p4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 name="Google Shape;129;p4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30" name="Google Shape;130;p4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31" name="Google Shape;131;p4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32" name="Google Shape;132;p4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3"/>
        <p:cNvGrpSpPr/>
        <p:nvPr/>
      </p:nvGrpSpPr>
      <p:grpSpPr>
        <a:xfrm>
          <a:off x="0" y="0"/>
          <a:ext cx="0" cy="0"/>
          <a:chOff x="0" y="0"/>
          <a:chExt cx="0" cy="0"/>
        </a:xfrm>
      </p:grpSpPr>
      <p:sp>
        <p:nvSpPr>
          <p:cNvPr id="134" name="Google Shape;134;p4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135" name="Google Shape;135;p4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36"/>
        <p:cNvGrpSpPr/>
        <p:nvPr/>
      </p:nvGrpSpPr>
      <p:grpSpPr>
        <a:xfrm>
          <a:off x="0" y="0"/>
          <a:ext cx="0" cy="0"/>
          <a:chOff x="0" y="0"/>
          <a:chExt cx="0" cy="0"/>
        </a:xfrm>
      </p:grpSpPr>
      <p:sp>
        <p:nvSpPr>
          <p:cNvPr id="137" name="Google Shape;137;p4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38" name="Google Shape;138;p4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139" name="Google Shape;139;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0"/>
        <p:cNvGrpSpPr/>
        <p:nvPr/>
      </p:nvGrpSpPr>
      <p:grpSpPr>
        <a:xfrm>
          <a:off x="0" y="0"/>
          <a:ext cx="0" cy="0"/>
          <a:chOff x="0" y="0"/>
          <a:chExt cx="0" cy="0"/>
        </a:xfrm>
      </p:grpSpPr>
      <p:sp>
        <p:nvSpPr>
          <p:cNvPr id="141" name="Google Shape;141;p4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03-B">
  <p:cSld name="SECTION_HEADER_1_1_1_1_1_1_1_1_1">
    <p:bg>
      <p:bgPr>
        <a:blipFill>
          <a:blip r:embed="rId2">
            <a:alphaModFix/>
          </a:blip>
          <a:stretch>
            <a:fillRect/>
          </a:stretch>
        </a:blipFill>
        <a:effectLst/>
      </p:bgPr>
    </p:bg>
    <p:spTree>
      <p:nvGrpSpPr>
        <p:cNvPr id="1" name="Shape 142"/>
        <p:cNvGrpSpPr/>
        <p:nvPr/>
      </p:nvGrpSpPr>
      <p:grpSpPr>
        <a:xfrm>
          <a:off x="0" y="0"/>
          <a:ext cx="0" cy="0"/>
          <a:chOff x="0" y="0"/>
          <a:chExt cx="0" cy="0"/>
        </a:xfrm>
      </p:grpSpPr>
      <p:pic>
        <p:nvPicPr>
          <p:cNvPr id="143" name="Google Shape;143;p45"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0"/>
        <p:cNvGrpSpPr/>
        <p:nvPr/>
      </p:nvGrpSpPr>
      <p:grpSpPr>
        <a:xfrm>
          <a:off x="0" y="0"/>
          <a:ext cx="0" cy="0"/>
          <a:chOff x="0" y="0"/>
          <a:chExt cx="0" cy="0"/>
        </a:xfrm>
      </p:grpSpPr>
      <p:sp>
        <p:nvSpPr>
          <p:cNvPr id="151" name="Google Shape;151;p47"/>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2" name="Google Shape;152;p47"/>
          <p:cNvSpPr txBox="1">
            <a:spLocks noGrp="1"/>
          </p:cNvSpPr>
          <p:nvPr>
            <p:ph type="subTitle" idx="1"/>
          </p:nvPr>
        </p:nvSpPr>
        <p:spPr>
          <a:xfrm>
            <a:off x="1143000" y="2701528"/>
            <a:ext cx="6858000" cy="1241700"/>
          </a:xfrm>
          <a:prstGeom prst="rect">
            <a:avLst/>
          </a:prstGeom>
          <a:noFill/>
          <a:ln>
            <a:noFill/>
          </a:ln>
        </p:spPr>
        <p:txBody>
          <a:bodyPr spcFirstLastPara="1" wrap="square" lIns="91425" tIns="45700" rIns="91425" bIns="45700" anchor="t" anchorCtr="0">
            <a:no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153" name="Google Shape;153;p47"/>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4" name="Google Shape;154;p47"/>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5" name="Google Shape;155;p47"/>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Fondo blanco">
  <p:cSld name="SECTION_HEADER_1_1_1_1_1_1_1_1">
    <p:spTree>
      <p:nvGrpSpPr>
        <p:cNvPr id="1" name="Shape 158"/>
        <p:cNvGrpSpPr/>
        <p:nvPr/>
      </p:nvGrpSpPr>
      <p:grpSpPr>
        <a:xfrm>
          <a:off x="0" y="0"/>
          <a:ext cx="0" cy="0"/>
          <a:chOff x="0" y="0"/>
          <a:chExt cx="0" cy="0"/>
        </a:xfrm>
      </p:grpSpPr>
      <p:pic>
        <p:nvPicPr>
          <p:cNvPr id="159" name="Google Shape;159;p49" title="logo coderhouse"/>
          <p:cNvPicPr preferRelativeResize="0"/>
          <p:nvPr/>
        </p:nvPicPr>
        <p:blipFill rotWithShape="1">
          <a:blip r:embed="rId2">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Cuadro">
  <p:cSld name="SECTION_HEADER_1_1_1_1_1_1">
    <p:bg>
      <p:bgPr>
        <a:blipFill>
          <a:blip r:embed="rId2">
            <a:alphaModFix/>
          </a:blip>
          <a:stretch>
            <a:fillRect/>
          </a:stretch>
        </a:blipFill>
        <a:effectLst/>
      </p:bgPr>
    </p:bg>
    <p:spTree>
      <p:nvGrpSpPr>
        <p:cNvPr id="1" name="Shape 160"/>
        <p:cNvGrpSpPr/>
        <p:nvPr/>
      </p:nvGrpSpPr>
      <p:grpSpPr>
        <a:xfrm>
          <a:off x="0" y="0"/>
          <a:ext cx="0" cy="0"/>
          <a:chOff x="0" y="0"/>
          <a:chExt cx="0" cy="0"/>
        </a:xfrm>
      </p:grpSpPr>
      <p:pic>
        <p:nvPicPr>
          <p:cNvPr id="161" name="Google Shape;161;p50"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2"/>
        <p:cNvGrpSpPr/>
        <p:nvPr/>
      </p:nvGrpSpPr>
      <p:grpSpPr>
        <a:xfrm>
          <a:off x="0" y="0"/>
          <a:ext cx="0" cy="0"/>
          <a:chOff x="0" y="0"/>
          <a:chExt cx="0" cy="0"/>
        </a:xfrm>
      </p:grpSpPr>
      <p:sp>
        <p:nvSpPr>
          <p:cNvPr id="163" name="Google Shape;163;p5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90000"/>
              </a:lnSpc>
              <a:spcBef>
                <a:spcPts val="0"/>
              </a:spcBef>
              <a:spcAft>
                <a:spcPts val="0"/>
              </a:spcAft>
              <a:buClr>
                <a:schemeClr val="dk1"/>
              </a:buClr>
              <a:buSzPts val="2800"/>
              <a:buFont typeface="Calibri"/>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64" name="Google Shape;164;p5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90000"/>
              </a:lnSpc>
              <a:spcBef>
                <a:spcPts val="0"/>
              </a:spcBef>
              <a:spcAft>
                <a:spcPts val="0"/>
              </a:spcAft>
              <a:buClr>
                <a:schemeClr val="dk1"/>
              </a:buClr>
              <a:buSzPts val="1800"/>
              <a:buChar char="●"/>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165" name="Google Shape;165;p5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66"/>
        <p:cNvGrpSpPr/>
        <p:nvPr/>
      </p:nvGrpSpPr>
      <p:grpSpPr>
        <a:xfrm>
          <a:off x="0" y="0"/>
          <a:ext cx="0" cy="0"/>
          <a:chOff x="0" y="0"/>
          <a:chExt cx="0" cy="0"/>
        </a:xfrm>
      </p:grpSpPr>
      <p:sp>
        <p:nvSpPr>
          <p:cNvPr id="167" name="Google Shape;167;p52"/>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8" name="Google Shape;168;p52"/>
          <p:cNvSpPr txBox="1">
            <a:spLocks noGrp="1"/>
          </p:cNvSpPr>
          <p:nvPr>
            <p:ph type="body" idx="1"/>
          </p:nvPr>
        </p:nvSpPr>
        <p:spPr>
          <a:xfrm>
            <a:off x="628650" y="1369219"/>
            <a:ext cx="7886700" cy="32634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69" name="Google Shape;169;p52"/>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0" name="Google Shape;170;p52"/>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1" name="Google Shape;171;p52"/>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172"/>
        <p:cNvGrpSpPr/>
        <p:nvPr/>
      </p:nvGrpSpPr>
      <p:grpSpPr>
        <a:xfrm>
          <a:off x="0" y="0"/>
          <a:ext cx="0" cy="0"/>
          <a:chOff x="0" y="0"/>
          <a:chExt cx="0" cy="0"/>
        </a:xfrm>
      </p:grpSpPr>
      <p:sp>
        <p:nvSpPr>
          <p:cNvPr id="173" name="Google Shape;173;p53"/>
          <p:cNvSpPr txBox="1">
            <a:spLocks noGrp="1"/>
          </p:cNvSpPr>
          <p:nvPr>
            <p:ph type="title"/>
          </p:nvPr>
        </p:nvSpPr>
        <p:spPr>
          <a:xfrm>
            <a:off x="623888" y="1282304"/>
            <a:ext cx="7886700" cy="2139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4" name="Google Shape;174;p53"/>
          <p:cNvSpPr txBox="1">
            <a:spLocks noGrp="1"/>
          </p:cNvSpPr>
          <p:nvPr>
            <p:ph type="body" idx="1"/>
          </p:nvPr>
        </p:nvSpPr>
        <p:spPr>
          <a:xfrm>
            <a:off x="623888" y="3442098"/>
            <a:ext cx="7886700" cy="11250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175" name="Google Shape;175;p53"/>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6" name="Google Shape;176;p53"/>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7" name="Google Shape;177;p53"/>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178"/>
        <p:cNvGrpSpPr/>
        <p:nvPr/>
      </p:nvGrpSpPr>
      <p:grpSpPr>
        <a:xfrm>
          <a:off x="0" y="0"/>
          <a:ext cx="0" cy="0"/>
          <a:chOff x="0" y="0"/>
          <a:chExt cx="0" cy="0"/>
        </a:xfrm>
      </p:grpSpPr>
      <p:sp>
        <p:nvSpPr>
          <p:cNvPr id="179" name="Google Shape;179;p54"/>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0" name="Google Shape;180;p54"/>
          <p:cNvSpPr txBox="1">
            <a:spLocks noGrp="1"/>
          </p:cNvSpPr>
          <p:nvPr>
            <p:ph type="body" idx="1"/>
          </p:nvPr>
        </p:nvSpPr>
        <p:spPr>
          <a:xfrm>
            <a:off x="628650" y="1369219"/>
            <a:ext cx="3886200" cy="32634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81" name="Google Shape;181;p54"/>
          <p:cNvSpPr txBox="1">
            <a:spLocks noGrp="1"/>
          </p:cNvSpPr>
          <p:nvPr>
            <p:ph type="body" idx="2"/>
          </p:nvPr>
        </p:nvSpPr>
        <p:spPr>
          <a:xfrm>
            <a:off x="4629150" y="1369219"/>
            <a:ext cx="3886200" cy="32634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82" name="Google Shape;182;p54"/>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3" name="Google Shape;183;p54"/>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4" name="Google Shape;184;p54"/>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185"/>
        <p:cNvGrpSpPr/>
        <p:nvPr/>
      </p:nvGrpSpPr>
      <p:grpSpPr>
        <a:xfrm>
          <a:off x="0" y="0"/>
          <a:ext cx="0" cy="0"/>
          <a:chOff x="0" y="0"/>
          <a:chExt cx="0" cy="0"/>
        </a:xfrm>
      </p:grpSpPr>
      <p:sp>
        <p:nvSpPr>
          <p:cNvPr id="186" name="Google Shape;186;p55"/>
          <p:cNvSpPr txBox="1">
            <a:spLocks noGrp="1"/>
          </p:cNvSpPr>
          <p:nvPr>
            <p:ph type="title"/>
          </p:nvPr>
        </p:nvSpPr>
        <p:spPr>
          <a:xfrm>
            <a:off x="629841" y="273844"/>
            <a:ext cx="7886700" cy="9942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7" name="Google Shape;187;p55"/>
          <p:cNvSpPr txBox="1">
            <a:spLocks noGrp="1"/>
          </p:cNvSpPr>
          <p:nvPr>
            <p:ph type="body" idx="1"/>
          </p:nvPr>
        </p:nvSpPr>
        <p:spPr>
          <a:xfrm>
            <a:off x="629842" y="1260872"/>
            <a:ext cx="3868200" cy="6180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188" name="Google Shape;188;p55"/>
          <p:cNvSpPr txBox="1">
            <a:spLocks noGrp="1"/>
          </p:cNvSpPr>
          <p:nvPr>
            <p:ph type="body" idx="2"/>
          </p:nvPr>
        </p:nvSpPr>
        <p:spPr>
          <a:xfrm>
            <a:off x="629842" y="1878806"/>
            <a:ext cx="3868200" cy="2763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89" name="Google Shape;189;p55"/>
          <p:cNvSpPr txBox="1">
            <a:spLocks noGrp="1"/>
          </p:cNvSpPr>
          <p:nvPr>
            <p:ph type="body" idx="3"/>
          </p:nvPr>
        </p:nvSpPr>
        <p:spPr>
          <a:xfrm>
            <a:off x="4629150" y="1260872"/>
            <a:ext cx="3887400" cy="6180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190" name="Google Shape;190;p55"/>
          <p:cNvSpPr txBox="1">
            <a:spLocks noGrp="1"/>
          </p:cNvSpPr>
          <p:nvPr>
            <p:ph type="body" idx="4"/>
          </p:nvPr>
        </p:nvSpPr>
        <p:spPr>
          <a:xfrm>
            <a:off x="4629150" y="1878806"/>
            <a:ext cx="3887400" cy="2763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91" name="Google Shape;191;p55"/>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2" name="Google Shape;192;p55"/>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3" name="Google Shape;193;p55"/>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194"/>
        <p:cNvGrpSpPr/>
        <p:nvPr/>
      </p:nvGrpSpPr>
      <p:grpSpPr>
        <a:xfrm>
          <a:off x="0" y="0"/>
          <a:ext cx="0" cy="0"/>
          <a:chOff x="0" y="0"/>
          <a:chExt cx="0" cy="0"/>
        </a:xfrm>
      </p:grpSpPr>
      <p:sp>
        <p:nvSpPr>
          <p:cNvPr id="195" name="Google Shape;195;p56"/>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6" name="Google Shape;196;p56"/>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7" name="Google Shape;197;p56"/>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8" name="Google Shape;198;p56"/>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99"/>
        <p:cNvGrpSpPr/>
        <p:nvPr/>
      </p:nvGrpSpPr>
      <p:grpSpPr>
        <a:xfrm>
          <a:off x="0" y="0"/>
          <a:ext cx="0" cy="0"/>
          <a:chOff x="0" y="0"/>
          <a:chExt cx="0" cy="0"/>
        </a:xfrm>
      </p:grpSpPr>
      <p:sp>
        <p:nvSpPr>
          <p:cNvPr id="200" name="Google Shape;200;p57"/>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1" name="Google Shape;201;p57"/>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2" name="Google Shape;202;p57"/>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203"/>
        <p:cNvGrpSpPr/>
        <p:nvPr/>
      </p:nvGrpSpPr>
      <p:grpSpPr>
        <a:xfrm>
          <a:off x="0" y="0"/>
          <a:ext cx="0" cy="0"/>
          <a:chOff x="0" y="0"/>
          <a:chExt cx="0" cy="0"/>
        </a:xfrm>
      </p:grpSpPr>
      <p:sp>
        <p:nvSpPr>
          <p:cNvPr id="204" name="Google Shape;204;p58"/>
          <p:cNvSpPr txBox="1">
            <a:spLocks noGrp="1"/>
          </p:cNvSpPr>
          <p:nvPr>
            <p:ph type="title"/>
          </p:nvPr>
        </p:nvSpPr>
        <p:spPr>
          <a:xfrm>
            <a:off x="629841" y="342900"/>
            <a:ext cx="2949300" cy="12003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5" name="Google Shape;205;p58"/>
          <p:cNvSpPr txBox="1">
            <a:spLocks noGrp="1"/>
          </p:cNvSpPr>
          <p:nvPr>
            <p:ph type="body" idx="1"/>
          </p:nvPr>
        </p:nvSpPr>
        <p:spPr>
          <a:xfrm>
            <a:off x="3887391" y="740569"/>
            <a:ext cx="4629300" cy="3655200"/>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206" name="Google Shape;206;p58"/>
          <p:cNvSpPr txBox="1">
            <a:spLocks noGrp="1"/>
          </p:cNvSpPr>
          <p:nvPr>
            <p:ph type="body" idx="2"/>
          </p:nvPr>
        </p:nvSpPr>
        <p:spPr>
          <a:xfrm>
            <a:off x="629841" y="1543050"/>
            <a:ext cx="2949300" cy="28587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207" name="Google Shape;207;p58"/>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8" name="Google Shape;208;p58"/>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9" name="Google Shape;209;p58"/>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210"/>
        <p:cNvGrpSpPr/>
        <p:nvPr/>
      </p:nvGrpSpPr>
      <p:grpSpPr>
        <a:xfrm>
          <a:off x="0" y="0"/>
          <a:ext cx="0" cy="0"/>
          <a:chOff x="0" y="0"/>
          <a:chExt cx="0" cy="0"/>
        </a:xfrm>
      </p:grpSpPr>
      <p:sp>
        <p:nvSpPr>
          <p:cNvPr id="211" name="Google Shape;211;p59"/>
          <p:cNvSpPr txBox="1">
            <a:spLocks noGrp="1"/>
          </p:cNvSpPr>
          <p:nvPr>
            <p:ph type="title"/>
          </p:nvPr>
        </p:nvSpPr>
        <p:spPr>
          <a:xfrm>
            <a:off x="629841" y="342900"/>
            <a:ext cx="2949300" cy="12003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2" name="Google Shape;212;p59"/>
          <p:cNvSpPr>
            <a:spLocks noGrp="1"/>
          </p:cNvSpPr>
          <p:nvPr>
            <p:ph type="pic" idx="2"/>
          </p:nvPr>
        </p:nvSpPr>
        <p:spPr>
          <a:xfrm>
            <a:off x="3887391" y="740569"/>
            <a:ext cx="4629300" cy="3655200"/>
          </a:xfrm>
          <a:prstGeom prst="rect">
            <a:avLst/>
          </a:prstGeom>
          <a:noFill/>
          <a:ln>
            <a:noFill/>
          </a:ln>
        </p:spPr>
      </p:sp>
      <p:sp>
        <p:nvSpPr>
          <p:cNvPr id="213" name="Google Shape;213;p59"/>
          <p:cNvSpPr txBox="1">
            <a:spLocks noGrp="1"/>
          </p:cNvSpPr>
          <p:nvPr>
            <p:ph type="body" idx="1"/>
          </p:nvPr>
        </p:nvSpPr>
        <p:spPr>
          <a:xfrm>
            <a:off x="629841" y="1543050"/>
            <a:ext cx="2949300" cy="28587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214" name="Google Shape;214;p59"/>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5" name="Google Shape;215;p59"/>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6" name="Google Shape;216;p59"/>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217"/>
        <p:cNvGrpSpPr/>
        <p:nvPr/>
      </p:nvGrpSpPr>
      <p:grpSpPr>
        <a:xfrm>
          <a:off x="0" y="0"/>
          <a:ext cx="0" cy="0"/>
          <a:chOff x="0" y="0"/>
          <a:chExt cx="0" cy="0"/>
        </a:xfrm>
      </p:grpSpPr>
      <p:sp>
        <p:nvSpPr>
          <p:cNvPr id="218" name="Google Shape;218;p60"/>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9" name="Google Shape;219;p60"/>
          <p:cNvSpPr txBox="1">
            <a:spLocks noGrp="1"/>
          </p:cNvSpPr>
          <p:nvPr>
            <p:ph type="body" idx="1"/>
          </p:nvPr>
        </p:nvSpPr>
        <p:spPr>
          <a:xfrm rot="5400000">
            <a:off x="2940300" y="-942431"/>
            <a:ext cx="3263400" cy="78867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20" name="Google Shape;220;p60"/>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1" name="Google Shape;221;p60"/>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2" name="Google Shape;222;p60"/>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223"/>
        <p:cNvGrpSpPr/>
        <p:nvPr/>
      </p:nvGrpSpPr>
      <p:grpSpPr>
        <a:xfrm>
          <a:off x="0" y="0"/>
          <a:ext cx="0" cy="0"/>
          <a:chOff x="0" y="0"/>
          <a:chExt cx="0" cy="0"/>
        </a:xfrm>
      </p:grpSpPr>
      <p:sp>
        <p:nvSpPr>
          <p:cNvPr id="224" name="Google Shape;224;p61"/>
          <p:cNvSpPr txBox="1">
            <a:spLocks noGrp="1"/>
          </p:cNvSpPr>
          <p:nvPr>
            <p:ph type="title"/>
          </p:nvPr>
        </p:nvSpPr>
        <p:spPr>
          <a:xfrm rot="5400000">
            <a:off x="5350050" y="1467544"/>
            <a:ext cx="4359000" cy="19716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5" name="Google Shape;225;p61"/>
          <p:cNvSpPr txBox="1">
            <a:spLocks noGrp="1"/>
          </p:cNvSpPr>
          <p:nvPr>
            <p:ph type="body" idx="1"/>
          </p:nvPr>
        </p:nvSpPr>
        <p:spPr>
          <a:xfrm rot="5400000">
            <a:off x="1349475" y="-447056"/>
            <a:ext cx="4359000" cy="58008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26" name="Google Shape;226;p61"/>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7" name="Google Shape;227;p61"/>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8" name="Google Shape;228;p61"/>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Blanco 1">
  <p:cSld name="Blanco 1">
    <p:bg>
      <p:bgPr>
        <a:solidFill>
          <a:schemeClr val="lt1"/>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
        <p:nvSpPr>
          <p:cNvPr id="55" name="Google Shape;55;p14"/>
          <p:cNvSpPr txBox="1"/>
          <p:nvPr/>
        </p:nvSpPr>
        <p:spPr>
          <a:xfrm>
            <a:off x="476125" y="165026"/>
            <a:ext cx="6444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Coderhouse</a:t>
            </a:r>
            <a:endParaRPr sz="500">
              <a:solidFill>
                <a:srgbClr val="222224"/>
              </a:solidFill>
              <a:latin typeface="Plus Jakarta Sans"/>
              <a:ea typeface="Plus Jakarta Sans"/>
              <a:cs typeface="Plus Jakarta Sans"/>
              <a:sym typeface="Plus Jakarta Sans"/>
            </a:endParaRPr>
          </a:p>
        </p:txBody>
      </p:sp>
      <p:sp>
        <p:nvSpPr>
          <p:cNvPr id="56" name="Google Shape;56;p14"/>
          <p:cNvSpPr txBox="1"/>
          <p:nvPr/>
        </p:nvSpPr>
        <p:spPr>
          <a:xfrm>
            <a:off x="6923014" y="165026"/>
            <a:ext cx="1188600" cy="1884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Internal  Presentation</a:t>
            </a:r>
            <a:endParaRPr sz="500">
              <a:solidFill>
                <a:srgbClr val="222224"/>
              </a:solidFill>
              <a:latin typeface="Plus Jakarta Sans"/>
              <a:ea typeface="Plus Jakarta Sans"/>
              <a:cs typeface="Plus Jakarta Sans"/>
              <a:sym typeface="Plus Jakarta Sans"/>
            </a:endParaRPr>
          </a:p>
        </p:txBody>
      </p:sp>
      <p:sp>
        <p:nvSpPr>
          <p:cNvPr id="57" name="Google Shape;57;p14"/>
          <p:cNvSpPr txBox="1"/>
          <p:nvPr/>
        </p:nvSpPr>
        <p:spPr>
          <a:xfrm>
            <a:off x="2196557" y="165026"/>
            <a:ext cx="12420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2026</a:t>
            </a:r>
            <a:endParaRPr sz="500">
              <a:solidFill>
                <a:srgbClr val="222224"/>
              </a:solidFill>
              <a:latin typeface="Plus Jakarta Sans"/>
              <a:ea typeface="Plus Jakarta Sans"/>
              <a:cs typeface="Plus Jakarta Sans"/>
              <a:sym typeface="Plus Jakarta Sans"/>
            </a:endParaRPr>
          </a:p>
        </p:txBody>
      </p:sp>
      <p:sp>
        <p:nvSpPr>
          <p:cNvPr id="58" name="Google Shape;58;p14"/>
          <p:cNvSpPr txBox="1"/>
          <p:nvPr/>
        </p:nvSpPr>
        <p:spPr>
          <a:xfrm>
            <a:off x="8373525" y="90649"/>
            <a:ext cx="369600" cy="337200"/>
          </a:xfrm>
          <a:prstGeom prst="rect">
            <a:avLst/>
          </a:prstGeom>
          <a:noFill/>
          <a:ln>
            <a:noFill/>
          </a:ln>
        </p:spPr>
        <p:txBody>
          <a:bodyPr spcFirstLastPara="1" wrap="square" lIns="88475" tIns="88475" rIns="88475" bIns="88475" anchor="ctr" anchorCtr="0">
            <a:noAutofit/>
          </a:bodyPr>
          <a:lstStyle/>
          <a:p>
            <a:pPr marL="0" lvl="0" indent="0" algn="ctr" rtl="0">
              <a:lnSpc>
                <a:spcPct val="100000"/>
              </a:lnSpc>
              <a:spcBef>
                <a:spcPts val="0"/>
              </a:spcBef>
              <a:spcAft>
                <a:spcPts val="0"/>
              </a:spcAft>
              <a:buNone/>
            </a:pPr>
            <a:fld id="{00000000-1234-1234-1234-123412341234}" type="slidenum">
              <a:rPr lang="es" sz="500">
                <a:solidFill>
                  <a:srgbClr val="222224"/>
                </a:solidFill>
                <a:latin typeface="Plus Jakarta Sans"/>
                <a:ea typeface="Plus Jakarta Sans"/>
                <a:cs typeface="Plus Jakarta Sans"/>
                <a:sym typeface="Plus Jakarta Sans"/>
              </a:rPr>
              <a:t>‹Nº›</a:t>
            </a:fld>
            <a:endParaRPr sz="500">
              <a:solidFill>
                <a:srgbClr val="222224"/>
              </a:solidFill>
              <a:latin typeface="Plus Jakarta Sans"/>
              <a:ea typeface="Plus Jakarta Sans"/>
              <a:cs typeface="Plus Jakarta Sans"/>
              <a:sym typeface="Plus Jakarta Sans"/>
            </a:endParaRPr>
          </a:p>
        </p:txBody>
      </p:sp>
    </p:spTree>
    <p:extLst>
      <p:ext uri="{BB962C8B-B14F-4D97-AF65-F5344CB8AC3E}">
        <p14:creationId xmlns:p14="http://schemas.microsoft.com/office/powerpoint/2010/main" val="396121302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Imagen">
  <p:cSld name="Imagen">
    <p:bg>
      <p:bgPr>
        <a:solidFill>
          <a:schemeClr val="lt1"/>
        </a:solidFill>
        <a:effectLst/>
      </p:bgPr>
    </p:bg>
    <p:spTree>
      <p:nvGrpSpPr>
        <p:cNvPr id="1" name="Shape 59"/>
        <p:cNvGrpSpPr/>
        <p:nvPr/>
      </p:nvGrpSpPr>
      <p:grpSpPr>
        <a:xfrm>
          <a:off x="0" y="0"/>
          <a:ext cx="0" cy="0"/>
          <a:chOff x="0" y="0"/>
          <a:chExt cx="0" cy="0"/>
        </a:xfrm>
      </p:grpSpPr>
      <p:pic>
        <p:nvPicPr>
          <p:cNvPr id="60" name="Google Shape;60;p15" title="27800720-6c2b-4e33-a6ed-849e08f57757.png"/>
          <p:cNvPicPr preferRelativeResize="0"/>
          <p:nvPr/>
        </p:nvPicPr>
        <p:blipFill rotWithShape="1">
          <a:blip r:embed="rId2">
            <a:alphaModFix/>
          </a:blip>
          <a:srcRect t="15047" b="53399"/>
          <a:stretch/>
        </p:blipFill>
        <p:spPr>
          <a:xfrm>
            <a:off x="-45875" y="-37100"/>
            <a:ext cx="9235751" cy="5180600"/>
          </a:xfrm>
          <a:prstGeom prst="rect">
            <a:avLst/>
          </a:prstGeom>
          <a:noFill/>
          <a:ln>
            <a:noFill/>
          </a:ln>
        </p:spPr>
      </p:pic>
      <p:sp>
        <p:nvSpPr>
          <p:cNvPr id="61" name="Google Shape;61;p15"/>
          <p:cNvSpPr txBox="1"/>
          <p:nvPr/>
        </p:nvSpPr>
        <p:spPr>
          <a:xfrm>
            <a:off x="476125" y="165026"/>
            <a:ext cx="6444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F8F2E8"/>
                </a:solidFill>
                <a:latin typeface="Plus Jakarta Sans"/>
                <a:ea typeface="Plus Jakarta Sans"/>
                <a:cs typeface="Plus Jakarta Sans"/>
                <a:sym typeface="Plus Jakarta Sans"/>
              </a:rPr>
              <a:t>Coderhouse</a:t>
            </a:r>
            <a:endParaRPr sz="500">
              <a:solidFill>
                <a:srgbClr val="F8F2E8"/>
              </a:solidFill>
              <a:latin typeface="Plus Jakarta Sans"/>
              <a:ea typeface="Plus Jakarta Sans"/>
              <a:cs typeface="Plus Jakarta Sans"/>
              <a:sym typeface="Plus Jakarta Sans"/>
            </a:endParaRPr>
          </a:p>
        </p:txBody>
      </p:sp>
      <p:sp>
        <p:nvSpPr>
          <p:cNvPr id="62" name="Google Shape;62;p15"/>
          <p:cNvSpPr txBox="1"/>
          <p:nvPr/>
        </p:nvSpPr>
        <p:spPr>
          <a:xfrm>
            <a:off x="6923014" y="165026"/>
            <a:ext cx="1188600" cy="1884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s" sz="500">
                <a:solidFill>
                  <a:srgbClr val="F8F2E8"/>
                </a:solidFill>
                <a:latin typeface="Plus Jakarta Sans"/>
                <a:ea typeface="Plus Jakarta Sans"/>
                <a:cs typeface="Plus Jakarta Sans"/>
                <a:sym typeface="Plus Jakarta Sans"/>
              </a:rPr>
              <a:t>Internal  Presentation</a:t>
            </a:r>
            <a:endParaRPr sz="500">
              <a:solidFill>
                <a:srgbClr val="F8F2E8"/>
              </a:solidFill>
              <a:latin typeface="Plus Jakarta Sans"/>
              <a:ea typeface="Plus Jakarta Sans"/>
              <a:cs typeface="Plus Jakarta Sans"/>
              <a:sym typeface="Plus Jakarta Sans"/>
            </a:endParaRPr>
          </a:p>
        </p:txBody>
      </p:sp>
      <p:sp>
        <p:nvSpPr>
          <p:cNvPr id="63" name="Google Shape;63;p15"/>
          <p:cNvSpPr txBox="1"/>
          <p:nvPr/>
        </p:nvSpPr>
        <p:spPr>
          <a:xfrm>
            <a:off x="2196557" y="165026"/>
            <a:ext cx="12420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F8F2E8"/>
                </a:solidFill>
                <a:latin typeface="Plus Jakarta Sans"/>
                <a:ea typeface="Plus Jakarta Sans"/>
                <a:cs typeface="Plus Jakarta Sans"/>
                <a:sym typeface="Plus Jakarta Sans"/>
              </a:rPr>
              <a:t>2026</a:t>
            </a:r>
            <a:endParaRPr sz="500">
              <a:solidFill>
                <a:srgbClr val="F8F2E8"/>
              </a:solidFill>
              <a:latin typeface="Plus Jakarta Sans"/>
              <a:ea typeface="Plus Jakarta Sans"/>
              <a:cs typeface="Plus Jakarta Sans"/>
              <a:sym typeface="Plus Jakarta Sans"/>
            </a:endParaRPr>
          </a:p>
        </p:txBody>
      </p:sp>
      <p:sp>
        <p:nvSpPr>
          <p:cNvPr id="64" name="Google Shape;64;p15"/>
          <p:cNvSpPr txBox="1"/>
          <p:nvPr/>
        </p:nvSpPr>
        <p:spPr>
          <a:xfrm>
            <a:off x="8373525" y="90649"/>
            <a:ext cx="369600" cy="337200"/>
          </a:xfrm>
          <a:prstGeom prst="rect">
            <a:avLst/>
          </a:prstGeom>
          <a:noFill/>
          <a:ln>
            <a:noFill/>
          </a:ln>
        </p:spPr>
        <p:txBody>
          <a:bodyPr spcFirstLastPara="1" wrap="square" lIns="88475" tIns="88475" rIns="88475" bIns="88475" anchor="ctr" anchorCtr="0">
            <a:noAutofit/>
          </a:bodyPr>
          <a:lstStyle/>
          <a:p>
            <a:pPr marL="0" lvl="0" indent="0" algn="ctr" rtl="0">
              <a:lnSpc>
                <a:spcPct val="100000"/>
              </a:lnSpc>
              <a:spcBef>
                <a:spcPts val="0"/>
              </a:spcBef>
              <a:spcAft>
                <a:spcPts val="0"/>
              </a:spcAft>
              <a:buNone/>
            </a:pPr>
            <a:fld id="{00000000-1234-1234-1234-123412341234}" type="slidenum">
              <a:rPr lang="es" sz="500">
                <a:solidFill>
                  <a:srgbClr val="F8F2E8"/>
                </a:solidFill>
                <a:latin typeface="Plus Jakarta Sans"/>
                <a:ea typeface="Plus Jakarta Sans"/>
                <a:cs typeface="Plus Jakarta Sans"/>
                <a:sym typeface="Plus Jakarta Sans"/>
              </a:rPr>
              <a:t>‹Nº›</a:t>
            </a:fld>
            <a:endParaRPr sz="500">
              <a:solidFill>
                <a:srgbClr val="F8F2E8"/>
              </a:solidFill>
              <a:latin typeface="Plus Jakarta Sans"/>
              <a:ea typeface="Plus Jakarta Sans"/>
              <a:cs typeface="Plus Jakarta Sans"/>
              <a:sym typeface="Plus Jakarta Sans"/>
            </a:endParaRPr>
          </a:p>
        </p:txBody>
      </p:sp>
    </p:spTree>
    <p:extLst>
      <p:ext uri="{BB962C8B-B14F-4D97-AF65-F5344CB8AC3E}">
        <p14:creationId xmlns:p14="http://schemas.microsoft.com/office/powerpoint/2010/main" val="19818816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Gradiente">
  <p:cSld name="Gradiente">
    <p:spTree>
      <p:nvGrpSpPr>
        <p:cNvPr id="1" name="Shape 85"/>
        <p:cNvGrpSpPr/>
        <p:nvPr/>
      </p:nvGrpSpPr>
      <p:grpSpPr>
        <a:xfrm>
          <a:off x="0" y="0"/>
          <a:ext cx="0" cy="0"/>
          <a:chOff x="0" y="0"/>
          <a:chExt cx="0" cy="0"/>
        </a:xfrm>
      </p:grpSpPr>
      <p:pic>
        <p:nvPicPr>
          <p:cNvPr id="86" name="Google Shape;86;p22" title="Coder Facebook (6).png"/>
          <p:cNvPicPr preferRelativeResize="0"/>
          <p:nvPr/>
        </p:nvPicPr>
        <p:blipFill>
          <a:blip r:embed="rId2">
            <a:alphaModFix/>
          </a:blip>
          <a:stretch>
            <a:fillRect/>
          </a:stretch>
        </p:blipFill>
        <p:spPr>
          <a:xfrm>
            <a:off x="-111725" y="0"/>
            <a:ext cx="9255725" cy="5206351"/>
          </a:xfrm>
          <a:prstGeom prst="rect">
            <a:avLst/>
          </a:prstGeom>
          <a:noFill/>
          <a:ln>
            <a:noFill/>
          </a:ln>
        </p:spPr>
      </p:pic>
    </p:spTree>
    <p:extLst>
      <p:ext uri="{BB962C8B-B14F-4D97-AF65-F5344CB8AC3E}">
        <p14:creationId xmlns:p14="http://schemas.microsoft.com/office/powerpoint/2010/main" val="457101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theme" Target="../theme/theme3.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18" Type="http://schemas.openxmlformats.org/officeDocument/2006/relationships/theme" Target="../theme/theme4.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2" Type="http://schemas.openxmlformats.org/officeDocument/2006/relationships/slideLayout" Target="../slideLayouts/slideLayout42.xml"/><Relationship Id="rId16" Type="http://schemas.openxmlformats.org/officeDocument/2006/relationships/slideLayout" Target="../slideLayouts/slideLayout56.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5" Type="http://schemas.openxmlformats.org/officeDocument/2006/relationships/slideLayout" Target="../slideLayouts/slideLayout5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709" r:id="rId18"/>
    <p:sldLayoutId id="2147483710" r:id="rId19"/>
    <p:sldLayoutId id="2147483711"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68"/>
        <p:cNvGrpSpPr/>
        <p:nvPr/>
      </p:nvGrpSpPr>
      <p:grpSpPr>
        <a:xfrm>
          <a:off x="0" y="0"/>
          <a:ext cx="0" cy="0"/>
          <a:chOff x="0" y="0"/>
          <a:chExt cx="0" cy="0"/>
        </a:xfrm>
      </p:grpSpPr>
      <p:sp>
        <p:nvSpPr>
          <p:cNvPr id="69" name="Google Shape;69;p2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0" name="Google Shape;70;p2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71" name="Google Shape;71;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 bg1="lt1" tx1="dk1" bg2="dk2" tx2="lt2" accent1="accent1" accent2="accent2" accent3="accent3" accent4="accent4" accent5="accent5" accent6="accent6" hlink="hlink" folHlink="folHlink"/>
  <p:sldLayoutIdLst>
    <p:sldLayoutId id="2147483667" r:id="rId1"/>
    <p:sldLayoutId id="2147483669" r:id="rId2"/>
    <p:sldLayoutId id="2147483671" r:id="rId3"/>
    <p:sldLayoutId id="2147483672" r:id="rId4"/>
    <p:sldLayoutId id="2147483674" r:id="rId5"/>
    <p:sldLayoutId id="2147483676" r:id="rId6"/>
    <p:sldLayoutId id="2147483677" r:id="rId7"/>
    <p:sldLayoutId id="2147483714"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7"/>
        <p:cNvGrpSpPr/>
        <p:nvPr/>
      </p:nvGrpSpPr>
      <p:grpSpPr>
        <a:xfrm>
          <a:off x="0" y="0"/>
          <a:ext cx="0" cy="0"/>
          <a:chOff x="0" y="0"/>
          <a:chExt cx="0" cy="0"/>
        </a:xfrm>
      </p:grpSpPr>
      <p:sp>
        <p:nvSpPr>
          <p:cNvPr id="98" name="Google Shape;98;p3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99" name="Google Shape;99;p3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100" name="Google Shape;100;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 bg1="lt1" tx1="dk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4"/>
        <p:cNvGrpSpPr/>
        <p:nvPr/>
      </p:nvGrpSpPr>
      <p:grpSpPr>
        <a:xfrm>
          <a:off x="0" y="0"/>
          <a:ext cx="0" cy="0"/>
          <a:chOff x="0" y="0"/>
          <a:chExt cx="0" cy="0"/>
        </a:xfrm>
      </p:grpSpPr>
      <p:sp>
        <p:nvSpPr>
          <p:cNvPr id="145" name="Google Shape;145;p46"/>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46" name="Google Shape;146;p46"/>
          <p:cNvSpPr txBox="1">
            <a:spLocks noGrp="1"/>
          </p:cNvSpPr>
          <p:nvPr>
            <p:ph type="body" idx="1"/>
          </p:nvPr>
        </p:nvSpPr>
        <p:spPr>
          <a:xfrm>
            <a:off x="628650" y="1369219"/>
            <a:ext cx="7886700" cy="3263400"/>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47" name="Google Shape;147;p46"/>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8" name="Google Shape;148;p46"/>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9" name="Google Shape;149;p46"/>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 bg1="lt1" tx1="dk1" bg2="dk2" tx2="lt2" accent1="accent1" accent2="accent2" accent3="accent3" accent4="accent4" accent5="accent5" accent6="accent6" hlink="hlink" folHlink="folHlink"/>
  <p:sldLayoutIdLst>
    <p:sldLayoutId id="2147483690"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12" r:id="rId15"/>
    <p:sldLayoutId id="2147483713" r:id="rId16"/>
    <p:sldLayoutId id="214748371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8.xml"/><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9.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4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55.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5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5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43.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4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24.xml"/><Relationship Id="rId5" Type="http://schemas.openxmlformats.org/officeDocument/2006/relationships/hyperlink" Target="https://businessmakeover.eu/tools/business-model-cards" TargetMode="Externa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28.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28.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28.xml"/><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28.xml"/><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28.xml"/><Relationship Id="rId5" Type="http://schemas.openxmlformats.org/officeDocument/2006/relationships/image" Target="../media/image25.png"/><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28.xml"/><Relationship Id="rId5" Type="http://schemas.openxmlformats.org/officeDocument/2006/relationships/image" Target="../media/image27.png"/><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28.xml"/><Relationship Id="rId5" Type="http://schemas.openxmlformats.org/officeDocument/2006/relationships/image" Target="../media/image29.png"/><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28.xml"/><Relationship Id="rId5" Type="http://schemas.openxmlformats.org/officeDocument/2006/relationships/image" Target="../media/image29.png"/><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28.xml"/><Relationship Id="rId5" Type="http://schemas.openxmlformats.org/officeDocument/2006/relationships/image" Target="../media/image31.png"/><Relationship Id="rId4" Type="http://schemas.openxmlformats.org/officeDocument/2006/relationships/image" Target="../media/image30.png"/></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28.xml"/><Relationship Id="rId5" Type="http://schemas.openxmlformats.org/officeDocument/2006/relationships/image" Target="../media/image33.png"/><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28.xml"/><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8.xml"/><Relationship Id="rId1" Type="http://schemas.openxmlformats.org/officeDocument/2006/relationships/slideLayout" Target="../slideLayouts/slideLayout28.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28.xml"/><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0.xml"/><Relationship Id="rId1" Type="http://schemas.openxmlformats.org/officeDocument/2006/relationships/slideLayout" Target="../slideLayouts/slideLayout28.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1.xml"/><Relationship Id="rId1" Type="http://schemas.openxmlformats.org/officeDocument/2006/relationships/slideLayout" Target="../slideLayouts/slideLayout28.xml"/><Relationship Id="rId4" Type="http://schemas.openxmlformats.org/officeDocument/2006/relationships/image" Target="../media/image39.png"/></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2.xml"/><Relationship Id="rId1" Type="http://schemas.openxmlformats.org/officeDocument/2006/relationships/slideLayout" Target="../slideLayouts/slideLayout28.xml"/><Relationship Id="rId4" Type="http://schemas.openxmlformats.org/officeDocument/2006/relationships/image" Target="../media/image40.png"/></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3.xml"/><Relationship Id="rId1" Type="http://schemas.openxmlformats.org/officeDocument/2006/relationships/slideLayout" Target="../slideLayouts/slideLayout28.xml"/><Relationship Id="rId4" Type="http://schemas.openxmlformats.org/officeDocument/2006/relationships/image" Target="../media/image41.png"/></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4.xml"/><Relationship Id="rId1" Type="http://schemas.openxmlformats.org/officeDocument/2006/relationships/slideLayout" Target="../slideLayouts/slideLayout28.xml"/><Relationship Id="rId4" Type="http://schemas.openxmlformats.org/officeDocument/2006/relationships/image" Target="../media/image42.png"/></Relationships>
</file>

<file path=ppt/slides/_rels/slide4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5.xml"/><Relationship Id="rId1" Type="http://schemas.openxmlformats.org/officeDocument/2006/relationships/slideLayout" Target="../slideLayouts/slideLayout28.xml"/><Relationship Id="rId4" Type="http://schemas.openxmlformats.org/officeDocument/2006/relationships/image" Target="../media/image43.png"/></Relationships>
</file>

<file path=ppt/slides/_rels/slide4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6.xml"/><Relationship Id="rId1" Type="http://schemas.openxmlformats.org/officeDocument/2006/relationships/slideLayout" Target="../slideLayouts/slideLayout28.xml"/></Relationships>
</file>

<file path=ppt/slides/_rels/slide4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7.xml"/><Relationship Id="rId1" Type="http://schemas.openxmlformats.org/officeDocument/2006/relationships/slideLayout" Target="../slideLayouts/slideLayout28.xml"/></Relationships>
</file>

<file path=ppt/slides/_rels/slide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8.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6"/>
          <p:cNvSpPr txBox="1"/>
          <p:nvPr/>
        </p:nvSpPr>
        <p:spPr>
          <a:xfrm>
            <a:off x="1212112" y="2546912"/>
            <a:ext cx="5142492"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5000" dirty="0" smtClean="0">
                <a:solidFill>
                  <a:srgbClr val="FF632B"/>
                </a:solidFill>
                <a:latin typeface="Plus Jakarta Sans ExtraBold"/>
                <a:ea typeface="Plus Jakarta Sans ExtraBold"/>
                <a:cs typeface="Plus Jakarta Sans ExtraBold"/>
                <a:sym typeface="Plus Jakarta Sans ExtraBold"/>
              </a:rPr>
              <a:t>Bienvenidos!</a:t>
            </a:r>
            <a:endParaRPr sz="5000" dirty="0">
              <a:solidFill>
                <a:srgbClr val="FF632B"/>
              </a:solidFill>
              <a:latin typeface="Plus Jakarta Sans ExtraBold"/>
              <a:ea typeface="Plus Jakarta Sans ExtraBold"/>
              <a:cs typeface="Plus Jakarta Sans ExtraBold"/>
              <a:sym typeface="Plus Jakarta Sans ExtraBold"/>
            </a:endParaRPr>
          </a:p>
        </p:txBody>
      </p:sp>
      <p:sp>
        <p:nvSpPr>
          <p:cNvPr id="230" name="Google Shape;230;p36"/>
          <p:cNvSpPr txBox="1"/>
          <p:nvPr/>
        </p:nvSpPr>
        <p:spPr>
          <a:xfrm>
            <a:off x="3219832" y="728378"/>
            <a:ext cx="8169075" cy="279544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8800" b="1" dirty="0" smtClean="0">
                <a:solidFill>
                  <a:srgbClr val="F8F2E8"/>
                </a:solidFill>
                <a:latin typeface="Plus Jakarta Sans ExtraBold"/>
                <a:ea typeface="Plus Jakarta Sans ExtraBold"/>
                <a:cs typeface="Plus Jakarta Sans ExtraBold"/>
                <a:sym typeface="Plus Jakarta Sans ExtraBold"/>
              </a:rPr>
              <a:t>SQL</a:t>
            </a:r>
            <a:endParaRPr sz="8800" b="1" dirty="0">
              <a:solidFill>
                <a:srgbClr val="F8F2E8"/>
              </a:solidFill>
              <a:latin typeface="Plus Jakarta Sans ExtraBold"/>
              <a:ea typeface="Plus Jakarta Sans ExtraBold"/>
              <a:cs typeface="Plus Jakarta Sans ExtraBold"/>
              <a:sym typeface="Plus Jakarta Sans ExtraBold"/>
            </a:endParaRPr>
          </a:p>
        </p:txBody>
      </p:sp>
      <p:pic>
        <p:nvPicPr>
          <p:cNvPr id="6" name="Google Shape;93;p23" title="logo gradient 1.png"/>
          <p:cNvPicPr preferRelativeResize="0"/>
          <p:nvPr/>
        </p:nvPicPr>
        <p:blipFill>
          <a:blip r:embed="rId3">
            <a:alphaModFix/>
          </a:blip>
          <a:stretch>
            <a:fillRect/>
          </a:stretch>
        </p:blipFill>
        <p:spPr>
          <a:xfrm>
            <a:off x="2713303" y="4037844"/>
            <a:ext cx="3283459" cy="74680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8418483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3"/>
          <p:cNvSpPr txBox="1"/>
          <p:nvPr/>
        </p:nvSpPr>
        <p:spPr>
          <a:xfrm>
            <a:off x="382772" y="2088264"/>
            <a:ext cx="8346558" cy="1416059"/>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5000" dirty="0" smtClean="0">
                <a:solidFill>
                  <a:srgbClr val="F8F2E8"/>
                </a:solidFill>
                <a:latin typeface="Plus Jakarta Sans ExtraBold"/>
                <a:ea typeface="Plus Jakarta Sans ExtraBold"/>
                <a:cs typeface="Plus Jakarta Sans ExtraBold"/>
                <a:sym typeface="Plus Jakarta Sans ExtraBold"/>
              </a:rPr>
              <a:t>¡Les </a:t>
            </a:r>
            <a:r>
              <a:rPr lang="es" sz="5000" dirty="0">
                <a:solidFill>
                  <a:srgbClr val="F8F2E8"/>
                </a:solidFill>
                <a:latin typeface="Plus Jakarta Sans ExtraBold"/>
                <a:ea typeface="Plus Jakarta Sans ExtraBold"/>
                <a:cs typeface="Plus Jakarta Sans ExtraBold"/>
                <a:sym typeface="Plus Jakarta Sans ExtraBold"/>
              </a:rPr>
              <a:t>damos la </a:t>
            </a:r>
            <a:r>
              <a:rPr lang="es" sz="5000" dirty="0" smtClean="0">
                <a:solidFill>
                  <a:srgbClr val="F8F2E8"/>
                </a:solidFill>
                <a:latin typeface="Plus Jakarta Sans ExtraBold"/>
                <a:ea typeface="Plus Jakarta Sans ExtraBold"/>
                <a:cs typeface="Plus Jakarta Sans ExtraBold"/>
                <a:sym typeface="Plus Jakarta Sans ExtraBold"/>
              </a:rPr>
              <a:t>bienvenida!</a:t>
            </a:r>
            <a:endParaRPr sz="2000" dirty="0">
              <a:solidFill>
                <a:srgbClr val="F8F2E8"/>
              </a:solidFill>
              <a:latin typeface="Plus Jakarta Sans ExtraBold"/>
              <a:ea typeface="Plus Jakarta Sans ExtraBold"/>
              <a:cs typeface="Plus Jakarta Sans ExtraBold"/>
              <a:sym typeface="Plus Jakarta Sans ExtraBold"/>
            </a:endParaRPr>
          </a:p>
        </p:txBody>
      </p:sp>
      <p:sp>
        <p:nvSpPr>
          <p:cNvPr id="92" name="Google Shape;92;p23"/>
          <p:cNvSpPr txBox="1"/>
          <p:nvPr/>
        </p:nvSpPr>
        <p:spPr>
          <a:xfrm>
            <a:off x="1244857" y="465750"/>
            <a:ext cx="6462900" cy="465903"/>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3000" dirty="0">
                <a:solidFill>
                  <a:srgbClr val="F8F2E8"/>
                </a:solidFill>
                <a:latin typeface="Plus Jakarta Sans Light"/>
                <a:ea typeface="Plus Jakarta Sans Light"/>
                <a:cs typeface="Plus Jakarta Sans Light"/>
                <a:sym typeface="Plus Jakarta Sans Light"/>
              </a:rPr>
              <a:t>¿Comenzamos?</a:t>
            </a:r>
            <a:endParaRPr sz="3000" dirty="0">
              <a:solidFill>
                <a:srgbClr val="F8F2E8"/>
              </a:solidFill>
              <a:latin typeface="Plus Jakarta Sans Light"/>
              <a:ea typeface="Plus Jakarta Sans Light"/>
              <a:cs typeface="Plus Jakarta Sans Light"/>
              <a:sym typeface="Plus Jakarta Sans Light"/>
            </a:endParaRPr>
          </a:p>
        </p:txBody>
      </p:sp>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94" name="Google Shape;94;p23"/>
          <p:cNvSpPr txBox="1"/>
          <p:nvPr/>
        </p:nvSpPr>
        <p:spPr>
          <a:xfrm>
            <a:off x="1373325" y="3219550"/>
            <a:ext cx="6462900" cy="318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2000" dirty="0" smtClean="0">
                <a:solidFill>
                  <a:srgbClr val="F8F2E8"/>
                </a:solidFill>
                <a:latin typeface="Plus Jakarta Sans Light"/>
                <a:ea typeface="Plus Jakarta Sans Light"/>
                <a:cs typeface="Plus Jakarta Sans Light"/>
                <a:sym typeface="Plus Jakarta Sans Light"/>
              </a:rPr>
              <a:t>Esta guía contiene los lineamientos básicos</a:t>
            </a:r>
            <a:endParaRPr sz="2000" dirty="0" smtClean="0">
              <a:solidFill>
                <a:srgbClr val="F8F2E8"/>
              </a:solidFill>
              <a:latin typeface="Plus Jakarta Sans Light"/>
              <a:ea typeface="Plus Jakarta Sans Light"/>
              <a:cs typeface="Plus Jakarta Sans Light"/>
              <a:sym typeface="Plus Jakarta Sans Light"/>
            </a:endParaRPr>
          </a:p>
          <a:p>
            <a:pPr marL="0" lvl="0" indent="0" algn="ctr" rtl="0">
              <a:spcBef>
                <a:spcPts val="0"/>
              </a:spcBef>
              <a:spcAft>
                <a:spcPts val="0"/>
              </a:spcAft>
              <a:buNone/>
            </a:pPr>
            <a:r>
              <a:rPr lang="es" sz="2000" dirty="0" smtClean="0">
                <a:solidFill>
                  <a:srgbClr val="F8F2E8"/>
                </a:solidFill>
                <a:latin typeface="Plus Jakarta Sans Light"/>
                <a:ea typeface="Plus Jakarta Sans Light"/>
                <a:cs typeface="Plus Jakarta Sans Light"/>
                <a:sym typeface="Plus Jakarta Sans Light"/>
              </a:rPr>
              <a:t>que orientan el uso de las slides en la creación del material de clase.</a:t>
            </a:r>
            <a:endParaRPr sz="2000" dirty="0">
              <a:solidFill>
                <a:srgbClr val="F8F2E8"/>
              </a:solidFill>
              <a:latin typeface="Plus Jakarta Sans Light"/>
              <a:ea typeface="Plus Jakarta Sans Light"/>
              <a:cs typeface="Plus Jakarta Sans Light"/>
              <a:sym typeface="Plus Jakarta Sans Light"/>
            </a:endParaRPr>
          </a:p>
        </p:txBody>
      </p:sp>
      <p:pic>
        <p:nvPicPr>
          <p:cNvPr id="6" name="Google Shape;235;p62" descr="Man Dancing on Apple iOS 12.2"/>
          <p:cNvPicPr preferRelativeResize="0"/>
          <p:nvPr/>
        </p:nvPicPr>
        <p:blipFill rotWithShape="1">
          <a:blip r:embed="rId4">
            <a:alphaModFix/>
          </a:blip>
          <a:srcRect/>
          <a:stretch/>
        </p:blipFill>
        <p:spPr>
          <a:xfrm>
            <a:off x="4038207" y="1180424"/>
            <a:ext cx="876200" cy="876200"/>
          </a:xfrm>
          <a:prstGeom prst="rect">
            <a:avLst/>
          </a:prstGeom>
          <a:noFill/>
          <a:ln>
            <a:noFill/>
          </a:ln>
        </p:spPr>
      </p:pic>
    </p:spTree>
    <p:extLst>
      <p:ext uri="{BB962C8B-B14F-4D97-AF65-F5344CB8AC3E}">
        <p14:creationId xmlns:p14="http://schemas.microsoft.com/office/powerpoint/2010/main" val="2712681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3"/>
          <p:cNvSpPr txBox="1"/>
          <p:nvPr/>
        </p:nvSpPr>
        <p:spPr>
          <a:xfrm>
            <a:off x="431496" y="908050"/>
            <a:ext cx="8346558" cy="1416059"/>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5000" dirty="0" smtClean="0">
                <a:solidFill>
                  <a:srgbClr val="F8F2E8"/>
                </a:solidFill>
                <a:latin typeface="Plus Jakarta Sans ExtraBold"/>
                <a:ea typeface="Plus Jakarta Sans ExtraBold"/>
                <a:cs typeface="Plus Jakarta Sans ExtraBold"/>
                <a:sym typeface="Plus Jakarta Sans ExtraBold"/>
              </a:rPr>
              <a:t>Estoy grabando?</a:t>
            </a:r>
            <a:endParaRPr sz="2000" dirty="0">
              <a:solidFill>
                <a:srgbClr val="F8F2E8"/>
              </a:solidFill>
              <a:latin typeface="Plus Jakarta Sans ExtraBold"/>
              <a:ea typeface="Plus Jakarta Sans ExtraBold"/>
              <a:cs typeface="Plus Jakarta Sans ExtraBold"/>
              <a:sym typeface="Plus Jakarta Sans ExtraBold"/>
            </a:endParaRPr>
          </a:p>
        </p:txBody>
      </p:sp>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94" name="Google Shape;94;p23"/>
          <p:cNvSpPr txBox="1"/>
          <p:nvPr/>
        </p:nvSpPr>
        <p:spPr>
          <a:xfrm>
            <a:off x="1373325" y="2324109"/>
            <a:ext cx="6462900" cy="318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MX" sz="2000" dirty="0" smtClean="0">
                <a:solidFill>
                  <a:srgbClr val="F8F2E8"/>
                </a:solidFill>
                <a:latin typeface="Plus Jakarta Sans Light"/>
                <a:ea typeface="Plus Jakarta Sans Light"/>
                <a:cs typeface="Plus Jakarta Sans Light"/>
                <a:sym typeface="Plus Jakarta Sans Light"/>
              </a:rPr>
              <a:t>Por favor que no se nos pase esto así queda </a:t>
            </a:r>
            <a:r>
              <a:rPr lang="es-MX" sz="2000" dirty="0" smtClean="0">
                <a:solidFill>
                  <a:srgbClr val="F8F2E8"/>
                </a:solidFill>
                <a:latin typeface="Plus Jakarta Sans Light"/>
                <a:ea typeface="Plus Jakarta Sans Light"/>
                <a:cs typeface="Plus Jakarta Sans Light"/>
                <a:sym typeface="Plus Jakarta Sans Light"/>
              </a:rPr>
              <a:t>la </a:t>
            </a:r>
            <a:r>
              <a:rPr lang="es-MX" sz="2000" dirty="0" smtClean="0">
                <a:solidFill>
                  <a:srgbClr val="F8F2E8"/>
                </a:solidFill>
                <a:latin typeface="Plus Jakarta Sans Light"/>
                <a:ea typeface="Plus Jakarta Sans Light"/>
                <a:cs typeface="Plus Jakarta Sans Light"/>
                <a:sym typeface="Plus Jakarta Sans Light"/>
              </a:rPr>
              <a:t>clase </a:t>
            </a:r>
            <a:r>
              <a:rPr lang="es-MX" sz="2000" dirty="0" smtClean="0">
                <a:solidFill>
                  <a:srgbClr val="F8F2E8"/>
                </a:solidFill>
                <a:latin typeface="Plus Jakarta Sans Light"/>
                <a:ea typeface="Plus Jakarta Sans Light"/>
                <a:cs typeface="Plus Jakarta Sans Light"/>
                <a:sym typeface="Plus Jakarta Sans Light"/>
              </a:rPr>
              <a:t>asincrónica online y </a:t>
            </a:r>
            <a:r>
              <a:rPr lang="es-MX" sz="2000" dirty="0" smtClean="0">
                <a:solidFill>
                  <a:srgbClr val="F8F2E8"/>
                </a:solidFill>
                <a:latin typeface="Plus Jakarta Sans Light"/>
                <a:ea typeface="Plus Jakarta Sans Light"/>
                <a:cs typeface="Plus Jakarta Sans Light"/>
                <a:sym typeface="Plus Jakarta Sans Light"/>
              </a:rPr>
              <a:t>la pueden ver todas las veces que quieran!</a:t>
            </a:r>
            <a:br>
              <a:rPr lang="es-MX" sz="2000" dirty="0" smtClean="0">
                <a:solidFill>
                  <a:srgbClr val="F8F2E8"/>
                </a:solidFill>
                <a:latin typeface="Plus Jakarta Sans Light"/>
                <a:ea typeface="Plus Jakarta Sans Light"/>
                <a:cs typeface="Plus Jakarta Sans Light"/>
                <a:sym typeface="Plus Jakarta Sans Light"/>
              </a:rPr>
            </a:br>
            <a:r>
              <a:rPr lang="es-MX" sz="2000" dirty="0" smtClean="0">
                <a:solidFill>
                  <a:srgbClr val="F8F2E8"/>
                </a:solidFill>
                <a:latin typeface="Plus Jakarta Sans Light"/>
                <a:ea typeface="Plus Jakarta Sans Light"/>
                <a:cs typeface="Plus Jakarta Sans Light"/>
                <a:sym typeface="Plus Jakarta Sans Light"/>
              </a:rPr>
              <a:t/>
            </a:r>
            <a:br>
              <a:rPr lang="es-MX" sz="2000" dirty="0" smtClean="0">
                <a:solidFill>
                  <a:srgbClr val="F8F2E8"/>
                </a:solidFill>
                <a:latin typeface="Plus Jakarta Sans Light"/>
                <a:ea typeface="Plus Jakarta Sans Light"/>
                <a:cs typeface="Plus Jakarta Sans Light"/>
                <a:sym typeface="Plus Jakarta Sans Light"/>
              </a:rPr>
            </a:br>
            <a:r>
              <a:rPr lang="es-MX" sz="2000" dirty="0" smtClean="0">
                <a:solidFill>
                  <a:srgbClr val="F8F2E8"/>
                </a:solidFill>
                <a:latin typeface="Plus Jakarta Sans Light"/>
                <a:ea typeface="Plus Jakarta Sans Light"/>
                <a:cs typeface="Plus Jakarta Sans Light"/>
                <a:sym typeface="Plus Jakarta Sans Light"/>
              </a:rPr>
              <a:t>Arrancamos?</a:t>
            </a:r>
            <a:endParaRPr sz="2000" dirty="0">
              <a:solidFill>
                <a:srgbClr val="F8F2E8"/>
              </a:solidFill>
              <a:latin typeface="Plus Jakarta Sans Light"/>
              <a:ea typeface="Plus Jakarta Sans Light"/>
              <a:cs typeface="Plus Jakarta Sans Light"/>
              <a:sym typeface="Plus Jakarta Sans Light"/>
            </a:endParaRPr>
          </a:p>
        </p:txBody>
      </p:sp>
    </p:spTree>
    <p:extLst>
      <p:ext uri="{BB962C8B-B14F-4D97-AF65-F5344CB8AC3E}">
        <p14:creationId xmlns:p14="http://schemas.microsoft.com/office/powerpoint/2010/main" val="3762221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5" name="Google Shape;51;p17"/>
          <p:cNvSpPr txBox="1"/>
          <p:nvPr/>
        </p:nvSpPr>
        <p:spPr>
          <a:xfrm>
            <a:off x="382772" y="1114625"/>
            <a:ext cx="8285728" cy="636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s" sz="3000" b="1" dirty="0">
                <a:solidFill>
                  <a:schemeClr val="lt1"/>
                </a:solidFill>
                <a:latin typeface="Helvetica Neue"/>
                <a:ea typeface="Helvetica Neue"/>
                <a:cs typeface="Helvetica Neue"/>
                <a:sym typeface="Helvetica Neue"/>
              </a:rPr>
              <a:t>Presentación </a:t>
            </a:r>
            <a:r>
              <a:rPr lang="es" sz="3000" b="1" dirty="0">
                <a:solidFill>
                  <a:schemeClr val="accent6"/>
                </a:solidFill>
                <a:latin typeface="Helvetica Neue"/>
                <a:ea typeface="Helvetica Neue"/>
                <a:cs typeface="Helvetica Neue"/>
                <a:sym typeface="Helvetica Neue"/>
              </a:rPr>
              <a:t>del equipo </a:t>
            </a:r>
            <a:endParaRPr sz="3000" b="1" dirty="0">
              <a:solidFill>
                <a:schemeClr val="lt1"/>
              </a:solidFill>
              <a:latin typeface="Helvetica Neue"/>
              <a:ea typeface="Helvetica Neue"/>
              <a:cs typeface="Helvetica Neue"/>
              <a:sym typeface="Helvetica Neue"/>
            </a:endParaRPr>
          </a:p>
        </p:txBody>
      </p:sp>
      <p:sp>
        <p:nvSpPr>
          <p:cNvPr id="6" name="Google Shape;53;p17"/>
          <p:cNvSpPr txBox="1"/>
          <p:nvPr/>
        </p:nvSpPr>
        <p:spPr>
          <a:xfrm>
            <a:off x="489362" y="1751225"/>
            <a:ext cx="4925700" cy="392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350" dirty="0">
                <a:solidFill>
                  <a:srgbClr val="B7B7B7"/>
                </a:solidFill>
                <a:latin typeface="DM Sans"/>
                <a:ea typeface="DM Sans"/>
                <a:cs typeface="DM Sans"/>
                <a:sym typeface="DM Sans"/>
              </a:rPr>
              <a:t>COMISIÓN </a:t>
            </a:r>
            <a:r>
              <a:rPr lang="es" sz="1350" dirty="0" smtClean="0">
                <a:solidFill>
                  <a:srgbClr val="B7B7B7"/>
                </a:solidFill>
                <a:latin typeface="DM Sans"/>
                <a:ea typeface="DM Sans"/>
                <a:cs typeface="DM Sans"/>
                <a:sym typeface="DM Sans"/>
              </a:rPr>
              <a:t>N° 89225 </a:t>
            </a:r>
            <a:endParaRPr sz="1350" dirty="0">
              <a:solidFill>
                <a:srgbClr val="B7B7B7"/>
              </a:solidFill>
              <a:latin typeface="DM Sans"/>
              <a:ea typeface="DM Sans"/>
              <a:cs typeface="DM Sans"/>
              <a:sym typeface="DM Sans"/>
            </a:endParaRPr>
          </a:p>
        </p:txBody>
      </p:sp>
      <p:sp>
        <p:nvSpPr>
          <p:cNvPr id="7" name="Google Shape;52;p17"/>
          <p:cNvSpPr txBox="1"/>
          <p:nvPr/>
        </p:nvSpPr>
        <p:spPr>
          <a:xfrm>
            <a:off x="297851" y="2531357"/>
            <a:ext cx="6889758" cy="1549112"/>
          </a:xfrm>
          <a:prstGeom prst="rect">
            <a:avLst/>
          </a:prstGeom>
          <a:noFill/>
          <a:ln>
            <a:noFill/>
          </a:ln>
        </p:spPr>
        <p:txBody>
          <a:bodyPr spcFirstLastPara="1" wrap="square" lIns="91425" tIns="91425" rIns="91425" bIns="91425" anchor="t" anchorCtr="0">
            <a:spAutoFit/>
          </a:bodyPr>
          <a:lstStyle/>
          <a:p>
            <a:pPr marL="457200" lvl="0" indent="-381000" algn="l" rtl="0">
              <a:spcBef>
                <a:spcPts val="0"/>
              </a:spcBef>
              <a:spcAft>
                <a:spcPts val="0"/>
              </a:spcAft>
              <a:buClr>
                <a:srgbClr val="EAFF6A"/>
              </a:buClr>
              <a:buSzPts val="2400"/>
              <a:buFont typeface="DM Sans"/>
              <a:buChar char="✔"/>
            </a:pPr>
            <a:r>
              <a:rPr lang="es" sz="2400" b="1" dirty="0">
                <a:solidFill>
                  <a:schemeClr val="lt1"/>
                </a:solidFill>
                <a:latin typeface="DM Sans"/>
                <a:ea typeface="DM Sans"/>
                <a:cs typeface="DM Sans"/>
                <a:sym typeface="DM Sans"/>
              </a:rPr>
              <a:t>Profesor/a: </a:t>
            </a:r>
            <a:r>
              <a:rPr lang="es-MX" sz="2400" dirty="0" smtClean="0">
                <a:solidFill>
                  <a:schemeClr val="lt1"/>
                </a:solidFill>
                <a:latin typeface="DM Sans"/>
                <a:ea typeface="DM Sans"/>
                <a:cs typeface="DM Sans"/>
                <a:sym typeface="DM Sans"/>
              </a:rPr>
              <a:t>Emilio D </a:t>
            </a:r>
            <a:r>
              <a:rPr lang="es-MX" sz="2400" dirty="0" err="1" smtClean="0">
                <a:solidFill>
                  <a:schemeClr val="lt1"/>
                </a:solidFill>
                <a:latin typeface="DM Sans"/>
                <a:ea typeface="DM Sans"/>
                <a:cs typeface="DM Sans"/>
                <a:sym typeface="DM Sans"/>
              </a:rPr>
              <a:t>Augero</a:t>
            </a:r>
            <a:endParaRPr sz="2400" b="1" dirty="0">
              <a:solidFill>
                <a:schemeClr val="lt1"/>
              </a:solidFill>
              <a:latin typeface="DM Sans"/>
              <a:ea typeface="DM Sans"/>
              <a:cs typeface="DM Sans"/>
              <a:sym typeface="DM Sans"/>
            </a:endParaRPr>
          </a:p>
          <a:p>
            <a:pPr marL="457200" indent="-381000">
              <a:spcBef>
                <a:spcPts val="1000"/>
              </a:spcBef>
              <a:spcAft>
                <a:spcPts val="1000"/>
              </a:spcAft>
              <a:buClr>
                <a:srgbClr val="EAFF6A"/>
              </a:buClr>
              <a:buSzPts val="2400"/>
              <a:buFont typeface="DM Sans"/>
              <a:buChar char="✔"/>
            </a:pPr>
            <a:r>
              <a:rPr lang="es" sz="2400" b="1" dirty="0" smtClean="0">
                <a:solidFill>
                  <a:schemeClr val="lt1"/>
                </a:solidFill>
                <a:latin typeface="DM Sans"/>
                <a:ea typeface="DM Sans"/>
                <a:cs typeface="DM Sans"/>
                <a:sym typeface="DM Sans"/>
              </a:rPr>
              <a:t>Tutor adjunto: </a:t>
            </a:r>
            <a:r>
              <a:rPr lang="es-MX" sz="2400" dirty="0" smtClean="0">
                <a:solidFill>
                  <a:schemeClr val="lt1"/>
                </a:solidFill>
                <a:latin typeface="DM Sans"/>
                <a:ea typeface="DM Sans"/>
                <a:cs typeface="DM Sans"/>
                <a:sym typeface="DM Sans"/>
              </a:rPr>
              <a:t>Arturo </a:t>
            </a:r>
            <a:r>
              <a:rPr lang="es-MX" sz="2400" dirty="0" err="1" smtClean="0">
                <a:solidFill>
                  <a:schemeClr val="lt1"/>
                </a:solidFill>
                <a:latin typeface="DM Sans"/>
                <a:ea typeface="DM Sans"/>
                <a:cs typeface="DM Sans"/>
                <a:sym typeface="DM Sans"/>
              </a:rPr>
              <a:t>Grottoli</a:t>
            </a:r>
            <a:r>
              <a:rPr lang="es-MX" sz="2400" dirty="0" smtClean="0">
                <a:solidFill>
                  <a:schemeClr val="lt1"/>
                </a:solidFill>
                <a:latin typeface="DM Sans"/>
                <a:ea typeface="DM Sans"/>
                <a:cs typeface="DM Sans"/>
                <a:sym typeface="DM Sans"/>
              </a:rPr>
              <a:t> (Voy a ser el profe hoy!)</a:t>
            </a:r>
            <a:endParaRPr lang="es-MX" sz="2400" b="1" dirty="0">
              <a:solidFill>
                <a:schemeClr val="lt1"/>
              </a:solidFill>
              <a:latin typeface="DM Sans"/>
              <a:ea typeface="DM Sans"/>
              <a:cs typeface="DM Sans"/>
              <a:sym typeface="DM Sans"/>
            </a:endParaRPr>
          </a:p>
        </p:txBody>
      </p:sp>
    </p:spTree>
    <p:extLst>
      <p:ext uri="{BB962C8B-B14F-4D97-AF65-F5344CB8AC3E}">
        <p14:creationId xmlns:p14="http://schemas.microsoft.com/office/powerpoint/2010/main" val="971975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8" name="Google Shape;59;p18"/>
          <p:cNvSpPr txBox="1"/>
          <p:nvPr/>
        </p:nvSpPr>
        <p:spPr>
          <a:xfrm>
            <a:off x="651674" y="201182"/>
            <a:ext cx="7152623" cy="1292631"/>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dirty="0" smtClean="0">
                <a:solidFill>
                  <a:schemeClr val="lt1"/>
                </a:solidFill>
                <a:latin typeface="DM Sans"/>
                <a:ea typeface="DM Sans"/>
                <a:cs typeface="DM Sans"/>
                <a:sym typeface="DM Sans"/>
              </a:rPr>
              <a:t>Datos a tener en cuenta en la cursada</a:t>
            </a:r>
            <a:endParaRPr sz="4000" b="1" dirty="0">
              <a:solidFill>
                <a:srgbClr val="DEFC52"/>
              </a:solidFill>
              <a:latin typeface="DM Sans"/>
              <a:ea typeface="DM Sans"/>
              <a:cs typeface="DM Sans"/>
              <a:sym typeface="DM Sans"/>
            </a:endParaRPr>
          </a:p>
        </p:txBody>
      </p:sp>
      <p:sp>
        <p:nvSpPr>
          <p:cNvPr id="9" name="Google Shape;60;p18"/>
          <p:cNvSpPr txBox="1"/>
          <p:nvPr/>
        </p:nvSpPr>
        <p:spPr>
          <a:xfrm>
            <a:off x="380481" y="1447979"/>
            <a:ext cx="7423816" cy="3075171"/>
          </a:xfrm>
          <a:prstGeom prst="rect">
            <a:avLst/>
          </a:prstGeom>
          <a:noFill/>
          <a:ln>
            <a:noFill/>
          </a:ln>
        </p:spPr>
        <p:txBody>
          <a:bodyPr spcFirstLastPara="1" wrap="square" lIns="91425" tIns="91425" rIns="91425" bIns="91425" anchor="t" anchorCtr="0">
            <a:spAutoFit/>
          </a:bodyPr>
          <a:lstStyle/>
          <a:p>
            <a:pPr marL="457200" lvl="0" indent="-320675">
              <a:buClr>
                <a:srgbClr val="EAFF6A"/>
              </a:buClr>
              <a:buSzPts val="1450"/>
              <a:buFont typeface="DM Sans"/>
              <a:buChar char="✓"/>
            </a:pPr>
            <a:r>
              <a:rPr lang="es" sz="1450" dirty="0">
                <a:solidFill>
                  <a:schemeClr val="lt1"/>
                </a:solidFill>
                <a:latin typeface="DM Sans"/>
                <a:ea typeface="DM Sans"/>
                <a:cs typeface="DM Sans"/>
                <a:sym typeface="DM Sans"/>
              </a:rPr>
              <a:t>Me gusta </a:t>
            </a:r>
            <a:r>
              <a:rPr lang="es" sz="1450" dirty="0" smtClean="0">
                <a:solidFill>
                  <a:schemeClr val="lt1"/>
                </a:solidFill>
                <a:latin typeface="DM Sans"/>
                <a:ea typeface="DM Sans"/>
                <a:cs typeface="DM Sans"/>
                <a:sym typeface="DM Sans"/>
              </a:rPr>
              <a:t>el </a:t>
            </a:r>
            <a:r>
              <a:rPr lang="es" sz="1450" b="1" dirty="0" smtClean="0">
                <a:solidFill>
                  <a:schemeClr val="accent6"/>
                </a:solidFill>
                <a:latin typeface="DM Sans"/>
                <a:ea typeface="DM Sans"/>
                <a:cs typeface="DM Sans"/>
                <a:sym typeface="DM Sans"/>
              </a:rPr>
              <a:t>ida y vuelta en la clase,</a:t>
            </a:r>
            <a:r>
              <a:rPr lang="es" sz="1450" dirty="0">
                <a:solidFill>
                  <a:schemeClr val="lt1"/>
                </a:solidFill>
                <a:latin typeface="DM Sans"/>
                <a:ea typeface="DM Sans"/>
                <a:cs typeface="DM Sans"/>
                <a:sym typeface="DM Sans"/>
              </a:rPr>
              <a:t> </a:t>
            </a:r>
            <a:r>
              <a:rPr lang="es" sz="1450" dirty="0" smtClean="0">
                <a:solidFill>
                  <a:schemeClr val="lt1"/>
                </a:solidFill>
                <a:latin typeface="DM Sans"/>
                <a:ea typeface="DM Sans"/>
                <a:cs typeface="DM Sans"/>
                <a:sym typeface="DM Sans"/>
              </a:rPr>
              <a:t>pregunten, participen</a:t>
            </a:r>
            <a:r>
              <a:rPr lang="es" sz="1450" b="1" dirty="0" smtClean="0">
                <a:solidFill>
                  <a:schemeClr val="accent6"/>
                </a:solidFill>
                <a:latin typeface="DM Sans"/>
                <a:ea typeface="DM Sans"/>
                <a:cs typeface="DM Sans"/>
                <a:sym typeface="DM Sans"/>
              </a:rPr>
              <a:t> .</a:t>
            </a:r>
            <a:endParaRPr sz="1450" b="1" dirty="0">
              <a:solidFill>
                <a:schemeClr val="accent6"/>
              </a:solidFill>
              <a:latin typeface="DM Sans"/>
              <a:ea typeface="DM Sans"/>
              <a:cs typeface="DM Sans"/>
              <a:sym typeface="DM Sans"/>
            </a:endParaRPr>
          </a:p>
          <a:p>
            <a:pPr marL="457200" lvl="0" indent="-320675" algn="l" rtl="0">
              <a:spcBef>
                <a:spcPts val="1000"/>
              </a:spcBef>
              <a:spcAft>
                <a:spcPts val="0"/>
              </a:spcAft>
              <a:buClr>
                <a:srgbClr val="EAFF6A"/>
              </a:buClr>
              <a:buSzPts val="1450"/>
              <a:buFont typeface="DM Sans"/>
              <a:buChar char="✓"/>
            </a:pPr>
            <a:r>
              <a:rPr lang="es" sz="1450" dirty="0" smtClean="0">
                <a:solidFill>
                  <a:schemeClr val="lt1"/>
                </a:solidFill>
                <a:latin typeface="DM Sans"/>
                <a:ea typeface="DM Sans"/>
                <a:cs typeface="DM Sans"/>
                <a:sym typeface="DM Sans"/>
              </a:rPr>
              <a:t>Sirve mucho que interactuen entre </a:t>
            </a:r>
            <a:r>
              <a:rPr lang="es" sz="1450" dirty="0">
                <a:solidFill>
                  <a:schemeClr val="lt1"/>
                </a:solidFill>
                <a:latin typeface="DM Sans"/>
                <a:ea typeface="DM Sans"/>
                <a:cs typeface="DM Sans"/>
                <a:sym typeface="DM Sans"/>
              </a:rPr>
              <a:t>ustedes, </a:t>
            </a:r>
            <a:r>
              <a:rPr lang="es" sz="1450" b="1" dirty="0" smtClean="0">
                <a:solidFill>
                  <a:schemeClr val="accent6"/>
                </a:solidFill>
                <a:latin typeface="DM Sans"/>
                <a:ea typeface="DM Sans"/>
                <a:cs typeface="DM Sans"/>
                <a:sym typeface="DM Sans"/>
              </a:rPr>
              <a:t>conozcanse, hagan grupo</a:t>
            </a:r>
            <a:r>
              <a:rPr lang="es" sz="1450" dirty="0" smtClean="0">
                <a:solidFill>
                  <a:schemeClr val="lt1"/>
                </a:solidFill>
                <a:latin typeface="DM Sans"/>
                <a:ea typeface="DM Sans"/>
                <a:cs typeface="DM Sans"/>
                <a:sym typeface="DM Sans"/>
              </a:rPr>
              <a:t>.</a:t>
            </a:r>
            <a:endParaRPr sz="1450" dirty="0">
              <a:solidFill>
                <a:schemeClr val="lt1"/>
              </a:solidFill>
              <a:latin typeface="DM Sans"/>
              <a:ea typeface="DM Sans"/>
              <a:cs typeface="DM Sans"/>
              <a:sym typeface="DM Sans"/>
            </a:endParaRPr>
          </a:p>
          <a:p>
            <a:pPr marL="457200" lvl="0" indent="-320675" algn="l" rtl="0">
              <a:spcBef>
                <a:spcPts val="1000"/>
              </a:spcBef>
              <a:spcAft>
                <a:spcPts val="0"/>
              </a:spcAft>
              <a:buClr>
                <a:srgbClr val="EAFF6A"/>
              </a:buClr>
              <a:buSzPts val="1450"/>
              <a:buFont typeface="DM Sans"/>
              <a:buChar char="✓"/>
            </a:pPr>
            <a:r>
              <a:rPr lang="es" sz="1450" dirty="0" smtClean="0">
                <a:solidFill>
                  <a:schemeClr val="lt1"/>
                </a:solidFill>
                <a:latin typeface="DM Sans"/>
                <a:ea typeface="DM Sans"/>
                <a:cs typeface="DM Sans"/>
                <a:sym typeface="DM Sans"/>
              </a:rPr>
              <a:t>Lo mejor es traer el material flex ya </a:t>
            </a:r>
            <a:r>
              <a:rPr lang="es" sz="1450" b="1" dirty="0" smtClean="0">
                <a:solidFill>
                  <a:schemeClr val="accent6"/>
                </a:solidFill>
                <a:latin typeface="DM Sans"/>
                <a:ea typeface="DM Sans"/>
                <a:cs typeface="DM Sans"/>
                <a:sym typeface="DM Sans"/>
              </a:rPr>
              <a:t>visto para reforzarlo en clase y hacer practica e indagar al respecto</a:t>
            </a:r>
            <a:r>
              <a:rPr lang="es" sz="1450" dirty="0" smtClean="0">
                <a:solidFill>
                  <a:schemeClr val="lt1"/>
                </a:solidFill>
                <a:latin typeface="DM Sans"/>
                <a:ea typeface="DM Sans"/>
                <a:cs typeface="DM Sans"/>
                <a:sym typeface="DM Sans"/>
              </a:rPr>
              <a:t>.</a:t>
            </a:r>
            <a:endParaRPr sz="1450" dirty="0">
              <a:solidFill>
                <a:schemeClr val="lt1"/>
              </a:solidFill>
              <a:latin typeface="DM Sans"/>
              <a:ea typeface="DM Sans"/>
              <a:cs typeface="DM Sans"/>
              <a:sym typeface="DM Sans"/>
            </a:endParaRPr>
          </a:p>
          <a:p>
            <a:pPr marL="457200" lvl="0" indent="-320675" algn="l" rtl="0">
              <a:spcBef>
                <a:spcPts val="1000"/>
              </a:spcBef>
              <a:spcAft>
                <a:spcPts val="0"/>
              </a:spcAft>
              <a:buClr>
                <a:schemeClr val="accent6"/>
              </a:buClr>
              <a:buSzPts val="1450"/>
              <a:buFont typeface="DM Sans"/>
              <a:buChar char="✓"/>
            </a:pPr>
            <a:r>
              <a:rPr lang="es" sz="1450" dirty="0" smtClean="0">
                <a:solidFill>
                  <a:schemeClr val="lt1"/>
                </a:solidFill>
                <a:latin typeface="DM Sans"/>
                <a:ea typeface="DM Sans"/>
                <a:cs typeface="DM Sans"/>
                <a:sym typeface="DM Sans"/>
              </a:rPr>
              <a:t>IA es una herramienta, </a:t>
            </a:r>
            <a:r>
              <a:rPr lang="es" sz="1450" b="1" dirty="0" smtClean="0">
                <a:solidFill>
                  <a:schemeClr val="accent6"/>
                </a:solidFill>
                <a:latin typeface="DM Sans"/>
                <a:ea typeface="DM Sans"/>
                <a:cs typeface="DM Sans"/>
                <a:sym typeface="DM Sans"/>
              </a:rPr>
              <a:t>por favor usar con moderación, recuerden que estan aprendiendo</a:t>
            </a:r>
            <a:r>
              <a:rPr lang="es" sz="1450" dirty="0" smtClean="0">
                <a:solidFill>
                  <a:schemeClr val="lt1"/>
                </a:solidFill>
                <a:latin typeface="DM Sans"/>
                <a:ea typeface="DM Sans"/>
                <a:cs typeface="DM Sans"/>
                <a:sym typeface="DM Sans"/>
              </a:rPr>
              <a:t>. (Se nota mucho si hacen las entregas con eso)</a:t>
            </a:r>
          </a:p>
          <a:p>
            <a:pPr marL="457200" indent="-320675">
              <a:spcBef>
                <a:spcPts val="1000"/>
              </a:spcBef>
              <a:buClr>
                <a:schemeClr val="accent6"/>
              </a:buClr>
              <a:buSzPts val="1450"/>
              <a:buFont typeface="DM Sans"/>
              <a:buChar char="✓"/>
            </a:pPr>
            <a:r>
              <a:rPr lang="es-MX" sz="1450" dirty="0">
                <a:solidFill>
                  <a:schemeClr val="lt1"/>
                </a:solidFill>
                <a:latin typeface="DM Sans"/>
                <a:ea typeface="DM Sans"/>
                <a:cs typeface="DM Sans"/>
                <a:sym typeface="DM Sans"/>
              </a:rPr>
              <a:t>Pregunten, sin timidez, </a:t>
            </a:r>
            <a:r>
              <a:rPr lang="es-MX" sz="1450" b="1" dirty="0">
                <a:solidFill>
                  <a:schemeClr val="accent6"/>
                </a:solidFill>
                <a:latin typeface="DM Sans"/>
                <a:ea typeface="DM Sans"/>
                <a:cs typeface="DM Sans"/>
                <a:sym typeface="DM Sans"/>
              </a:rPr>
              <a:t>usen el chat</a:t>
            </a:r>
            <a:r>
              <a:rPr lang="es-MX" sz="1450" dirty="0">
                <a:solidFill>
                  <a:schemeClr val="lt1"/>
                </a:solidFill>
                <a:latin typeface="DM Sans"/>
                <a:ea typeface="DM Sans"/>
                <a:cs typeface="DM Sans"/>
                <a:sym typeface="DM Sans"/>
              </a:rPr>
              <a:t> </a:t>
            </a:r>
            <a:r>
              <a:rPr lang="es-MX" sz="1450" dirty="0" smtClean="0">
                <a:solidFill>
                  <a:schemeClr val="lt1"/>
                </a:solidFill>
                <a:latin typeface="DM Sans"/>
                <a:ea typeface="DM Sans"/>
                <a:cs typeface="DM Sans"/>
                <a:sym typeface="DM Sans"/>
              </a:rPr>
              <a:t>general</a:t>
            </a:r>
            <a:endParaRPr sz="1450" dirty="0">
              <a:solidFill>
                <a:schemeClr val="lt1"/>
              </a:solidFill>
              <a:latin typeface="DM Sans"/>
              <a:ea typeface="DM Sans"/>
              <a:cs typeface="DM Sans"/>
              <a:sym typeface="DM Sans"/>
            </a:endParaRPr>
          </a:p>
          <a:p>
            <a:pPr marL="457200" lvl="0" indent="-320675" algn="l" rtl="0">
              <a:spcBef>
                <a:spcPts val="1000"/>
              </a:spcBef>
              <a:spcAft>
                <a:spcPts val="0"/>
              </a:spcAft>
              <a:buClr>
                <a:schemeClr val="accent6"/>
              </a:buClr>
              <a:buSzPts val="1450"/>
              <a:buFont typeface="DM Sans"/>
              <a:buChar char="✓"/>
            </a:pPr>
            <a:r>
              <a:rPr lang="es" sz="1450" dirty="0" smtClean="0">
                <a:solidFill>
                  <a:schemeClr val="lt1"/>
                </a:solidFill>
                <a:latin typeface="DM Sans"/>
                <a:ea typeface="DM Sans"/>
                <a:cs typeface="DM Sans"/>
                <a:sym typeface="DM Sans"/>
              </a:rPr>
              <a:t>Puedo crear </a:t>
            </a:r>
            <a:r>
              <a:rPr lang="es" sz="1450" b="1" dirty="0">
                <a:solidFill>
                  <a:schemeClr val="accent6"/>
                </a:solidFill>
                <a:latin typeface="DM Sans"/>
                <a:ea typeface="DM Sans"/>
                <a:cs typeface="DM Sans"/>
                <a:sym typeface="DM Sans"/>
              </a:rPr>
              <a:t>videos</a:t>
            </a:r>
            <a:r>
              <a:rPr lang="es" sz="1450" dirty="0">
                <a:solidFill>
                  <a:schemeClr val="lt1"/>
                </a:solidFill>
                <a:latin typeface="DM Sans"/>
                <a:ea typeface="DM Sans"/>
                <a:cs typeface="DM Sans"/>
                <a:sym typeface="DM Sans"/>
              </a:rPr>
              <a:t> para dudas comunes</a:t>
            </a:r>
            <a:r>
              <a:rPr lang="es" sz="1450" dirty="0" smtClean="0">
                <a:solidFill>
                  <a:schemeClr val="lt1"/>
                </a:solidFill>
                <a:latin typeface="DM Sans"/>
                <a:ea typeface="DM Sans"/>
                <a:cs typeface="DM Sans"/>
                <a:sym typeface="DM Sans"/>
              </a:rPr>
              <a:t>.</a:t>
            </a:r>
            <a:endParaRPr sz="1650" dirty="0">
              <a:solidFill>
                <a:schemeClr val="lt1"/>
              </a:solidFill>
              <a:latin typeface="DM Sans"/>
              <a:ea typeface="DM Sans"/>
              <a:cs typeface="DM Sans"/>
              <a:sym typeface="DM Sans"/>
            </a:endParaRPr>
          </a:p>
          <a:p>
            <a:pPr marL="457200" lvl="0" indent="0" algn="l" rtl="0">
              <a:spcBef>
                <a:spcPts val="1000"/>
              </a:spcBef>
              <a:spcAft>
                <a:spcPts val="1000"/>
              </a:spcAft>
              <a:buNone/>
            </a:pPr>
            <a:endParaRPr sz="1350" dirty="0">
              <a:solidFill>
                <a:schemeClr val="lt1"/>
              </a:solidFill>
              <a:latin typeface="DM Sans"/>
              <a:ea typeface="DM Sans"/>
              <a:cs typeface="DM Sans"/>
              <a:sym typeface="DM Sans"/>
            </a:endParaRPr>
          </a:p>
        </p:txBody>
      </p:sp>
    </p:spTree>
    <p:extLst>
      <p:ext uri="{BB962C8B-B14F-4D97-AF65-F5344CB8AC3E}">
        <p14:creationId xmlns:p14="http://schemas.microsoft.com/office/powerpoint/2010/main" val="3345880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5" name="Google Shape;66;p19"/>
          <p:cNvSpPr txBox="1"/>
          <p:nvPr/>
        </p:nvSpPr>
        <p:spPr>
          <a:xfrm>
            <a:off x="1404863" y="2238463"/>
            <a:ext cx="6221400" cy="738900"/>
          </a:xfrm>
          <a:prstGeom prst="rect">
            <a:avLst/>
          </a:prstGeom>
          <a:noFill/>
          <a:ln>
            <a:noFill/>
          </a:ln>
        </p:spPr>
        <p:txBody>
          <a:bodyPr spcFirstLastPara="1" wrap="square" lIns="91425" tIns="91425" rIns="91425" bIns="91425" anchor="t" anchorCtr="0">
            <a:spAutoFit/>
          </a:bodyPr>
          <a:lstStyle/>
          <a:p>
            <a:pPr lvl="0" algn="ctr">
              <a:lnSpc>
                <a:spcPct val="90000"/>
              </a:lnSpc>
            </a:pPr>
            <a:r>
              <a:rPr lang="es" sz="4000" b="1" dirty="0">
                <a:solidFill>
                  <a:schemeClr val="lt1"/>
                </a:solidFill>
                <a:latin typeface="DM Sans"/>
                <a:ea typeface="DM Sans"/>
                <a:cs typeface="DM Sans"/>
                <a:sym typeface="DM Sans"/>
              </a:rPr>
              <a:t>¿</a:t>
            </a:r>
            <a:r>
              <a:rPr lang="es" sz="4000" b="1" dirty="0" smtClean="0">
                <a:solidFill>
                  <a:schemeClr val="lt1"/>
                </a:solidFill>
                <a:latin typeface="DM Sans"/>
                <a:ea typeface="DM Sans"/>
                <a:cs typeface="DM Sans"/>
                <a:sym typeface="DM Sans"/>
              </a:rPr>
              <a:t>Du</a:t>
            </a:r>
            <a:r>
              <a:rPr lang="es" sz="4000" b="1" dirty="0" smtClean="0">
                <a:solidFill>
                  <a:srgbClr val="EAFF6A"/>
                </a:solidFill>
                <a:latin typeface="DM Sans"/>
                <a:ea typeface="DM Sans"/>
                <a:cs typeface="DM Sans"/>
                <a:sym typeface="DM Sans"/>
              </a:rPr>
              <a:t>das, </a:t>
            </a:r>
            <a:r>
              <a:rPr lang="es" sz="4000" b="1" dirty="0" smtClean="0">
                <a:solidFill>
                  <a:schemeClr val="lt1"/>
                </a:solidFill>
                <a:latin typeface="DM Sans"/>
                <a:ea typeface="DM Sans"/>
                <a:cs typeface="DM Sans"/>
                <a:sym typeface="DM Sans"/>
              </a:rPr>
              <a:t>consu</a:t>
            </a:r>
            <a:r>
              <a:rPr lang="es" sz="4000" b="1" dirty="0">
                <a:solidFill>
                  <a:srgbClr val="EAFF6A"/>
                </a:solidFill>
                <a:latin typeface="DM Sans"/>
                <a:ea typeface="DM Sans"/>
                <a:cs typeface="DM Sans"/>
                <a:sym typeface="DM Sans"/>
              </a:rPr>
              <a:t>l</a:t>
            </a:r>
            <a:r>
              <a:rPr lang="es" sz="4000" b="1" dirty="0" smtClean="0">
                <a:solidFill>
                  <a:srgbClr val="EAFF6A"/>
                </a:solidFill>
                <a:latin typeface="DM Sans"/>
                <a:ea typeface="DM Sans"/>
                <a:cs typeface="DM Sans"/>
                <a:sym typeface="DM Sans"/>
              </a:rPr>
              <a:t>tas</a:t>
            </a:r>
            <a:r>
              <a:rPr lang="es" sz="4000" b="1" dirty="0" smtClean="0">
                <a:solidFill>
                  <a:schemeClr val="lt1"/>
                </a:solidFill>
                <a:latin typeface="DM Sans"/>
                <a:ea typeface="DM Sans"/>
                <a:cs typeface="DM Sans"/>
                <a:sym typeface="DM Sans"/>
              </a:rPr>
              <a:t>?</a:t>
            </a:r>
            <a:endParaRPr sz="4000" b="1" dirty="0">
              <a:solidFill>
                <a:srgbClr val="EAFF6A"/>
              </a:solidFill>
              <a:latin typeface="DM Sans"/>
              <a:ea typeface="DM Sans"/>
              <a:cs typeface="DM Sans"/>
              <a:sym typeface="DM Sans"/>
            </a:endParaRPr>
          </a:p>
        </p:txBody>
      </p:sp>
    </p:spTree>
    <p:extLst>
      <p:ext uri="{BB962C8B-B14F-4D97-AF65-F5344CB8AC3E}">
        <p14:creationId xmlns:p14="http://schemas.microsoft.com/office/powerpoint/2010/main" val="1458035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6"/>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a:solidFill>
                  <a:srgbClr val="FF632B"/>
                </a:solidFill>
                <a:latin typeface="Plus Jakarta Sans ExtraBold"/>
                <a:ea typeface="Plus Jakarta Sans ExtraBold"/>
                <a:cs typeface="Plus Jakarta Sans ExtraBold"/>
                <a:sym typeface="Plus Jakarta Sans ExtraBold"/>
              </a:rPr>
              <a:t>01</a:t>
            </a:r>
            <a:endParaRPr sz="13000">
              <a:solidFill>
                <a:srgbClr val="FF632B"/>
              </a:solidFill>
              <a:latin typeface="Plus Jakarta Sans ExtraBold"/>
              <a:ea typeface="Plus Jakarta Sans ExtraBold"/>
              <a:cs typeface="Plus Jakarta Sans ExtraBold"/>
              <a:sym typeface="Plus Jakarta Sans ExtraBold"/>
            </a:endParaRPr>
          </a:p>
        </p:txBody>
      </p:sp>
      <p:sp>
        <p:nvSpPr>
          <p:cNvPr id="230" name="Google Shape;230;p36"/>
          <p:cNvSpPr txBox="1"/>
          <p:nvPr/>
        </p:nvSpPr>
        <p:spPr>
          <a:xfrm>
            <a:off x="641650" y="3337375"/>
            <a:ext cx="6462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4800">
                <a:solidFill>
                  <a:srgbClr val="F8F2E8"/>
                </a:solidFill>
                <a:latin typeface="Plus Jakarta Sans ExtraBold"/>
                <a:ea typeface="Plus Jakarta Sans ExtraBold"/>
                <a:cs typeface="Plus Jakarta Sans ExtraBold"/>
                <a:sym typeface="Plus Jakarta Sans ExtraBold"/>
              </a:rPr>
              <a:t>Bases de Datos Relacionales</a:t>
            </a:r>
            <a:endParaRPr sz="4800">
              <a:solidFill>
                <a:srgbClr val="F8F2E8"/>
              </a:solidFill>
              <a:latin typeface="Plus Jakarta Sans ExtraBold"/>
              <a:ea typeface="Plus Jakarta Sans ExtraBold"/>
              <a:cs typeface="Plus Jakarta Sans ExtraBold"/>
              <a:sym typeface="Plus Jakarta Sans ExtraBold"/>
            </a:endParaRPr>
          </a:p>
        </p:txBody>
      </p:sp>
      <p:pic>
        <p:nvPicPr>
          <p:cNvPr id="4" name="Google Shape;93;p23" title="logo gradient 1.png"/>
          <p:cNvPicPr preferRelativeResize="0"/>
          <p:nvPr/>
        </p:nvPicPr>
        <p:blipFill>
          <a:blip r:embed="rId3">
            <a:alphaModFix/>
          </a:blip>
          <a:stretch>
            <a:fillRect/>
          </a:stretch>
        </p:blipFill>
        <p:spPr>
          <a:xfrm>
            <a:off x="7104550" y="4278600"/>
            <a:ext cx="1547950" cy="4522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680524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4"/>
          <p:cNvSpPr txBox="1"/>
          <p:nvPr/>
        </p:nvSpPr>
        <p:spPr>
          <a:xfrm>
            <a:off x="496075" y="393786"/>
            <a:ext cx="6462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4800" dirty="0">
                <a:solidFill>
                  <a:srgbClr val="FF632B"/>
                </a:solidFill>
                <a:latin typeface="Plus Jakarta Sans ExtraBold"/>
                <a:ea typeface="Plus Jakarta Sans ExtraBold"/>
                <a:cs typeface="Plus Jakarta Sans ExtraBold"/>
                <a:sym typeface="Plus Jakarta Sans ExtraBold"/>
              </a:rPr>
              <a:t>Objetivos de la clase</a:t>
            </a:r>
            <a:endParaRPr sz="2400" dirty="0">
              <a:solidFill>
                <a:srgbClr val="260700"/>
              </a:solidFill>
              <a:latin typeface="Plus Jakarta Sans"/>
              <a:ea typeface="Plus Jakarta Sans"/>
              <a:cs typeface="Plus Jakarta Sans"/>
              <a:sym typeface="Plus Jakarta Sans"/>
            </a:endParaRPr>
          </a:p>
        </p:txBody>
      </p:sp>
      <p:sp>
        <p:nvSpPr>
          <p:cNvPr id="290" name="Google Shape;290;p44"/>
          <p:cNvSpPr/>
          <p:nvPr/>
        </p:nvSpPr>
        <p:spPr>
          <a:xfrm>
            <a:off x="369760" y="1361531"/>
            <a:ext cx="8157549" cy="978600"/>
          </a:xfrm>
          <a:prstGeom prst="roundRect">
            <a:avLst>
              <a:gd name="adj" fmla="val 16667"/>
            </a:avLst>
          </a:prstGeom>
          <a:solidFill>
            <a:srgbClr val="F8F2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 dirty="0">
                <a:latin typeface="Plus Jakarta Sans"/>
                <a:ea typeface="Plus Jakarta Sans"/>
                <a:cs typeface="Plus Jakarta Sans"/>
                <a:sym typeface="Plus Jakarta Sans"/>
              </a:rPr>
              <a:t>Definir Base de Datos (DB data base)</a:t>
            </a:r>
            <a:endParaRPr dirty="0">
              <a:latin typeface="Plus Jakarta Sans"/>
              <a:ea typeface="Plus Jakarta Sans"/>
              <a:cs typeface="Plus Jakarta Sans"/>
              <a:sym typeface="Plus Jakarta Sans"/>
            </a:endParaRPr>
          </a:p>
        </p:txBody>
      </p:sp>
      <p:sp>
        <p:nvSpPr>
          <p:cNvPr id="291" name="Google Shape;291;p44"/>
          <p:cNvSpPr/>
          <p:nvPr/>
        </p:nvSpPr>
        <p:spPr>
          <a:xfrm>
            <a:off x="369760" y="2547583"/>
            <a:ext cx="8157549" cy="960837"/>
          </a:xfrm>
          <a:prstGeom prst="roundRect">
            <a:avLst>
              <a:gd name="adj" fmla="val 16667"/>
            </a:avLst>
          </a:prstGeom>
          <a:solidFill>
            <a:srgbClr val="F8F2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s">
                <a:solidFill>
                  <a:schemeClr val="dk1"/>
                </a:solidFill>
                <a:latin typeface="Plus Jakarta Sans"/>
                <a:ea typeface="Plus Jakarta Sans"/>
                <a:cs typeface="Plus Jakarta Sans"/>
                <a:sym typeface="Plus Jakarta Sans"/>
              </a:rPr>
              <a:t>Identificar sus componentes</a:t>
            </a:r>
            <a:endParaRPr>
              <a:latin typeface="Plus Jakarta Sans"/>
              <a:ea typeface="Plus Jakarta Sans"/>
              <a:cs typeface="Plus Jakarta Sans"/>
              <a:sym typeface="Plus Jakarta Sans"/>
            </a:endParaRPr>
          </a:p>
        </p:txBody>
      </p:sp>
      <p:sp>
        <p:nvSpPr>
          <p:cNvPr id="292" name="Google Shape;292;p44"/>
          <p:cNvSpPr/>
          <p:nvPr/>
        </p:nvSpPr>
        <p:spPr>
          <a:xfrm>
            <a:off x="369761" y="3712650"/>
            <a:ext cx="8157548" cy="840300"/>
          </a:xfrm>
          <a:prstGeom prst="roundRect">
            <a:avLst>
              <a:gd name="adj" fmla="val 30840"/>
            </a:avLst>
          </a:prstGeom>
          <a:solidFill>
            <a:srgbClr val="F8F2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s">
                <a:solidFill>
                  <a:schemeClr val="dk1"/>
                </a:solidFill>
                <a:latin typeface="Plus Jakarta Sans"/>
                <a:ea typeface="Plus Jakarta Sans"/>
                <a:cs typeface="Plus Jakarta Sans"/>
                <a:sym typeface="Plus Jakarta Sans"/>
              </a:rPr>
              <a:t>Presentar los tipos de DB y su importancia</a:t>
            </a:r>
            <a:endParaRPr>
              <a:latin typeface="Plus Jakarta Sans"/>
              <a:ea typeface="Plus Jakarta Sans"/>
              <a:cs typeface="Plus Jakarta Sans"/>
              <a:sym typeface="Plus Jakarta Sans"/>
            </a:endParaRPr>
          </a:p>
        </p:txBody>
      </p:sp>
      <p:pic>
        <p:nvPicPr>
          <p:cNvPr id="7" name="Google Shape;93;p23" title="logo gradient 1.png"/>
          <p:cNvPicPr preferRelativeResize="0"/>
          <p:nvPr/>
        </p:nvPicPr>
        <p:blipFill>
          <a:blip r:embed="rId3">
            <a:alphaModFix/>
          </a:blip>
          <a:stretch>
            <a:fillRect/>
          </a:stretch>
        </p:blipFill>
        <p:spPr>
          <a:xfrm>
            <a:off x="7467137" y="4691250"/>
            <a:ext cx="1547950" cy="452250"/>
          </a:xfrm>
          <a:prstGeom prst="rect">
            <a:avLst/>
          </a:prstGeom>
          <a:noFill/>
          <a:ln>
            <a:noFill/>
          </a:ln>
        </p:spPr>
      </p:pic>
    </p:spTree>
    <p:extLst>
      <p:ext uri="{BB962C8B-B14F-4D97-AF65-F5344CB8AC3E}">
        <p14:creationId xmlns:p14="http://schemas.microsoft.com/office/powerpoint/2010/main" val="1677011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4"/>
          <p:cNvSpPr txBox="1"/>
          <p:nvPr/>
        </p:nvSpPr>
        <p:spPr>
          <a:xfrm>
            <a:off x="496075" y="393786"/>
            <a:ext cx="6462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4800" dirty="0">
                <a:solidFill>
                  <a:srgbClr val="FF632B"/>
                </a:solidFill>
                <a:latin typeface="Plus Jakarta Sans ExtraBold"/>
                <a:ea typeface="Plus Jakarta Sans ExtraBold"/>
                <a:cs typeface="Plus Jakarta Sans ExtraBold"/>
                <a:sym typeface="Plus Jakarta Sans ExtraBold"/>
              </a:rPr>
              <a:t>Objetivos de la clase</a:t>
            </a:r>
            <a:endParaRPr sz="2400" dirty="0">
              <a:solidFill>
                <a:srgbClr val="260700"/>
              </a:solidFill>
              <a:latin typeface="Plus Jakarta Sans"/>
              <a:ea typeface="Plus Jakarta Sans"/>
              <a:cs typeface="Plus Jakarta Sans"/>
              <a:sym typeface="Plus Jakarta Sans"/>
            </a:endParaRPr>
          </a:p>
        </p:txBody>
      </p:sp>
      <p:sp>
        <p:nvSpPr>
          <p:cNvPr id="291" name="Google Shape;291;p44"/>
          <p:cNvSpPr/>
          <p:nvPr/>
        </p:nvSpPr>
        <p:spPr>
          <a:xfrm>
            <a:off x="369762" y="2404335"/>
            <a:ext cx="8157549" cy="960837"/>
          </a:xfrm>
          <a:prstGeom prst="roundRect">
            <a:avLst>
              <a:gd name="adj" fmla="val 16667"/>
            </a:avLst>
          </a:prstGeom>
          <a:solidFill>
            <a:srgbClr val="F8F2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lnSpc>
                <a:spcPct val="115000"/>
              </a:lnSpc>
              <a:buSzPts val="1350"/>
            </a:pPr>
            <a:r>
              <a:rPr lang="es-MX" dirty="0">
                <a:solidFill>
                  <a:schemeClr val="dk1"/>
                </a:solidFill>
                <a:latin typeface="Plus Jakarta Sans"/>
                <a:ea typeface="Plus Jakarta Sans"/>
                <a:cs typeface="Plus Jakarta Sans"/>
                <a:sym typeface="DM Sans"/>
              </a:rPr>
              <a:t>Definir base de datos relacional y sus aspectos generales</a:t>
            </a:r>
          </a:p>
        </p:txBody>
      </p:sp>
      <p:sp>
        <p:nvSpPr>
          <p:cNvPr id="292" name="Google Shape;292;p44"/>
          <p:cNvSpPr/>
          <p:nvPr/>
        </p:nvSpPr>
        <p:spPr>
          <a:xfrm>
            <a:off x="369762" y="3608061"/>
            <a:ext cx="8157548" cy="840300"/>
          </a:xfrm>
          <a:prstGeom prst="roundRect">
            <a:avLst>
              <a:gd name="adj" fmla="val 30840"/>
            </a:avLst>
          </a:prstGeom>
          <a:solidFill>
            <a:srgbClr val="F8F2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lnSpc>
                <a:spcPct val="115000"/>
              </a:lnSpc>
              <a:buSzPts val="1350"/>
            </a:pPr>
            <a:r>
              <a:rPr lang="es-MX" dirty="0">
                <a:solidFill>
                  <a:schemeClr val="dk1"/>
                </a:solidFill>
                <a:latin typeface="Plus Jakarta Sans"/>
                <a:ea typeface="Plus Jakarta Sans"/>
                <a:cs typeface="Plus Jakarta Sans"/>
                <a:sym typeface="DM Sans"/>
              </a:rPr>
              <a:t>Identificar los componentes de una base de datos relacional</a:t>
            </a:r>
          </a:p>
        </p:txBody>
      </p:sp>
      <p:sp>
        <p:nvSpPr>
          <p:cNvPr id="293" name="Google Shape;293;p44"/>
          <p:cNvSpPr/>
          <p:nvPr/>
        </p:nvSpPr>
        <p:spPr>
          <a:xfrm>
            <a:off x="369762" y="1375580"/>
            <a:ext cx="8157548" cy="840300"/>
          </a:xfrm>
          <a:prstGeom prst="roundRect">
            <a:avLst>
              <a:gd name="adj" fmla="val 30840"/>
            </a:avLst>
          </a:prstGeom>
          <a:solidFill>
            <a:srgbClr val="F8F2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s" dirty="0">
                <a:solidFill>
                  <a:schemeClr val="dk1"/>
                </a:solidFill>
                <a:latin typeface="Plus Jakarta Sans"/>
                <a:ea typeface="Plus Jakarta Sans"/>
                <a:cs typeface="Plus Jakarta Sans"/>
                <a:sym typeface="Plus Jakarta Sans"/>
              </a:rPr>
              <a:t>Manejar el glosario técnico</a:t>
            </a:r>
            <a:endParaRPr dirty="0">
              <a:latin typeface="Plus Jakarta Sans"/>
              <a:ea typeface="Plus Jakarta Sans"/>
              <a:cs typeface="Plus Jakarta Sans"/>
              <a:sym typeface="Plus Jakarta Sans"/>
            </a:endParaRPr>
          </a:p>
        </p:txBody>
      </p:sp>
      <p:pic>
        <p:nvPicPr>
          <p:cNvPr id="7" name="Google Shape;93;p23" title="logo gradient 1.png"/>
          <p:cNvPicPr preferRelativeResize="0"/>
          <p:nvPr/>
        </p:nvPicPr>
        <p:blipFill>
          <a:blip r:embed="rId3">
            <a:alphaModFix/>
          </a:blip>
          <a:stretch>
            <a:fillRect/>
          </a:stretch>
        </p:blipFill>
        <p:spPr>
          <a:xfrm>
            <a:off x="7467137" y="4691250"/>
            <a:ext cx="1547950" cy="452250"/>
          </a:xfrm>
          <a:prstGeom prst="rect">
            <a:avLst/>
          </a:prstGeom>
          <a:noFill/>
          <a:ln>
            <a:noFill/>
          </a:ln>
        </p:spPr>
      </p:pic>
    </p:spTree>
    <p:extLst>
      <p:ext uri="{BB962C8B-B14F-4D97-AF65-F5344CB8AC3E}">
        <p14:creationId xmlns:p14="http://schemas.microsoft.com/office/powerpoint/2010/main" val="2836631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1"/>
        <p:cNvGrpSpPr/>
        <p:nvPr/>
      </p:nvGrpSpPr>
      <p:grpSpPr>
        <a:xfrm>
          <a:off x="0" y="0"/>
          <a:ext cx="0" cy="0"/>
          <a:chOff x="0" y="0"/>
          <a:chExt cx="0" cy="0"/>
        </a:xfrm>
      </p:grpSpPr>
      <p:cxnSp>
        <p:nvCxnSpPr>
          <p:cNvPr id="272" name="Google Shape;272;p66"/>
          <p:cNvCxnSpPr/>
          <p:nvPr/>
        </p:nvCxnSpPr>
        <p:spPr>
          <a:xfrm>
            <a:off x="2775715" y="2240960"/>
            <a:ext cx="2376900" cy="1941600"/>
          </a:xfrm>
          <a:prstGeom prst="bentConnector3">
            <a:avLst>
              <a:gd name="adj1" fmla="val 50000"/>
            </a:avLst>
          </a:prstGeom>
          <a:noFill/>
          <a:ln w="9525" cap="flat" cmpd="sng">
            <a:solidFill>
              <a:srgbClr val="CCCCCC"/>
            </a:solidFill>
            <a:prstDash val="solid"/>
            <a:round/>
            <a:headEnd type="none" w="sm" len="sm"/>
            <a:tailEnd type="oval" w="med" len="med"/>
          </a:ln>
        </p:spPr>
      </p:cxnSp>
      <p:sp>
        <p:nvSpPr>
          <p:cNvPr id="273" name="Google Shape;273;p66"/>
          <p:cNvSpPr/>
          <p:nvPr/>
        </p:nvSpPr>
        <p:spPr>
          <a:xfrm>
            <a:off x="5152625" y="1538678"/>
            <a:ext cx="3070200" cy="663600"/>
          </a:xfrm>
          <a:prstGeom prst="rect">
            <a:avLst/>
          </a:prstGeom>
          <a:solidFill>
            <a:schemeClr val="lt1"/>
          </a:solidFill>
          <a:ln w="9525" cap="flat" cmpd="sng">
            <a:solidFill>
              <a:srgbClr val="393B4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s-419" sz="1200" b="0" i="0" u="none" strike="noStrike" cap="none">
                <a:solidFill>
                  <a:srgbClr val="222222"/>
                </a:solidFill>
                <a:latin typeface="DM Sans"/>
                <a:ea typeface="DM Sans"/>
                <a:cs typeface="DM Sans"/>
                <a:sym typeface="DM Sans"/>
              </a:rPr>
              <a:t>Historia de las DB</a:t>
            </a:r>
            <a:endParaRPr sz="1200" b="0" i="0" u="none" strike="noStrike" cap="none">
              <a:solidFill>
                <a:srgbClr val="222222"/>
              </a:solidFill>
              <a:latin typeface="DM Sans"/>
              <a:ea typeface="DM Sans"/>
              <a:cs typeface="DM Sans"/>
              <a:sym typeface="DM Sans"/>
            </a:endParaRPr>
          </a:p>
        </p:txBody>
      </p:sp>
      <p:sp>
        <p:nvSpPr>
          <p:cNvPr id="274" name="Google Shape;274;p66"/>
          <p:cNvSpPr/>
          <p:nvPr/>
        </p:nvSpPr>
        <p:spPr>
          <a:xfrm>
            <a:off x="5152625" y="730425"/>
            <a:ext cx="3070200" cy="663600"/>
          </a:xfrm>
          <a:prstGeom prst="rect">
            <a:avLst/>
          </a:prstGeom>
          <a:solidFill>
            <a:schemeClr val="lt1"/>
          </a:solidFill>
          <a:ln w="9525" cap="flat" cmpd="sng">
            <a:solidFill>
              <a:srgbClr val="393B4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s-419" sz="1200" b="0" i="0" u="none" strike="noStrike" cap="none">
                <a:solidFill>
                  <a:srgbClr val="222222"/>
                </a:solidFill>
                <a:latin typeface="DM Sans"/>
                <a:ea typeface="DM Sans"/>
                <a:cs typeface="DM Sans"/>
                <a:sym typeface="DM Sans"/>
              </a:rPr>
              <a:t>¿Qué son?</a:t>
            </a:r>
            <a:endParaRPr sz="1200" b="0" i="0" u="none" strike="noStrike" cap="none">
              <a:solidFill>
                <a:srgbClr val="222222"/>
              </a:solidFill>
              <a:latin typeface="DM Sans"/>
              <a:ea typeface="DM Sans"/>
              <a:cs typeface="DM Sans"/>
              <a:sym typeface="DM Sans"/>
            </a:endParaRPr>
          </a:p>
        </p:txBody>
      </p:sp>
      <p:sp>
        <p:nvSpPr>
          <p:cNvPr id="275" name="Google Shape;275;p66"/>
          <p:cNvSpPr/>
          <p:nvPr/>
        </p:nvSpPr>
        <p:spPr>
          <a:xfrm>
            <a:off x="5152625" y="2346926"/>
            <a:ext cx="3070200" cy="663600"/>
          </a:xfrm>
          <a:prstGeom prst="rect">
            <a:avLst/>
          </a:prstGeom>
          <a:solidFill>
            <a:schemeClr val="lt1"/>
          </a:solidFill>
          <a:ln w="9525" cap="flat" cmpd="sng">
            <a:solidFill>
              <a:srgbClr val="393B4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s-419" sz="1200" b="0" i="0" u="none" strike="noStrike" cap="none">
                <a:solidFill>
                  <a:srgbClr val="222222"/>
                </a:solidFill>
                <a:latin typeface="DM Sans"/>
                <a:ea typeface="DM Sans"/>
                <a:cs typeface="DM Sans"/>
                <a:sym typeface="DM Sans"/>
              </a:rPr>
              <a:t>Tipos de DB</a:t>
            </a:r>
            <a:endParaRPr sz="1200" b="0" i="0" u="none" strike="noStrike" cap="none">
              <a:solidFill>
                <a:srgbClr val="222222"/>
              </a:solidFill>
              <a:latin typeface="DM Sans"/>
              <a:ea typeface="DM Sans"/>
              <a:cs typeface="DM Sans"/>
              <a:sym typeface="DM Sans"/>
            </a:endParaRPr>
          </a:p>
        </p:txBody>
      </p:sp>
      <p:cxnSp>
        <p:nvCxnSpPr>
          <p:cNvPr id="276" name="Google Shape;276;p66"/>
          <p:cNvCxnSpPr/>
          <p:nvPr/>
        </p:nvCxnSpPr>
        <p:spPr>
          <a:xfrm rot="10800000" flipH="1">
            <a:off x="2775715" y="1218001"/>
            <a:ext cx="2376900" cy="1023000"/>
          </a:xfrm>
          <a:prstGeom prst="bentConnector3">
            <a:avLst>
              <a:gd name="adj1" fmla="val 50000"/>
            </a:avLst>
          </a:prstGeom>
          <a:noFill/>
          <a:ln w="9525" cap="flat" cmpd="sng">
            <a:solidFill>
              <a:srgbClr val="CCCCCC"/>
            </a:solidFill>
            <a:prstDash val="solid"/>
            <a:round/>
            <a:headEnd type="none" w="sm" len="sm"/>
            <a:tailEnd type="oval" w="med" len="med"/>
          </a:ln>
        </p:spPr>
      </p:cxnSp>
      <p:cxnSp>
        <p:nvCxnSpPr>
          <p:cNvPr id="277" name="Google Shape;277;p66"/>
          <p:cNvCxnSpPr>
            <a:stCxn id="278" idx="3"/>
            <a:endCxn id="273" idx="1"/>
          </p:cNvCxnSpPr>
          <p:nvPr/>
        </p:nvCxnSpPr>
        <p:spPr>
          <a:xfrm rot="10800000" flipH="1">
            <a:off x="3102304" y="1870349"/>
            <a:ext cx="2050200" cy="370200"/>
          </a:xfrm>
          <a:prstGeom prst="bentConnector3">
            <a:avLst>
              <a:gd name="adj1" fmla="val 41997"/>
            </a:avLst>
          </a:prstGeom>
          <a:noFill/>
          <a:ln w="9525" cap="flat" cmpd="sng">
            <a:solidFill>
              <a:srgbClr val="CCCCCC"/>
            </a:solidFill>
            <a:prstDash val="solid"/>
            <a:round/>
            <a:headEnd type="none" w="sm" len="sm"/>
            <a:tailEnd type="oval" w="med" len="med"/>
          </a:ln>
        </p:spPr>
      </p:cxnSp>
      <p:cxnSp>
        <p:nvCxnSpPr>
          <p:cNvPr id="279" name="Google Shape;279;p66"/>
          <p:cNvCxnSpPr/>
          <p:nvPr/>
        </p:nvCxnSpPr>
        <p:spPr>
          <a:xfrm>
            <a:off x="2775715" y="2241162"/>
            <a:ext cx="2376900" cy="444300"/>
          </a:xfrm>
          <a:prstGeom prst="bentConnector3">
            <a:avLst>
              <a:gd name="adj1" fmla="val 50000"/>
            </a:avLst>
          </a:prstGeom>
          <a:noFill/>
          <a:ln w="9525" cap="flat" cmpd="sng">
            <a:solidFill>
              <a:srgbClr val="CCCCCC"/>
            </a:solidFill>
            <a:prstDash val="solid"/>
            <a:round/>
            <a:headEnd type="none" w="sm" len="sm"/>
            <a:tailEnd type="oval" w="med" len="med"/>
          </a:ln>
        </p:spPr>
      </p:cxnSp>
      <p:sp>
        <p:nvSpPr>
          <p:cNvPr id="280" name="Google Shape;280;p66"/>
          <p:cNvSpPr/>
          <p:nvPr/>
        </p:nvSpPr>
        <p:spPr>
          <a:xfrm>
            <a:off x="5152625" y="3171499"/>
            <a:ext cx="3070200" cy="663600"/>
          </a:xfrm>
          <a:prstGeom prst="rect">
            <a:avLst/>
          </a:prstGeom>
          <a:solidFill>
            <a:schemeClr val="lt1"/>
          </a:solidFill>
          <a:ln w="9525" cap="flat" cmpd="sng">
            <a:solidFill>
              <a:srgbClr val="393B4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s-419" sz="1200" b="0" i="0" u="none" strike="noStrike" cap="none">
                <a:solidFill>
                  <a:srgbClr val="222222"/>
                </a:solidFill>
                <a:latin typeface="DM Sans"/>
                <a:ea typeface="DM Sans"/>
                <a:cs typeface="DM Sans"/>
                <a:sym typeface="DM Sans"/>
              </a:rPr>
              <a:t>¿Qué podemos hacer?</a:t>
            </a:r>
            <a:endParaRPr sz="1200" b="0" i="0" u="none" strike="noStrike" cap="none">
              <a:solidFill>
                <a:srgbClr val="222222"/>
              </a:solidFill>
              <a:latin typeface="DM Sans"/>
              <a:ea typeface="DM Sans"/>
              <a:cs typeface="DM Sans"/>
              <a:sym typeface="DM Sans"/>
            </a:endParaRPr>
          </a:p>
        </p:txBody>
      </p:sp>
      <p:cxnSp>
        <p:nvCxnSpPr>
          <p:cNvPr id="281" name="Google Shape;281;p66"/>
          <p:cNvCxnSpPr/>
          <p:nvPr/>
        </p:nvCxnSpPr>
        <p:spPr>
          <a:xfrm>
            <a:off x="2775715" y="2240910"/>
            <a:ext cx="2376900" cy="1193100"/>
          </a:xfrm>
          <a:prstGeom prst="bentConnector3">
            <a:avLst>
              <a:gd name="adj1" fmla="val 50000"/>
            </a:avLst>
          </a:prstGeom>
          <a:noFill/>
          <a:ln w="9525" cap="flat" cmpd="sng">
            <a:solidFill>
              <a:srgbClr val="CCCCCC"/>
            </a:solidFill>
            <a:prstDash val="solid"/>
            <a:round/>
            <a:headEnd type="none" w="sm" len="sm"/>
            <a:tailEnd type="oval" w="med" len="med"/>
          </a:ln>
        </p:spPr>
      </p:cxnSp>
      <p:sp>
        <p:nvSpPr>
          <p:cNvPr id="282" name="Google Shape;282;p66"/>
          <p:cNvSpPr/>
          <p:nvPr/>
        </p:nvSpPr>
        <p:spPr>
          <a:xfrm>
            <a:off x="5152625" y="3996075"/>
            <a:ext cx="3070200" cy="663600"/>
          </a:xfrm>
          <a:prstGeom prst="rect">
            <a:avLst/>
          </a:prstGeom>
          <a:solidFill>
            <a:schemeClr val="lt1"/>
          </a:solidFill>
          <a:ln w="9525" cap="flat" cmpd="sng">
            <a:solidFill>
              <a:srgbClr val="393B4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s-419" sz="1200" b="0" i="0" u="none" strike="noStrike" cap="none">
                <a:solidFill>
                  <a:srgbClr val="222222"/>
                </a:solidFill>
                <a:latin typeface="DM Sans"/>
                <a:ea typeface="DM Sans"/>
                <a:cs typeface="DM Sans"/>
                <a:sym typeface="DM Sans"/>
              </a:rPr>
              <a:t>SQL vs. No-SQL</a:t>
            </a:r>
            <a:endParaRPr sz="1200" b="0" i="0" u="none" strike="noStrike" cap="none">
              <a:solidFill>
                <a:srgbClr val="222222"/>
              </a:solidFill>
              <a:latin typeface="DM Sans"/>
              <a:ea typeface="DM Sans"/>
              <a:cs typeface="DM Sans"/>
              <a:sym typeface="DM Sans"/>
            </a:endParaRPr>
          </a:p>
        </p:txBody>
      </p:sp>
      <p:sp>
        <p:nvSpPr>
          <p:cNvPr id="278" name="Google Shape;278;p66"/>
          <p:cNvSpPr/>
          <p:nvPr/>
        </p:nvSpPr>
        <p:spPr>
          <a:xfrm>
            <a:off x="1136704" y="1795649"/>
            <a:ext cx="1965600" cy="889800"/>
          </a:xfrm>
          <a:prstGeom prst="rect">
            <a:avLst/>
          </a:prstGeom>
          <a:solidFill>
            <a:srgbClr val="27282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s-419" sz="1200" b="0" i="0" u="none" strike="noStrike" cap="none">
                <a:solidFill>
                  <a:srgbClr val="FFFFFF"/>
                </a:solidFill>
                <a:latin typeface="DM Sans"/>
                <a:ea typeface="DM Sans"/>
                <a:cs typeface="DM Sans"/>
                <a:sym typeface="DM Sans"/>
              </a:rPr>
              <a:t>Bases de Datos</a:t>
            </a:r>
            <a:endParaRPr sz="1200" b="0" i="0" u="none" strike="noStrike" cap="none">
              <a:solidFill>
                <a:srgbClr val="FFFFFF"/>
              </a:solidFill>
              <a:latin typeface="DM Sans"/>
              <a:ea typeface="DM Sans"/>
              <a:cs typeface="DM Sans"/>
              <a:sym typeface="DM Sans"/>
            </a:endParaRPr>
          </a:p>
          <a:p>
            <a:pPr marL="0" marR="0" lvl="0" indent="0" algn="ctr" rtl="0">
              <a:lnSpc>
                <a:spcPct val="100000"/>
              </a:lnSpc>
              <a:spcBef>
                <a:spcPts val="0"/>
              </a:spcBef>
              <a:spcAft>
                <a:spcPts val="0"/>
              </a:spcAft>
              <a:buClr>
                <a:srgbClr val="000000"/>
              </a:buClr>
              <a:buSzPts val="1200"/>
              <a:buFont typeface="Arial"/>
              <a:buNone/>
            </a:pPr>
            <a:r>
              <a:rPr lang="es-419" sz="1200" b="0" i="0" u="none" strike="noStrike" cap="none">
                <a:solidFill>
                  <a:srgbClr val="FFFFFF"/>
                </a:solidFill>
                <a:latin typeface="DM Sans"/>
                <a:ea typeface="DM Sans"/>
                <a:cs typeface="DM Sans"/>
                <a:sym typeface="DM Sans"/>
              </a:rPr>
              <a:t>(DB data base) </a:t>
            </a:r>
            <a:endParaRPr sz="1200" b="0" i="0" u="none" strike="noStrike" cap="none">
              <a:solidFill>
                <a:srgbClr val="FFFFFF"/>
              </a:solidFill>
              <a:latin typeface="DM Sans"/>
              <a:ea typeface="DM Sans"/>
              <a:cs typeface="DM Sans"/>
              <a:sym typeface="DM Sans"/>
            </a:endParaRPr>
          </a:p>
        </p:txBody>
      </p:sp>
      <p:sp>
        <p:nvSpPr>
          <p:cNvPr id="283" name="Google Shape;283;p66"/>
          <p:cNvSpPr/>
          <p:nvPr/>
        </p:nvSpPr>
        <p:spPr>
          <a:xfrm>
            <a:off x="588525" y="701375"/>
            <a:ext cx="296100" cy="1209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 name="Google Shape;284;p66"/>
          <p:cNvSpPr txBox="1"/>
          <p:nvPr/>
        </p:nvSpPr>
        <p:spPr>
          <a:xfrm>
            <a:off x="884625" y="468275"/>
            <a:ext cx="24612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419" sz="1600" b="0" i="0" u="none" strike="noStrike" cap="none">
                <a:solidFill>
                  <a:schemeClr val="dk1"/>
                </a:solidFill>
                <a:latin typeface="DM Sans"/>
                <a:ea typeface="DM Sans"/>
                <a:cs typeface="DM Sans"/>
                <a:sym typeface="DM Sans"/>
              </a:rPr>
              <a:t>MAPA DE CONCEPTOS</a:t>
            </a:r>
            <a:endParaRPr sz="1400" b="0" i="0" u="none" strike="noStrike" cap="none">
              <a:solidFill>
                <a:srgbClr val="000000"/>
              </a:solidFill>
              <a:latin typeface="DM Sans"/>
              <a:ea typeface="DM Sans"/>
              <a:cs typeface="DM Sans"/>
              <a:sym typeface="DM Sans"/>
            </a:endParaRPr>
          </a:p>
        </p:txBody>
      </p:sp>
      <p:pic>
        <p:nvPicPr>
          <p:cNvPr id="285" name="Google Shape;285;p66" title="ícono de mapa de contenidos"/>
          <p:cNvPicPr preferRelativeResize="0"/>
          <p:nvPr/>
        </p:nvPicPr>
        <p:blipFill rotWithShape="1">
          <a:blip r:embed="rId3">
            <a:alphaModFix/>
          </a:blip>
          <a:srcRect/>
          <a:stretch/>
        </p:blipFill>
        <p:spPr>
          <a:xfrm>
            <a:off x="586275" y="533519"/>
            <a:ext cx="300599" cy="300618"/>
          </a:xfrm>
          <a:prstGeom prst="rect">
            <a:avLst/>
          </a:prstGeom>
          <a:noFill/>
          <a:ln>
            <a:noFill/>
          </a:ln>
        </p:spPr>
      </p:pic>
      <p:pic>
        <p:nvPicPr>
          <p:cNvPr id="16" name="Google Shape;93;p23" title="logo gradient 1.png"/>
          <p:cNvPicPr preferRelativeResize="0"/>
          <p:nvPr/>
        </p:nvPicPr>
        <p:blipFill>
          <a:blip r:embed="rId4">
            <a:alphaModFix/>
          </a:blip>
          <a:stretch>
            <a:fillRect/>
          </a:stretch>
        </p:blipFill>
        <p:spPr>
          <a:xfrm>
            <a:off x="7467137" y="4691250"/>
            <a:ext cx="1547950" cy="4522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9"/>
        <p:cNvGrpSpPr/>
        <p:nvPr/>
      </p:nvGrpSpPr>
      <p:grpSpPr>
        <a:xfrm>
          <a:off x="0" y="0"/>
          <a:ext cx="0" cy="0"/>
          <a:chOff x="0" y="0"/>
          <a:chExt cx="0" cy="0"/>
        </a:xfrm>
      </p:grpSpPr>
      <p:sp>
        <p:nvSpPr>
          <p:cNvPr id="290" name="Google Shape;290;p67"/>
          <p:cNvSpPr/>
          <p:nvPr/>
        </p:nvSpPr>
        <p:spPr>
          <a:xfrm>
            <a:off x="4238813" y="1650533"/>
            <a:ext cx="1657800" cy="602400"/>
          </a:xfrm>
          <a:prstGeom prst="rect">
            <a:avLst/>
          </a:prstGeom>
          <a:noFill/>
          <a:ln w="9525" cap="flat" cmpd="sng">
            <a:solidFill>
              <a:srgbClr val="393B4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s-419" sz="1200" b="0" i="0" u="none" strike="noStrike" cap="none">
                <a:solidFill>
                  <a:srgbClr val="222222"/>
                </a:solidFill>
                <a:latin typeface="DM Sans"/>
                <a:ea typeface="DM Sans"/>
                <a:cs typeface="DM Sans"/>
                <a:sym typeface="DM Sans"/>
              </a:rPr>
              <a:t>Modelo Relacional</a:t>
            </a:r>
            <a:endParaRPr sz="1200" b="0" i="0" u="none" strike="noStrike" cap="none">
              <a:solidFill>
                <a:srgbClr val="222222"/>
              </a:solidFill>
              <a:latin typeface="DM Sans"/>
              <a:ea typeface="DM Sans"/>
              <a:cs typeface="DM Sans"/>
              <a:sym typeface="DM Sans"/>
            </a:endParaRPr>
          </a:p>
        </p:txBody>
      </p:sp>
      <p:sp>
        <p:nvSpPr>
          <p:cNvPr id="291" name="Google Shape;291;p67"/>
          <p:cNvSpPr/>
          <p:nvPr/>
        </p:nvSpPr>
        <p:spPr>
          <a:xfrm>
            <a:off x="295973" y="2252850"/>
            <a:ext cx="1807500" cy="733800"/>
          </a:xfrm>
          <a:prstGeom prst="rect">
            <a:avLst/>
          </a:prstGeom>
          <a:solidFill>
            <a:srgbClr val="27282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s-419" sz="1200" b="0" i="0" u="none" strike="noStrike" cap="none">
                <a:solidFill>
                  <a:srgbClr val="FFFFFF"/>
                </a:solidFill>
                <a:latin typeface="DM Sans"/>
                <a:ea typeface="DM Sans"/>
                <a:cs typeface="DM Sans"/>
                <a:sym typeface="DM Sans"/>
              </a:rPr>
              <a:t>BASES DE DATOS</a:t>
            </a:r>
            <a:endParaRPr sz="1200" b="0" i="0" u="none" strike="noStrike" cap="none">
              <a:solidFill>
                <a:srgbClr val="FFFFFF"/>
              </a:solidFill>
              <a:latin typeface="DM Sans"/>
              <a:ea typeface="DM Sans"/>
              <a:cs typeface="DM Sans"/>
              <a:sym typeface="DM Sans"/>
            </a:endParaRPr>
          </a:p>
          <a:p>
            <a:pPr marL="0" marR="0" lvl="0" indent="0" algn="ctr" rtl="0">
              <a:lnSpc>
                <a:spcPct val="100000"/>
              </a:lnSpc>
              <a:spcBef>
                <a:spcPts val="0"/>
              </a:spcBef>
              <a:spcAft>
                <a:spcPts val="0"/>
              </a:spcAft>
              <a:buClr>
                <a:srgbClr val="000000"/>
              </a:buClr>
              <a:buSzPts val="1200"/>
              <a:buFont typeface="Arial"/>
              <a:buNone/>
            </a:pPr>
            <a:r>
              <a:rPr lang="es-419" sz="1200" b="0" i="0" u="none" strike="noStrike" cap="none">
                <a:solidFill>
                  <a:srgbClr val="FFFFFF"/>
                </a:solidFill>
                <a:latin typeface="DM Sans"/>
                <a:ea typeface="DM Sans"/>
                <a:cs typeface="DM Sans"/>
                <a:sym typeface="DM Sans"/>
              </a:rPr>
              <a:t>RELACIONALES</a:t>
            </a:r>
            <a:endParaRPr sz="1200" b="0" i="0" u="none" strike="noStrike" cap="none">
              <a:solidFill>
                <a:srgbClr val="FFFFFF"/>
              </a:solidFill>
              <a:latin typeface="DM Sans"/>
              <a:ea typeface="DM Sans"/>
              <a:cs typeface="DM Sans"/>
              <a:sym typeface="DM Sans"/>
            </a:endParaRPr>
          </a:p>
        </p:txBody>
      </p:sp>
      <p:sp>
        <p:nvSpPr>
          <p:cNvPr id="292" name="Google Shape;292;p67"/>
          <p:cNvSpPr/>
          <p:nvPr/>
        </p:nvSpPr>
        <p:spPr>
          <a:xfrm>
            <a:off x="4238813" y="916800"/>
            <a:ext cx="1657800" cy="602400"/>
          </a:xfrm>
          <a:prstGeom prst="rect">
            <a:avLst/>
          </a:prstGeom>
          <a:noFill/>
          <a:ln w="9525" cap="flat" cmpd="sng">
            <a:solidFill>
              <a:srgbClr val="393B4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s-419" sz="1200" b="0" i="0" u="none" strike="noStrike" cap="none">
                <a:solidFill>
                  <a:srgbClr val="222222"/>
                </a:solidFill>
                <a:latin typeface="DM Sans"/>
                <a:ea typeface="DM Sans"/>
                <a:cs typeface="DM Sans"/>
                <a:sym typeface="DM Sans"/>
              </a:rPr>
              <a:t>Conceptos básicos</a:t>
            </a:r>
            <a:endParaRPr sz="1200" b="0" i="0" u="none" strike="noStrike" cap="none">
              <a:solidFill>
                <a:srgbClr val="222222"/>
              </a:solidFill>
              <a:latin typeface="DM Sans"/>
              <a:ea typeface="DM Sans"/>
              <a:cs typeface="DM Sans"/>
              <a:sym typeface="DM Sans"/>
            </a:endParaRPr>
          </a:p>
        </p:txBody>
      </p:sp>
      <p:sp>
        <p:nvSpPr>
          <p:cNvPr id="293" name="Google Shape;293;p67"/>
          <p:cNvSpPr/>
          <p:nvPr/>
        </p:nvSpPr>
        <p:spPr>
          <a:xfrm>
            <a:off x="4238813" y="2384261"/>
            <a:ext cx="1657800" cy="602400"/>
          </a:xfrm>
          <a:prstGeom prst="rect">
            <a:avLst/>
          </a:prstGeom>
          <a:noFill/>
          <a:ln w="9525" cap="flat" cmpd="sng">
            <a:solidFill>
              <a:srgbClr val="393B4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s-419" sz="1200" b="0" i="0" u="none" strike="noStrike" cap="none">
                <a:solidFill>
                  <a:srgbClr val="222222"/>
                </a:solidFill>
                <a:latin typeface="DM Sans"/>
                <a:ea typeface="DM Sans"/>
                <a:cs typeface="DM Sans"/>
                <a:sym typeface="DM Sans"/>
              </a:rPr>
              <a:t>Modelo Entidad Relación</a:t>
            </a:r>
            <a:endParaRPr sz="1200" b="0" i="0" u="none" strike="noStrike" cap="none">
              <a:solidFill>
                <a:srgbClr val="222222"/>
              </a:solidFill>
              <a:latin typeface="DM Sans"/>
              <a:ea typeface="DM Sans"/>
              <a:cs typeface="DM Sans"/>
              <a:sym typeface="DM Sans"/>
            </a:endParaRPr>
          </a:p>
        </p:txBody>
      </p:sp>
      <p:cxnSp>
        <p:nvCxnSpPr>
          <p:cNvPr id="294" name="Google Shape;294;p67"/>
          <p:cNvCxnSpPr>
            <a:stCxn id="291" idx="3"/>
            <a:endCxn id="292" idx="1"/>
          </p:cNvCxnSpPr>
          <p:nvPr/>
        </p:nvCxnSpPr>
        <p:spPr>
          <a:xfrm rot="10800000" flipH="1">
            <a:off x="2103473" y="1218150"/>
            <a:ext cx="2135400" cy="1401600"/>
          </a:xfrm>
          <a:prstGeom prst="bentConnector3">
            <a:avLst>
              <a:gd name="adj1" fmla="val 49999"/>
            </a:avLst>
          </a:prstGeom>
          <a:noFill/>
          <a:ln w="9525" cap="flat" cmpd="sng">
            <a:solidFill>
              <a:srgbClr val="CCCCCC"/>
            </a:solidFill>
            <a:prstDash val="solid"/>
            <a:round/>
            <a:headEnd type="none" w="sm" len="sm"/>
            <a:tailEnd type="oval" w="med" len="med"/>
          </a:ln>
        </p:spPr>
      </p:cxnSp>
      <p:cxnSp>
        <p:nvCxnSpPr>
          <p:cNvPr id="295" name="Google Shape;295;p67"/>
          <p:cNvCxnSpPr>
            <a:stCxn id="291" idx="3"/>
            <a:endCxn id="290" idx="1"/>
          </p:cNvCxnSpPr>
          <p:nvPr/>
        </p:nvCxnSpPr>
        <p:spPr>
          <a:xfrm rot="10800000" flipH="1">
            <a:off x="2103473" y="1951650"/>
            <a:ext cx="2135400" cy="668100"/>
          </a:xfrm>
          <a:prstGeom prst="bentConnector3">
            <a:avLst>
              <a:gd name="adj1" fmla="val 49999"/>
            </a:avLst>
          </a:prstGeom>
          <a:noFill/>
          <a:ln w="9525" cap="flat" cmpd="sng">
            <a:solidFill>
              <a:srgbClr val="CCCCCC"/>
            </a:solidFill>
            <a:prstDash val="solid"/>
            <a:round/>
            <a:headEnd type="none" w="sm" len="sm"/>
            <a:tailEnd type="oval" w="med" len="med"/>
          </a:ln>
        </p:spPr>
      </p:cxnSp>
      <p:cxnSp>
        <p:nvCxnSpPr>
          <p:cNvPr id="296" name="Google Shape;296;p67"/>
          <p:cNvCxnSpPr>
            <a:stCxn id="291" idx="3"/>
            <a:endCxn id="293" idx="1"/>
          </p:cNvCxnSpPr>
          <p:nvPr/>
        </p:nvCxnSpPr>
        <p:spPr>
          <a:xfrm>
            <a:off x="2103473" y="2619750"/>
            <a:ext cx="2135400" cy="65700"/>
          </a:xfrm>
          <a:prstGeom prst="bentConnector3">
            <a:avLst>
              <a:gd name="adj1" fmla="val 49999"/>
            </a:avLst>
          </a:prstGeom>
          <a:noFill/>
          <a:ln w="9525" cap="flat" cmpd="sng">
            <a:solidFill>
              <a:srgbClr val="CCCCCC"/>
            </a:solidFill>
            <a:prstDash val="solid"/>
            <a:round/>
            <a:headEnd type="none" w="sm" len="sm"/>
            <a:tailEnd type="oval" w="med" len="med"/>
          </a:ln>
        </p:spPr>
      </p:cxnSp>
      <p:sp>
        <p:nvSpPr>
          <p:cNvPr id="297" name="Google Shape;297;p67"/>
          <p:cNvSpPr/>
          <p:nvPr/>
        </p:nvSpPr>
        <p:spPr>
          <a:xfrm>
            <a:off x="4238813" y="3132809"/>
            <a:ext cx="1657800" cy="602400"/>
          </a:xfrm>
          <a:prstGeom prst="rect">
            <a:avLst/>
          </a:prstGeom>
          <a:noFill/>
          <a:ln w="9525" cap="flat" cmpd="sng">
            <a:solidFill>
              <a:srgbClr val="393B4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s-419" sz="1200" b="0" i="0" u="none" strike="noStrike" cap="none">
                <a:solidFill>
                  <a:srgbClr val="222222"/>
                </a:solidFill>
                <a:latin typeface="DM Sans"/>
                <a:ea typeface="DM Sans"/>
                <a:cs typeface="DM Sans"/>
                <a:sym typeface="DM Sans"/>
              </a:rPr>
              <a:t>SGBD</a:t>
            </a:r>
            <a:endParaRPr sz="1200" b="0" i="0" u="none" strike="noStrike" cap="none">
              <a:solidFill>
                <a:srgbClr val="222222"/>
              </a:solidFill>
              <a:latin typeface="DM Sans"/>
              <a:ea typeface="DM Sans"/>
              <a:cs typeface="DM Sans"/>
              <a:sym typeface="DM Sans"/>
            </a:endParaRPr>
          </a:p>
        </p:txBody>
      </p:sp>
      <p:cxnSp>
        <p:nvCxnSpPr>
          <p:cNvPr id="298" name="Google Shape;298;p67"/>
          <p:cNvCxnSpPr>
            <a:stCxn id="291" idx="3"/>
            <a:endCxn id="297" idx="1"/>
          </p:cNvCxnSpPr>
          <p:nvPr/>
        </p:nvCxnSpPr>
        <p:spPr>
          <a:xfrm>
            <a:off x="2103473" y="2619750"/>
            <a:ext cx="2135400" cy="814200"/>
          </a:xfrm>
          <a:prstGeom prst="bentConnector3">
            <a:avLst>
              <a:gd name="adj1" fmla="val 49999"/>
            </a:avLst>
          </a:prstGeom>
          <a:noFill/>
          <a:ln w="9525" cap="flat" cmpd="sng">
            <a:solidFill>
              <a:srgbClr val="CCCCCC"/>
            </a:solidFill>
            <a:prstDash val="solid"/>
            <a:round/>
            <a:headEnd type="none" w="sm" len="sm"/>
            <a:tailEnd type="oval" w="med" len="med"/>
          </a:ln>
        </p:spPr>
      </p:cxnSp>
      <p:sp>
        <p:nvSpPr>
          <p:cNvPr id="299" name="Google Shape;299;p67"/>
          <p:cNvSpPr/>
          <p:nvPr/>
        </p:nvSpPr>
        <p:spPr>
          <a:xfrm>
            <a:off x="4238813" y="3881359"/>
            <a:ext cx="1657800" cy="602400"/>
          </a:xfrm>
          <a:prstGeom prst="rect">
            <a:avLst/>
          </a:prstGeom>
          <a:noFill/>
          <a:ln w="9525" cap="flat" cmpd="sng">
            <a:solidFill>
              <a:srgbClr val="393B4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s-419" sz="1200" b="0" i="0" u="none" strike="noStrike" cap="none">
                <a:solidFill>
                  <a:srgbClr val="222222"/>
                </a:solidFill>
                <a:latin typeface="DM Sans"/>
                <a:ea typeface="DM Sans"/>
                <a:cs typeface="DM Sans"/>
                <a:sym typeface="DM Sans"/>
              </a:rPr>
              <a:t>MySQL</a:t>
            </a:r>
            <a:endParaRPr sz="1200" b="0" i="0" u="none" strike="noStrike" cap="none">
              <a:solidFill>
                <a:srgbClr val="222222"/>
              </a:solidFill>
              <a:latin typeface="DM Sans"/>
              <a:ea typeface="DM Sans"/>
              <a:cs typeface="DM Sans"/>
              <a:sym typeface="DM Sans"/>
            </a:endParaRPr>
          </a:p>
        </p:txBody>
      </p:sp>
      <p:cxnSp>
        <p:nvCxnSpPr>
          <p:cNvPr id="300" name="Google Shape;300;p67"/>
          <p:cNvCxnSpPr>
            <a:stCxn id="291" idx="3"/>
            <a:endCxn id="299" idx="1"/>
          </p:cNvCxnSpPr>
          <p:nvPr/>
        </p:nvCxnSpPr>
        <p:spPr>
          <a:xfrm>
            <a:off x="2103473" y="2619750"/>
            <a:ext cx="2135400" cy="1562700"/>
          </a:xfrm>
          <a:prstGeom prst="bentConnector3">
            <a:avLst>
              <a:gd name="adj1" fmla="val 49999"/>
            </a:avLst>
          </a:prstGeom>
          <a:noFill/>
          <a:ln w="9525" cap="flat" cmpd="sng">
            <a:solidFill>
              <a:srgbClr val="CCCCCC"/>
            </a:solidFill>
            <a:prstDash val="solid"/>
            <a:round/>
            <a:headEnd type="none" w="sm" len="sm"/>
            <a:tailEnd type="oval" w="med" len="med"/>
          </a:ln>
        </p:spPr>
      </p:cxnSp>
      <p:sp>
        <p:nvSpPr>
          <p:cNvPr id="301" name="Google Shape;301;p67"/>
          <p:cNvSpPr/>
          <p:nvPr/>
        </p:nvSpPr>
        <p:spPr>
          <a:xfrm>
            <a:off x="6855988" y="2393836"/>
            <a:ext cx="1657800" cy="602400"/>
          </a:xfrm>
          <a:prstGeom prst="rect">
            <a:avLst/>
          </a:prstGeom>
          <a:noFill/>
          <a:ln w="9525" cap="flat" cmpd="sng">
            <a:solidFill>
              <a:srgbClr val="393B4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s-419" sz="1200" b="0" i="0" u="none" strike="noStrike" cap="none">
                <a:solidFill>
                  <a:srgbClr val="222222"/>
                </a:solidFill>
                <a:latin typeface="DM Sans"/>
                <a:ea typeface="DM Sans"/>
                <a:cs typeface="DM Sans"/>
                <a:sym typeface="DM Sans"/>
              </a:rPr>
              <a:t>Cómo se compone e implementa</a:t>
            </a:r>
            <a:endParaRPr sz="1200" b="0" i="0" u="none" strike="noStrike" cap="none">
              <a:solidFill>
                <a:srgbClr val="222222"/>
              </a:solidFill>
              <a:latin typeface="DM Sans"/>
              <a:ea typeface="DM Sans"/>
              <a:cs typeface="DM Sans"/>
              <a:sym typeface="DM Sans"/>
            </a:endParaRPr>
          </a:p>
        </p:txBody>
      </p:sp>
      <p:sp>
        <p:nvSpPr>
          <p:cNvPr id="302" name="Google Shape;302;p67"/>
          <p:cNvSpPr/>
          <p:nvPr/>
        </p:nvSpPr>
        <p:spPr>
          <a:xfrm>
            <a:off x="6855988" y="3132811"/>
            <a:ext cx="1657800" cy="602400"/>
          </a:xfrm>
          <a:prstGeom prst="rect">
            <a:avLst/>
          </a:prstGeom>
          <a:noFill/>
          <a:ln w="9525" cap="flat" cmpd="sng">
            <a:solidFill>
              <a:srgbClr val="393B4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s-419" sz="1200" b="0" i="0" u="none" strike="noStrike" cap="none">
                <a:solidFill>
                  <a:srgbClr val="222222"/>
                </a:solidFill>
                <a:latin typeface="DM Sans"/>
                <a:ea typeface="DM Sans"/>
                <a:cs typeface="DM Sans"/>
                <a:sym typeface="DM Sans"/>
              </a:rPr>
              <a:t>Conceptos básicos</a:t>
            </a:r>
            <a:endParaRPr sz="1200" b="0" i="0" u="none" strike="noStrike" cap="none">
              <a:solidFill>
                <a:srgbClr val="222222"/>
              </a:solidFill>
              <a:latin typeface="DM Sans"/>
              <a:ea typeface="DM Sans"/>
              <a:cs typeface="DM Sans"/>
              <a:sym typeface="DM Sans"/>
            </a:endParaRPr>
          </a:p>
        </p:txBody>
      </p:sp>
      <p:sp>
        <p:nvSpPr>
          <p:cNvPr id="303" name="Google Shape;303;p67"/>
          <p:cNvSpPr/>
          <p:nvPr/>
        </p:nvSpPr>
        <p:spPr>
          <a:xfrm>
            <a:off x="6855988" y="3875817"/>
            <a:ext cx="1657800" cy="602400"/>
          </a:xfrm>
          <a:prstGeom prst="rect">
            <a:avLst/>
          </a:prstGeom>
          <a:noFill/>
          <a:ln w="9525" cap="flat" cmpd="sng">
            <a:solidFill>
              <a:srgbClr val="393B4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s-419" sz="1200" b="0" i="0" u="none" strike="noStrike" cap="none">
                <a:solidFill>
                  <a:srgbClr val="222222"/>
                </a:solidFill>
                <a:latin typeface="DM Sans"/>
                <a:ea typeface="DM Sans"/>
                <a:cs typeface="DM Sans"/>
                <a:sym typeface="DM Sans"/>
              </a:rPr>
              <a:t>Componentes</a:t>
            </a:r>
            <a:endParaRPr sz="1200" b="0" i="0" u="none" strike="noStrike" cap="none">
              <a:solidFill>
                <a:srgbClr val="222222"/>
              </a:solidFill>
              <a:latin typeface="DM Sans"/>
              <a:ea typeface="DM Sans"/>
              <a:cs typeface="DM Sans"/>
              <a:sym typeface="DM Sans"/>
            </a:endParaRPr>
          </a:p>
        </p:txBody>
      </p:sp>
      <p:cxnSp>
        <p:nvCxnSpPr>
          <p:cNvPr id="304" name="Google Shape;304;p67"/>
          <p:cNvCxnSpPr>
            <a:stCxn id="299" idx="3"/>
            <a:endCxn id="303" idx="1"/>
          </p:cNvCxnSpPr>
          <p:nvPr/>
        </p:nvCxnSpPr>
        <p:spPr>
          <a:xfrm rot="10800000" flipH="1">
            <a:off x="5896613" y="4177159"/>
            <a:ext cx="959400" cy="5400"/>
          </a:xfrm>
          <a:prstGeom prst="straightConnector1">
            <a:avLst/>
          </a:prstGeom>
          <a:noFill/>
          <a:ln w="9525" cap="flat" cmpd="sng">
            <a:solidFill>
              <a:srgbClr val="CCCCCC"/>
            </a:solidFill>
            <a:prstDash val="solid"/>
            <a:round/>
            <a:headEnd type="none" w="sm" len="sm"/>
            <a:tailEnd type="oval" w="med" len="med"/>
          </a:ln>
        </p:spPr>
      </p:cxnSp>
      <p:cxnSp>
        <p:nvCxnSpPr>
          <p:cNvPr id="305" name="Google Shape;305;p67"/>
          <p:cNvCxnSpPr>
            <a:stCxn id="297" idx="3"/>
            <a:endCxn id="302" idx="1"/>
          </p:cNvCxnSpPr>
          <p:nvPr/>
        </p:nvCxnSpPr>
        <p:spPr>
          <a:xfrm>
            <a:off x="5896613" y="3434009"/>
            <a:ext cx="959400" cy="0"/>
          </a:xfrm>
          <a:prstGeom prst="straightConnector1">
            <a:avLst/>
          </a:prstGeom>
          <a:noFill/>
          <a:ln w="9525" cap="flat" cmpd="sng">
            <a:solidFill>
              <a:srgbClr val="CCCCCC"/>
            </a:solidFill>
            <a:prstDash val="solid"/>
            <a:round/>
            <a:headEnd type="none" w="sm" len="sm"/>
            <a:tailEnd type="oval" w="med" len="med"/>
          </a:ln>
        </p:spPr>
      </p:cxnSp>
      <p:cxnSp>
        <p:nvCxnSpPr>
          <p:cNvPr id="306" name="Google Shape;306;p67"/>
          <p:cNvCxnSpPr>
            <a:stCxn id="293" idx="3"/>
            <a:endCxn id="301" idx="1"/>
          </p:cNvCxnSpPr>
          <p:nvPr/>
        </p:nvCxnSpPr>
        <p:spPr>
          <a:xfrm>
            <a:off x="5896613" y="2685461"/>
            <a:ext cx="959400" cy="9600"/>
          </a:xfrm>
          <a:prstGeom prst="straightConnector1">
            <a:avLst/>
          </a:prstGeom>
          <a:noFill/>
          <a:ln w="9525" cap="flat" cmpd="sng">
            <a:solidFill>
              <a:srgbClr val="CCCCCC"/>
            </a:solidFill>
            <a:prstDash val="solid"/>
            <a:round/>
            <a:headEnd type="none" w="sm" len="sm"/>
            <a:tailEnd type="oval" w="med" len="med"/>
          </a:ln>
        </p:spPr>
      </p:cxnSp>
      <p:sp>
        <p:nvSpPr>
          <p:cNvPr id="307" name="Google Shape;307;p67"/>
          <p:cNvSpPr/>
          <p:nvPr/>
        </p:nvSpPr>
        <p:spPr>
          <a:xfrm>
            <a:off x="588525" y="701375"/>
            <a:ext cx="296100" cy="1209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 name="Google Shape;308;p67"/>
          <p:cNvSpPr txBox="1"/>
          <p:nvPr/>
        </p:nvSpPr>
        <p:spPr>
          <a:xfrm>
            <a:off x="884625" y="468275"/>
            <a:ext cx="24612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419" sz="1600" b="0" i="0" u="none" strike="noStrike" cap="none">
                <a:solidFill>
                  <a:schemeClr val="dk1"/>
                </a:solidFill>
                <a:latin typeface="DM Sans"/>
                <a:ea typeface="DM Sans"/>
                <a:cs typeface="DM Sans"/>
                <a:sym typeface="DM Sans"/>
              </a:rPr>
              <a:t>MAPA DE CONCEPTOS</a:t>
            </a:r>
            <a:endParaRPr sz="1400" b="0" i="0" u="none" strike="noStrike" cap="none">
              <a:solidFill>
                <a:srgbClr val="000000"/>
              </a:solidFill>
              <a:latin typeface="DM Sans"/>
              <a:ea typeface="DM Sans"/>
              <a:cs typeface="DM Sans"/>
              <a:sym typeface="DM Sans"/>
            </a:endParaRPr>
          </a:p>
        </p:txBody>
      </p:sp>
      <p:pic>
        <p:nvPicPr>
          <p:cNvPr id="309" name="Google Shape;309;p67" title="ícono de mapa de contenidos"/>
          <p:cNvPicPr preferRelativeResize="0"/>
          <p:nvPr/>
        </p:nvPicPr>
        <p:blipFill rotWithShape="1">
          <a:blip r:embed="rId3">
            <a:alphaModFix/>
          </a:blip>
          <a:srcRect/>
          <a:stretch/>
        </p:blipFill>
        <p:spPr>
          <a:xfrm>
            <a:off x="586275" y="533519"/>
            <a:ext cx="300599" cy="300618"/>
          </a:xfrm>
          <a:prstGeom prst="rect">
            <a:avLst/>
          </a:prstGeom>
          <a:noFill/>
          <a:ln>
            <a:noFill/>
          </a:ln>
        </p:spPr>
      </p:pic>
      <p:pic>
        <p:nvPicPr>
          <p:cNvPr id="22" name="Google Shape;93;p23" title="logo gradient 1.png"/>
          <p:cNvPicPr preferRelativeResize="0"/>
          <p:nvPr/>
        </p:nvPicPr>
        <p:blipFill>
          <a:blip r:embed="rId4">
            <a:alphaModFix/>
          </a:blip>
          <a:stretch>
            <a:fillRect/>
          </a:stretch>
        </p:blipFill>
        <p:spPr>
          <a:xfrm>
            <a:off x="7467137" y="4691250"/>
            <a:ext cx="1547950" cy="4522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3000" dirty="0">
                <a:solidFill>
                  <a:srgbClr val="171717"/>
                </a:solidFill>
                <a:latin typeface="Plus Jakarta Sans Light"/>
                <a:ea typeface="Plus Jakarta Sans Light"/>
                <a:cs typeface="Plus Jakarta Sans Light"/>
                <a:sym typeface="Plus Jakarta Sans Light"/>
              </a:rPr>
              <a:t>Una base de datos es un conjunto organizado de información estructurada, almacenada electrónicamente en un sistema informático.</a:t>
            </a:r>
            <a:endParaRPr sz="3000" dirty="0">
              <a:solidFill>
                <a:srgbClr val="171717"/>
              </a:solidFill>
              <a:latin typeface="Plus Jakarta Sans Light"/>
              <a:ea typeface="Plus Jakarta Sans Light"/>
              <a:cs typeface="Plus Jakarta Sans Light"/>
              <a:sym typeface="Plus Jakarta Sans Light"/>
            </a:endParaRPr>
          </a:p>
        </p:txBody>
      </p:sp>
      <p:sp>
        <p:nvSpPr>
          <p:cNvPr id="242" name="Google Shape;242;p38"/>
          <p:cNvSpPr txBox="1"/>
          <p:nvPr/>
        </p:nvSpPr>
        <p:spPr>
          <a:xfrm>
            <a:off x="602400" y="659600"/>
            <a:ext cx="6462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4800">
                <a:solidFill>
                  <a:srgbClr val="FF632B"/>
                </a:solidFill>
                <a:latin typeface="Plus Jakarta Sans ExtraBold"/>
                <a:ea typeface="Plus Jakarta Sans ExtraBold"/>
                <a:cs typeface="Plus Jakarta Sans ExtraBold"/>
                <a:sym typeface="Plus Jakarta Sans ExtraBold"/>
              </a:rPr>
              <a:t>Base de datos</a:t>
            </a:r>
            <a:endParaRPr sz="4800">
              <a:solidFill>
                <a:srgbClr val="FF632B"/>
              </a:solidFill>
              <a:latin typeface="Plus Jakarta Sans ExtraBold"/>
              <a:ea typeface="Plus Jakarta Sans ExtraBold"/>
              <a:cs typeface="Plus Jakarta Sans ExtraBold"/>
              <a:sym typeface="Plus Jakarta Sans ExtraBold"/>
            </a:endParaRPr>
          </a:p>
        </p:txBody>
      </p:sp>
      <p:sp>
        <p:nvSpPr>
          <p:cNvPr id="243" name="Google Shape;243;p38"/>
          <p:cNvSpPr txBox="1"/>
          <p:nvPr/>
        </p:nvSpPr>
        <p:spPr>
          <a:xfrm>
            <a:off x="739075" y="1432375"/>
            <a:ext cx="6462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500">
                <a:solidFill>
                  <a:srgbClr val="171717"/>
                </a:solidFill>
                <a:latin typeface="Plus Jakarta Sans"/>
                <a:ea typeface="Plus Jakarta Sans"/>
                <a:cs typeface="Plus Jakarta Sans"/>
                <a:sym typeface="Plus Jakarta Sans"/>
              </a:rPr>
              <a:t>¿Qué son?</a:t>
            </a:r>
            <a:endParaRPr sz="2500">
              <a:solidFill>
                <a:srgbClr val="171717"/>
              </a:solidFill>
              <a:latin typeface="Plus Jakarta Sans"/>
              <a:ea typeface="Plus Jakarta Sans"/>
              <a:cs typeface="Plus Jakarta Sans"/>
              <a:sym typeface="Plus Jakarta Sans"/>
            </a:endParaRPr>
          </a:p>
        </p:txBody>
      </p:sp>
      <p:pic>
        <p:nvPicPr>
          <p:cNvPr id="5" name="Google Shape;93;p23" title="logo gradient 1.png"/>
          <p:cNvPicPr preferRelativeResize="0"/>
          <p:nvPr/>
        </p:nvPicPr>
        <p:blipFill>
          <a:blip r:embed="rId3">
            <a:alphaModFix/>
          </a:blip>
          <a:stretch>
            <a:fillRect/>
          </a:stretch>
        </p:blipFill>
        <p:spPr>
          <a:xfrm>
            <a:off x="7467137" y="4691250"/>
            <a:ext cx="1547950" cy="452250"/>
          </a:xfrm>
          <a:prstGeom prst="rect">
            <a:avLst/>
          </a:prstGeom>
          <a:noFill/>
          <a:ln>
            <a:noFill/>
          </a:ln>
        </p:spPr>
      </p:pic>
    </p:spTree>
    <p:extLst>
      <p:ext uri="{BB962C8B-B14F-4D97-AF65-F5344CB8AC3E}">
        <p14:creationId xmlns:p14="http://schemas.microsoft.com/office/powerpoint/2010/main" val="2881578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5" name="Google Shape;329;p70"/>
          <p:cNvSpPr txBox="1"/>
          <p:nvPr/>
        </p:nvSpPr>
        <p:spPr>
          <a:xfrm>
            <a:off x="1404863" y="1941375"/>
            <a:ext cx="6221400" cy="12930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419" sz="4000" b="1" i="0" u="none" strike="noStrike" cap="none" dirty="0">
                <a:solidFill>
                  <a:schemeClr val="lt1"/>
                </a:solidFill>
                <a:latin typeface="DM Sans"/>
                <a:ea typeface="DM Sans"/>
                <a:cs typeface="DM Sans"/>
                <a:sym typeface="DM Sans"/>
              </a:rPr>
              <a:t>Bases de datos</a:t>
            </a:r>
            <a:endParaRPr sz="4000" b="1" i="0" u="none" strike="noStrike" cap="none" dirty="0">
              <a:solidFill>
                <a:schemeClr val="lt1"/>
              </a:solidFill>
              <a:latin typeface="DM Sans"/>
              <a:ea typeface="DM Sans"/>
              <a:cs typeface="DM Sans"/>
              <a:sym typeface="DM Sans"/>
            </a:endParaRPr>
          </a:p>
          <a:p>
            <a:pPr marL="0" marR="0" lvl="0" indent="0" algn="ctr" rtl="0">
              <a:lnSpc>
                <a:spcPct val="90000"/>
              </a:lnSpc>
              <a:spcBef>
                <a:spcPts val="0"/>
              </a:spcBef>
              <a:spcAft>
                <a:spcPts val="0"/>
              </a:spcAft>
              <a:buClr>
                <a:srgbClr val="000000"/>
              </a:buClr>
              <a:buSzPts val="4000"/>
              <a:buFont typeface="Arial"/>
              <a:buNone/>
            </a:pPr>
            <a:r>
              <a:rPr lang="es-419" sz="4000" b="1" i="0" u="none" strike="noStrike" cap="none" dirty="0">
                <a:solidFill>
                  <a:srgbClr val="EA90FF"/>
                </a:solidFill>
                <a:latin typeface="DM Sans"/>
                <a:ea typeface="DM Sans"/>
                <a:cs typeface="DM Sans"/>
                <a:sym typeface="DM Sans"/>
              </a:rPr>
              <a:t>relacionales</a:t>
            </a:r>
            <a:endParaRPr sz="4000" b="1" i="0" u="none" strike="noStrike" cap="none" dirty="0">
              <a:solidFill>
                <a:srgbClr val="EA90FF"/>
              </a:solidFill>
              <a:latin typeface="DM Sans"/>
              <a:ea typeface="DM Sans"/>
              <a:cs typeface="DM Sans"/>
              <a:sym typeface="DM Sans"/>
            </a:endParaRPr>
          </a:p>
        </p:txBody>
      </p:sp>
    </p:spTree>
    <p:extLst>
      <p:ext uri="{BB962C8B-B14F-4D97-AF65-F5344CB8AC3E}">
        <p14:creationId xmlns:p14="http://schemas.microsoft.com/office/powerpoint/2010/main" val="2825404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0"/>
          <p:cNvSpPr txBox="1"/>
          <p:nvPr/>
        </p:nvSpPr>
        <p:spPr>
          <a:xfrm>
            <a:off x="834768" y="2185822"/>
            <a:ext cx="7815600" cy="274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s" sz="2500" dirty="0" smtClean="0">
                <a:solidFill>
                  <a:srgbClr val="F8F2E8"/>
                </a:solidFill>
                <a:latin typeface="Plus Jakarta Sans Light"/>
                <a:ea typeface="Plus Jakarta Sans Light"/>
                <a:cs typeface="Plus Jakarta Sans Light"/>
                <a:sym typeface="Plus Jakarta Sans Light"/>
              </a:rPr>
              <a:t>Excel, o las planillas de cálculo en general, ¿pueden ser consideradas como bases de datos?</a:t>
            </a:r>
            <a:endParaRPr sz="2500" dirty="0">
              <a:solidFill>
                <a:srgbClr val="F8F2E8"/>
              </a:solidFill>
              <a:latin typeface="Plus Jakarta Sans Light"/>
              <a:ea typeface="Plus Jakarta Sans Light"/>
              <a:cs typeface="Plus Jakarta Sans Light"/>
              <a:sym typeface="Plus Jakarta Sans Light"/>
            </a:endParaRPr>
          </a:p>
        </p:txBody>
      </p:sp>
      <p:sp>
        <p:nvSpPr>
          <p:cNvPr id="257" name="Google Shape;257;p40"/>
          <p:cNvSpPr txBox="1"/>
          <p:nvPr/>
        </p:nvSpPr>
        <p:spPr>
          <a:xfrm>
            <a:off x="2552187" y="952434"/>
            <a:ext cx="6462900" cy="1138800"/>
          </a:xfrm>
          <a:prstGeom prst="rect">
            <a:avLst/>
          </a:prstGeom>
          <a:noFill/>
          <a:ln>
            <a:noFill/>
          </a:ln>
        </p:spPr>
        <p:txBody>
          <a:bodyPr spcFirstLastPara="1" wrap="square" lIns="91425" tIns="91425" rIns="91425" bIns="91425" anchor="t" anchorCtr="0">
            <a:noAutofit/>
          </a:bodyPr>
          <a:lstStyle/>
          <a:p>
            <a:pPr marL="0" lvl="0" indent="0" algn="ctr" rtl="0">
              <a:lnSpc>
                <a:spcPct val="70000"/>
              </a:lnSpc>
              <a:spcBef>
                <a:spcPts val="0"/>
              </a:spcBef>
              <a:spcAft>
                <a:spcPts val="0"/>
              </a:spcAft>
              <a:buNone/>
            </a:pPr>
            <a:r>
              <a:rPr lang="es" sz="4800" dirty="0">
                <a:solidFill>
                  <a:srgbClr val="F8F2E8"/>
                </a:solidFill>
                <a:latin typeface="Plus Jakarta Sans ExtraBold"/>
                <a:ea typeface="Plus Jakarta Sans ExtraBold"/>
                <a:cs typeface="Plus Jakarta Sans ExtraBold"/>
                <a:sym typeface="Plus Jakarta Sans ExtraBold"/>
              </a:rPr>
              <a:t>Para pensar</a:t>
            </a:r>
            <a:endParaRPr sz="4800" dirty="0">
              <a:solidFill>
                <a:srgbClr val="F8F2E8"/>
              </a:solidFill>
              <a:latin typeface="Plus Jakarta Sans ExtraBold"/>
              <a:ea typeface="Plus Jakarta Sans ExtraBold"/>
              <a:cs typeface="Plus Jakarta Sans ExtraBold"/>
              <a:sym typeface="Plus Jakarta Sans ExtraBold"/>
            </a:endParaRPr>
          </a:p>
        </p:txBody>
      </p:sp>
      <p:pic>
        <p:nvPicPr>
          <p:cNvPr id="4" name="Google Shape;93;p23" title="logo gradient 1.png"/>
          <p:cNvPicPr preferRelativeResize="0"/>
          <p:nvPr/>
        </p:nvPicPr>
        <p:blipFill>
          <a:blip r:embed="rId3">
            <a:alphaModFix/>
          </a:blip>
          <a:stretch>
            <a:fillRect/>
          </a:stretch>
        </p:blipFill>
        <p:spPr>
          <a:xfrm>
            <a:off x="7467137" y="4691250"/>
            <a:ext cx="1547950" cy="452250"/>
          </a:xfrm>
          <a:prstGeom prst="rect">
            <a:avLst/>
          </a:prstGeom>
          <a:noFill/>
          <a:ln>
            <a:noFill/>
          </a:ln>
        </p:spPr>
      </p:pic>
    </p:spTree>
    <p:extLst>
      <p:ext uri="{BB962C8B-B14F-4D97-AF65-F5344CB8AC3E}">
        <p14:creationId xmlns:p14="http://schemas.microsoft.com/office/powerpoint/2010/main" val="4000953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71"/>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419" sz="4000" b="1" i="0" u="none" strike="noStrike" cap="none">
                <a:solidFill>
                  <a:schemeClr val="dk1"/>
                </a:solidFill>
                <a:latin typeface="DM Sans"/>
                <a:ea typeface="DM Sans"/>
                <a:cs typeface="DM Sans"/>
                <a:sym typeface="DM Sans"/>
              </a:rPr>
              <a:t>Concepto</a:t>
            </a:r>
            <a:endParaRPr sz="4000" b="1" i="0" u="none" strike="noStrike" cap="none">
              <a:solidFill>
                <a:schemeClr val="dk1"/>
              </a:solidFill>
              <a:latin typeface="DM Sans"/>
              <a:ea typeface="DM Sans"/>
              <a:cs typeface="DM Sans"/>
              <a:sym typeface="DM Sans"/>
            </a:endParaRPr>
          </a:p>
        </p:txBody>
      </p:sp>
      <p:sp>
        <p:nvSpPr>
          <p:cNvPr id="335" name="Google Shape;335;p71"/>
          <p:cNvSpPr txBox="1"/>
          <p:nvPr/>
        </p:nvSpPr>
        <p:spPr>
          <a:xfrm>
            <a:off x="473350" y="1908175"/>
            <a:ext cx="3834600" cy="1015800"/>
          </a:xfrm>
          <a:prstGeom prst="rect">
            <a:avLst/>
          </a:prstGeom>
          <a:noFill/>
          <a:ln>
            <a:noFill/>
          </a:ln>
        </p:spPr>
        <p:txBody>
          <a:bodyPr spcFirstLastPara="1" wrap="square" lIns="91425" tIns="91425" rIns="91425" bIns="91425" anchor="t" anchorCtr="0">
            <a:spAutoFit/>
          </a:bodyPr>
          <a:lstStyle/>
          <a:p>
            <a:pPr marL="0" marR="38100" lvl="0" indent="0" algn="l" rtl="0">
              <a:lnSpc>
                <a:spcPct val="100000"/>
              </a:lnSpc>
              <a:spcBef>
                <a:spcPts val="0"/>
              </a:spcBef>
              <a:spcAft>
                <a:spcPts val="0"/>
              </a:spcAft>
              <a:buClr>
                <a:srgbClr val="000000"/>
              </a:buClr>
              <a:buSzPts val="1350"/>
              <a:buFont typeface="Arial"/>
              <a:buNone/>
            </a:pPr>
            <a:r>
              <a:rPr lang="es-419" sz="1350" b="0" i="0" u="none" strike="noStrike" cap="none">
                <a:solidFill>
                  <a:srgbClr val="000000"/>
                </a:solidFill>
                <a:latin typeface="DM Sans"/>
                <a:ea typeface="DM Sans"/>
                <a:cs typeface="DM Sans"/>
                <a:sym typeface="DM Sans"/>
              </a:rPr>
              <a:t>Las bases de datos relacionales se basan en el Modelo Relacional usando tablas para representar los datos y las relaciones entre ellos.</a:t>
            </a:r>
            <a:endParaRPr sz="1350" b="0" i="0" u="none" strike="noStrike" cap="none">
              <a:solidFill>
                <a:srgbClr val="000000"/>
              </a:solidFill>
              <a:latin typeface="DM Sans"/>
              <a:ea typeface="DM Sans"/>
              <a:cs typeface="DM Sans"/>
              <a:sym typeface="DM Sans"/>
            </a:endParaRPr>
          </a:p>
        </p:txBody>
      </p:sp>
      <p:sp>
        <p:nvSpPr>
          <p:cNvPr id="336" name="Google Shape;336;p71"/>
          <p:cNvSpPr txBox="1"/>
          <p:nvPr/>
        </p:nvSpPr>
        <p:spPr>
          <a:xfrm>
            <a:off x="4527575" y="1908175"/>
            <a:ext cx="3834600" cy="1015800"/>
          </a:xfrm>
          <a:prstGeom prst="rect">
            <a:avLst/>
          </a:prstGeom>
          <a:noFill/>
          <a:ln>
            <a:noFill/>
          </a:ln>
        </p:spPr>
        <p:txBody>
          <a:bodyPr spcFirstLastPara="1" wrap="square" lIns="91425" tIns="91425" rIns="91425" bIns="91425" anchor="t" anchorCtr="0">
            <a:spAutoFit/>
          </a:bodyPr>
          <a:lstStyle/>
          <a:p>
            <a:pPr marL="0" marR="38100" lvl="0" indent="0" algn="l" rtl="0">
              <a:lnSpc>
                <a:spcPct val="100000"/>
              </a:lnSpc>
              <a:spcBef>
                <a:spcPts val="0"/>
              </a:spcBef>
              <a:spcAft>
                <a:spcPts val="0"/>
              </a:spcAft>
              <a:buClr>
                <a:srgbClr val="000000"/>
              </a:buClr>
              <a:buSzPts val="1350"/>
              <a:buFont typeface="Arial"/>
              <a:buNone/>
            </a:pPr>
            <a:r>
              <a:rPr lang="es-419" sz="1350" b="0" i="0" u="none" strike="noStrike" cap="none">
                <a:solidFill>
                  <a:schemeClr val="dk1"/>
                </a:solidFill>
                <a:latin typeface="DM Sans"/>
                <a:ea typeface="DM Sans"/>
                <a:cs typeface="DM Sans"/>
                <a:sym typeface="DM Sans"/>
              </a:rPr>
              <a:t>Es poco frecuente encontrar casos de una DB con una sola tabla pero, en el caso de que se dé esta situación, se la denomina DB plana.</a:t>
            </a:r>
            <a:endParaRPr sz="1350" b="0" i="0" u="none" strike="noStrike" cap="none">
              <a:solidFill>
                <a:srgbClr val="000000"/>
              </a:solidFill>
              <a:latin typeface="DM Sans"/>
              <a:ea typeface="DM Sans"/>
              <a:cs typeface="DM Sans"/>
              <a:sym typeface="DM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72"/>
          <p:cNvSpPr/>
          <p:nvPr/>
        </p:nvSpPr>
        <p:spPr>
          <a:xfrm>
            <a:off x="647400" y="1189150"/>
            <a:ext cx="7849200" cy="33174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 name="Google Shape;342;p72"/>
          <p:cNvSpPr txBox="1"/>
          <p:nvPr/>
        </p:nvSpPr>
        <p:spPr>
          <a:xfrm>
            <a:off x="1461300" y="345975"/>
            <a:ext cx="6221400" cy="669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500"/>
              <a:buFont typeface="Arial"/>
              <a:buNone/>
            </a:pPr>
            <a:r>
              <a:rPr lang="es-419" sz="3500" b="1" i="0" u="none" strike="noStrike" cap="none">
                <a:solidFill>
                  <a:schemeClr val="lt1"/>
                </a:solidFill>
                <a:latin typeface="DM Sans"/>
                <a:ea typeface="DM Sans"/>
                <a:cs typeface="DM Sans"/>
                <a:sym typeface="DM Sans"/>
              </a:rPr>
              <a:t>Bases de datos plana</a:t>
            </a:r>
            <a:endParaRPr sz="3500" b="1" i="0" u="none" strike="noStrike" cap="none">
              <a:solidFill>
                <a:schemeClr val="lt1"/>
              </a:solidFill>
              <a:latin typeface="DM Sans"/>
              <a:ea typeface="DM Sans"/>
              <a:cs typeface="DM Sans"/>
              <a:sym typeface="DM Sans"/>
            </a:endParaRPr>
          </a:p>
        </p:txBody>
      </p:sp>
      <p:sp>
        <p:nvSpPr>
          <p:cNvPr id="343" name="Google Shape;343;p72"/>
          <p:cNvSpPr txBox="1"/>
          <p:nvPr/>
        </p:nvSpPr>
        <p:spPr>
          <a:xfrm>
            <a:off x="5736025" y="1404850"/>
            <a:ext cx="2568300" cy="3093900"/>
          </a:xfrm>
          <a:prstGeom prst="rect">
            <a:avLst/>
          </a:prstGeom>
          <a:noFill/>
          <a:ln>
            <a:noFill/>
          </a:ln>
        </p:spPr>
        <p:txBody>
          <a:bodyPr spcFirstLastPara="1" wrap="square" lIns="91425" tIns="91425" rIns="91425" bIns="91425" anchor="t" anchorCtr="0">
            <a:spAutoFit/>
          </a:bodyPr>
          <a:lstStyle/>
          <a:p>
            <a:pPr marL="0" marR="38100" lvl="0" indent="0" algn="l" rtl="0">
              <a:lnSpc>
                <a:spcPct val="100000"/>
              </a:lnSpc>
              <a:spcBef>
                <a:spcPts val="0"/>
              </a:spcBef>
              <a:spcAft>
                <a:spcPts val="0"/>
              </a:spcAft>
              <a:buClr>
                <a:schemeClr val="dk1"/>
              </a:buClr>
              <a:buSzPts val="1100"/>
              <a:buFont typeface="Arial"/>
              <a:buNone/>
            </a:pPr>
            <a:r>
              <a:rPr lang="es-419" sz="1350" b="1" i="0" u="none" strike="noStrike" cap="none" dirty="0">
                <a:solidFill>
                  <a:schemeClr val="dk1"/>
                </a:solidFill>
                <a:latin typeface="DM Sans"/>
                <a:ea typeface="DM Sans"/>
                <a:cs typeface="DM Sans"/>
                <a:sym typeface="DM Sans"/>
              </a:rPr>
              <a:t>Ejemplo de cómo se suele estructurar la información en una base de datos plana</a:t>
            </a:r>
            <a:endParaRPr sz="1350" b="1" i="0" u="none" strike="noStrike" cap="none" dirty="0">
              <a:solidFill>
                <a:schemeClr val="dk1"/>
              </a:solidFill>
              <a:latin typeface="DM Sans"/>
              <a:ea typeface="DM Sans"/>
              <a:cs typeface="DM Sans"/>
              <a:sym typeface="DM Sans"/>
            </a:endParaRPr>
          </a:p>
          <a:p>
            <a:pPr marL="0" marR="38100" lvl="0" indent="0" algn="l" rtl="0">
              <a:lnSpc>
                <a:spcPct val="100000"/>
              </a:lnSpc>
              <a:spcBef>
                <a:spcPts val="0"/>
              </a:spcBef>
              <a:spcAft>
                <a:spcPts val="0"/>
              </a:spcAft>
              <a:buClr>
                <a:srgbClr val="000000"/>
              </a:buClr>
              <a:buSzPts val="1350"/>
              <a:buFont typeface="Arial"/>
              <a:buNone/>
            </a:pPr>
            <a:endParaRPr sz="1350" b="0" i="0" u="none" strike="noStrike" cap="none" dirty="0">
              <a:solidFill>
                <a:srgbClr val="000000"/>
              </a:solidFill>
              <a:latin typeface="DM Sans"/>
              <a:ea typeface="DM Sans"/>
              <a:cs typeface="DM Sans"/>
              <a:sym typeface="DM Sans"/>
            </a:endParaRPr>
          </a:p>
          <a:p>
            <a:pPr marL="0" marR="38100" lvl="0" indent="0" algn="l" rtl="0">
              <a:lnSpc>
                <a:spcPct val="100000"/>
              </a:lnSpc>
              <a:spcBef>
                <a:spcPts val="0"/>
              </a:spcBef>
              <a:spcAft>
                <a:spcPts val="0"/>
              </a:spcAft>
              <a:buClr>
                <a:srgbClr val="000000"/>
              </a:buClr>
              <a:buSzPts val="1350"/>
              <a:buFont typeface="Arial"/>
              <a:buNone/>
            </a:pPr>
            <a:r>
              <a:rPr lang="es-419" sz="1350" b="0" i="0" u="none" strike="noStrike" cap="none" dirty="0">
                <a:solidFill>
                  <a:srgbClr val="000000"/>
                </a:solidFill>
                <a:latin typeface="DM Sans"/>
                <a:ea typeface="DM Sans"/>
                <a:cs typeface="DM Sans"/>
                <a:sym typeface="DM Sans"/>
              </a:rPr>
              <a:t>Si pensamos en un proyecto a gran escala, la redundancia de los datos que encontramos en la columna PROVEEDOR, generaría con el tiempo que la DB crezca en ocupación de disco, y se vuelva lenta para buscar información o para recorrerla.</a:t>
            </a:r>
            <a:endParaRPr sz="1350" b="0" i="0" u="none" strike="noStrike" cap="none" dirty="0">
              <a:solidFill>
                <a:srgbClr val="000000"/>
              </a:solidFill>
              <a:latin typeface="DM Sans"/>
              <a:ea typeface="DM Sans"/>
              <a:cs typeface="DM Sans"/>
              <a:sym typeface="DM Sans"/>
            </a:endParaRPr>
          </a:p>
        </p:txBody>
      </p:sp>
      <p:pic>
        <p:nvPicPr>
          <p:cNvPr id="344" name="Google Shape;344;p72"/>
          <p:cNvPicPr preferRelativeResize="0"/>
          <p:nvPr/>
        </p:nvPicPr>
        <p:blipFill rotWithShape="1">
          <a:blip r:embed="rId3">
            <a:alphaModFix/>
          </a:blip>
          <a:srcRect/>
          <a:stretch/>
        </p:blipFill>
        <p:spPr>
          <a:xfrm>
            <a:off x="841500" y="1969713"/>
            <a:ext cx="4751200" cy="175625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73"/>
          <p:cNvSpPr/>
          <p:nvPr/>
        </p:nvSpPr>
        <p:spPr>
          <a:xfrm>
            <a:off x="647400" y="1189150"/>
            <a:ext cx="7849200" cy="33174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0" name="Google Shape;350;p73"/>
          <p:cNvSpPr txBox="1"/>
          <p:nvPr/>
        </p:nvSpPr>
        <p:spPr>
          <a:xfrm>
            <a:off x="1461300" y="345975"/>
            <a:ext cx="6221400" cy="669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500"/>
              <a:buFont typeface="Arial"/>
              <a:buNone/>
            </a:pPr>
            <a:r>
              <a:rPr lang="es-419" sz="3500" b="1" i="0" u="none" strike="noStrike" cap="none">
                <a:solidFill>
                  <a:schemeClr val="lt1"/>
                </a:solidFill>
                <a:latin typeface="DM Sans"/>
                <a:ea typeface="DM Sans"/>
                <a:cs typeface="DM Sans"/>
                <a:sym typeface="DM Sans"/>
              </a:rPr>
              <a:t>Bases de datos relacional</a:t>
            </a:r>
            <a:endParaRPr sz="3500" b="1" i="0" u="none" strike="noStrike" cap="none">
              <a:solidFill>
                <a:schemeClr val="lt1"/>
              </a:solidFill>
              <a:latin typeface="DM Sans"/>
              <a:ea typeface="DM Sans"/>
              <a:cs typeface="DM Sans"/>
              <a:sym typeface="DM Sans"/>
            </a:endParaRPr>
          </a:p>
        </p:txBody>
      </p:sp>
      <p:sp>
        <p:nvSpPr>
          <p:cNvPr id="351" name="Google Shape;351;p73"/>
          <p:cNvSpPr txBox="1"/>
          <p:nvPr/>
        </p:nvSpPr>
        <p:spPr>
          <a:xfrm>
            <a:off x="5712850" y="1612600"/>
            <a:ext cx="2639700" cy="2470500"/>
          </a:xfrm>
          <a:prstGeom prst="rect">
            <a:avLst/>
          </a:prstGeom>
          <a:noFill/>
          <a:ln>
            <a:noFill/>
          </a:ln>
        </p:spPr>
        <p:txBody>
          <a:bodyPr spcFirstLastPara="1" wrap="square" lIns="91425" tIns="91425" rIns="91425" bIns="91425" anchor="t" anchorCtr="0">
            <a:spAutoFit/>
          </a:bodyPr>
          <a:lstStyle/>
          <a:p>
            <a:pPr marL="0" marR="38100" lvl="0" indent="0" algn="l" rtl="0">
              <a:lnSpc>
                <a:spcPct val="100000"/>
              </a:lnSpc>
              <a:spcBef>
                <a:spcPts val="0"/>
              </a:spcBef>
              <a:spcAft>
                <a:spcPts val="0"/>
              </a:spcAft>
              <a:buClr>
                <a:srgbClr val="000000"/>
              </a:buClr>
              <a:buSzPts val="1350"/>
              <a:buFont typeface="Arial"/>
              <a:buNone/>
            </a:pPr>
            <a:r>
              <a:rPr lang="es-419" sz="1350" b="1" i="0" u="none" strike="noStrike" cap="none">
                <a:solidFill>
                  <a:srgbClr val="000000"/>
                </a:solidFill>
                <a:latin typeface="DM Sans"/>
                <a:ea typeface="DM Sans"/>
                <a:cs typeface="DM Sans"/>
                <a:sym typeface="DM Sans"/>
              </a:rPr>
              <a:t>Ejemplo de datos correctamente normalizados</a:t>
            </a:r>
            <a:endParaRPr sz="1350" b="1" i="0" u="none" strike="noStrike" cap="none">
              <a:solidFill>
                <a:srgbClr val="000000"/>
              </a:solidFill>
              <a:latin typeface="DM Sans"/>
              <a:ea typeface="DM Sans"/>
              <a:cs typeface="DM Sans"/>
              <a:sym typeface="DM Sans"/>
            </a:endParaRPr>
          </a:p>
          <a:p>
            <a:pPr marL="0" marR="3810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DM Sans"/>
              <a:ea typeface="DM Sans"/>
              <a:cs typeface="DM Sans"/>
              <a:sym typeface="DM Sans"/>
            </a:endParaRPr>
          </a:p>
          <a:p>
            <a:pPr marL="0" marR="38100" lvl="0" indent="0" algn="l" rtl="0">
              <a:lnSpc>
                <a:spcPct val="100000"/>
              </a:lnSpc>
              <a:spcBef>
                <a:spcPts val="0"/>
              </a:spcBef>
              <a:spcAft>
                <a:spcPts val="0"/>
              </a:spcAft>
              <a:buClr>
                <a:srgbClr val="000000"/>
              </a:buClr>
              <a:buSzPts val="1350"/>
              <a:buFont typeface="Arial"/>
              <a:buNone/>
            </a:pPr>
            <a:r>
              <a:rPr lang="es-419" sz="1350" b="0" i="0" u="none" strike="noStrike" cap="none">
                <a:solidFill>
                  <a:srgbClr val="000000"/>
                </a:solidFill>
                <a:latin typeface="DM Sans"/>
                <a:ea typeface="DM Sans"/>
                <a:cs typeface="DM Sans"/>
                <a:sym typeface="DM Sans"/>
              </a:rPr>
              <a:t>Para transformar la base de datos plana en una base de datos relacional, esta sería una forma mucho más correcta de “normalizar” la información que representamos.</a:t>
            </a:r>
            <a:endParaRPr sz="1350" b="0" i="0" u="none" strike="noStrike" cap="none">
              <a:solidFill>
                <a:srgbClr val="000000"/>
              </a:solidFill>
              <a:latin typeface="DM Sans"/>
              <a:ea typeface="DM Sans"/>
              <a:cs typeface="DM Sans"/>
              <a:sym typeface="DM Sans"/>
            </a:endParaRPr>
          </a:p>
        </p:txBody>
      </p:sp>
      <p:pic>
        <p:nvPicPr>
          <p:cNvPr id="352" name="Google Shape;352;p73"/>
          <p:cNvPicPr preferRelativeResize="0"/>
          <p:nvPr/>
        </p:nvPicPr>
        <p:blipFill rotWithShape="1">
          <a:blip r:embed="rId3">
            <a:alphaModFix/>
          </a:blip>
          <a:srcRect/>
          <a:stretch/>
        </p:blipFill>
        <p:spPr>
          <a:xfrm>
            <a:off x="865313" y="1865775"/>
            <a:ext cx="4773077" cy="17562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74"/>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419" sz="4000" b="1" i="0" u="none" strike="noStrike" cap="none">
                <a:solidFill>
                  <a:schemeClr val="dk1"/>
                </a:solidFill>
                <a:latin typeface="DM Sans"/>
                <a:ea typeface="DM Sans"/>
                <a:cs typeface="DM Sans"/>
                <a:sym typeface="DM Sans"/>
              </a:rPr>
              <a:t>Ventajas</a:t>
            </a:r>
            <a:endParaRPr sz="4000" b="1" i="0" u="none" strike="noStrike" cap="none">
              <a:solidFill>
                <a:schemeClr val="dk1"/>
              </a:solidFill>
              <a:latin typeface="DM Sans"/>
              <a:ea typeface="DM Sans"/>
              <a:cs typeface="DM Sans"/>
              <a:sym typeface="DM Sans"/>
            </a:endParaRPr>
          </a:p>
        </p:txBody>
      </p:sp>
      <p:sp>
        <p:nvSpPr>
          <p:cNvPr id="358" name="Google Shape;358;p74"/>
          <p:cNvSpPr txBox="1"/>
          <p:nvPr/>
        </p:nvSpPr>
        <p:spPr>
          <a:xfrm>
            <a:off x="473350" y="1908175"/>
            <a:ext cx="5724300" cy="808200"/>
          </a:xfrm>
          <a:prstGeom prst="rect">
            <a:avLst/>
          </a:prstGeom>
          <a:noFill/>
          <a:ln>
            <a:noFill/>
          </a:ln>
        </p:spPr>
        <p:txBody>
          <a:bodyPr spcFirstLastPara="1" wrap="square" lIns="91425" tIns="91425" rIns="91425" bIns="91425" anchor="t" anchorCtr="0">
            <a:spAutoFit/>
          </a:bodyPr>
          <a:lstStyle/>
          <a:p>
            <a:pPr marL="457200" marR="38100" lvl="0" indent="-314325" algn="l" rtl="0">
              <a:lnSpc>
                <a:spcPct val="100000"/>
              </a:lnSpc>
              <a:spcBef>
                <a:spcPts val="0"/>
              </a:spcBef>
              <a:spcAft>
                <a:spcPts val="0"/>
              </a:spcAft>
              <a:buClr>
                <a:srgbClr val="EA90FF"/>
              </a:buClr>
              <a:buSzPts val="1350"/>
              <a:buFont typeface="DM Sans"/>
              <a:buChar char="✓"/>
            </a:pPr>
            <a:r>
              <a:rPr lang="es-419" sz="1350" b="0" i="0" u="none" strike="noStrike" cap="none">
                <a:solidFill>
                  <a:schemeClr val="dk1"/>
                </a:solidFill>
                <a:latin typeface="DM Sans"/>
                <a:ea typeface="DM Sans"/>
                <a:cs typeface="DM Sans"/>
                <a:sym typeface="DM Sans"/>
              </a:rPr>
              <a:t>Evitar datos duplicados</a:t>
            </a:r>
            <a:endParaRPr sz="1350" b="0" i="0" u="none" strike="noStrike" cap="none">
              <a:solidFill>
                <a:schemeClr val="dk1"/>
              </a:solidFill>
              <a:latin typeface="DM Sans"/>
              <a:ea typeface="DM Sans"/>
              <a:cs typeface="DM Sans"/>
              <a:sym typeface="DM Sans"/>
            </a:endParaRPr>
          </a:p>
          <a:p>
            <a:pPr marL="457200" marR="38100" lvl="0" indent="-314325" algn="l" rtl="0">
              <a:lnSpc>
                <a:spcPct val="100000"/>
              </a:lnSpc>
              <a:spcBef>
                <a:spcPts val="0"/>
              </a:spcBef>
              <a:spcAft>
                <a:spcPts val="0"/>
              </a:spcAft>
              <a:buClr>
                <a:srgbClr val="EA90FF"/>
              </a:buClr>
              <a:buSzPts val="1350"/>
              <a:buFont typeface="DM Sans"/>
              <a:buChar char="✓"/>
            </a:pPr>
            <a:r>
              <a:rPr lang="es-419" sz="1350" b="0" i="0" u="none" strike="noStrike" cap="none">
                <a:solidFill>
                  <a:schemeClr val="dk1"/>
                </a:solidFill>
                <a:latin typeface="DM Sans"/>
                <a:ea typeface="DM Sans"/>
                <a:cs typeface="DM Sans"/>
                <a:sym typeface="DM Sans"/>
              </a:rPr>
              <a:t>Optimiza el espacio de almacenamiento</a:t>
            </a:r>
            <a:endParaRPr sz="1350" b="0" i="0" u="none" strike="noStrike" cap="none">
              <a:solidFill>
                <a:schemeClr val="dk1"/>
              </a:solidFill>
              <a:latin typeface="DM Sans"/>
              <a:ea typeface="DM Sans"/>
              <a:cs typeface="DM Sans"/>
              <a:sym typeface="DM Sans"/>
            </a:endParaRPr>
          </a:p>
          <a:p>
            <a:pPr marL="457200" marR="38100" lvl="0" indent="-314325" algn="l" rtl="0">
              <a:lnSpc>
                <a:spcPct val="100000"/>
              </a:lnSpc>
              <a:spcBef>
                <a:spcPts val="0"/>
              </a:spcBef>
              <a:spcAft>
                <a:spcPts val="0"/>
              </a:spcAft>
              <a:buClr>
                <a:srgbClr val="EA90FF"/>
              </a:buClr>
              <a:buSzPts val="1350"/>
              <a:buFont typeface="DM Sans"/>
              <a:buChar char="✓"/>
            </a:pPr>
            <a:r>
              <a:rPr lang="es-419" sz="1350" b="0" i="0" u="none" strike="noStrike" cap="none">
                <a:solidFill>
                  <a:schemeClr val="dk1"/>
                </a:solidFill>
                <a:latin typeface="DM Sans"/>
                <a:ea typeface="DM Sans"/>
                <a:cs typeface="DM Sans"/>
                <a:sym typeface="DM Sans"/>
              </a:rPr>
              <a:t>Reduce la complejidad del usos de las tablas</a:t>
            </a:r>
            <a:endParaRPr sz="1350" b="0" i="0" u="none" strike="noStrike" cap="none">
              <a:solidFill>
                <a:schemeClr val="dk1"/>
              </a:solidFill>
              <a:latin typeface="DM Sans"/>
              <a:ea typeface="DM Sans"/>
              <a:cs typeface="DM Sans"/>
              <a:sym typeface="DM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grpSp>
        <p:nvGrpSpPr>
          <p:cNvPr id="363" name="Google Shape;363;p75"/>
          <p:cNvGrpSpPr/>
          <p:nvPr/>
        </p:nvGrpSpPr>
        <p:grpSpPr>
          <a:xfrm>
            <a:off x="473370" y="619431"/>
            <a:ext cx="738905" cy="738905"/>
            <a:chOff x="575612" y="1950748"/>
            <a:chExt cx="431100" cy="431100"/>
          </a:xfrm>
        </p:grpSpPr>
        <p:sp>
          <p:nvSpPr>
            <p:cNvPr id="364" name="Google Shape;364;p75"/>
            <p:cNvSpPr/>
            <p:nvPr/>
          </p:nvSpPr>
          <p:spPr>
            <a:xfrm>
              <a:off x="575612" y="1950748"/>
              <a:ext cx="431100" cy="4311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65" name="Google Shape;365;p75" title="ícono para pensar"/>
            <p:cNvPicPr preferRelativeResize="0"/>
            <p:nvPr/>
          </p:nvPicPr>
          <p:blipFill rotWithShape="1">
            <a:blip r:embed="rId3">
              <a:alphaModFix/>
            </a:blip>
            <a:srcRect/>
            <a:stretch/>
          </p:blipFill>
          <p:spPr>
            <a:xfrm>
              <a:off x="655125" y="2030288"/>
              <a:ext cx="272000" cy="272000"/>
            </a:xfrm>
            <a:prstGeom prst="rect">
              <a:avLst/>
            </a:prstGeom>
            <a:noFill/>
            <a:ln>
              <a:noFill/>
            </a:ln>
          </p:spPr>
        </p:pic>
      </p:grpSp>
      <p:sp>
        <p:nvSpPr>
          <p:cNvPr id="366" name="Google Shape;366;p75"/>
          <p:cNvSpPr txBox="1"/>
          <p:nvPr/>
        </p:nvSpPr>
        <p:spPr>
          <a:xfrm>
            <a:off x="1445150" y="688825"/>
            <a:ext cx="7169400" cy="6696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500"/>
              <a:buFont typeface="Arial"/>
              <a:buNone/>
            </a:pPr>
            <a:r>
              <a:rPr lang="es-419" sz="3500" b="1" i="0" u="none" strike="noStrike" cap="none">
                <a:solidFill>
                  <a:srgbClr val="EAFF6A"/>
                </a:solidFill>
                <a:latin typeface="DM Sans"/>
                <a:ea typeface="DM Sans"/>
                <a:cs typeface="DM Sans"/>
                <a:sym typeface="DM Sans"/>
              </a:rPr>
              <a:t>Para pensar</a:t>
            </a:r>
            <a:endParaRPr sz="3500" b="1" i="0" u="none" strike="noStrike" cap="none">
              <a:solidFill>
                <a:srgbClr val="EAFF6A"/>
              </a:solidFill>
              <a:latin typeface="DM Sans"/>
              <a:ea typeface="DM Sans"/>
              <a:cs typeface="DM Sans"/>
              <a:sym typeface="DM Sans"/>
            </a:endParaRPr>
          </a:p>
        </p:txBody>
      </p:sp>
      <p:sp>
        <p:nvSpPr>
          <p:cNvPr id="367" name="Google Shape;367;p75"/>
          <p:cNvSpPr txBox="1"/>
          <p:nvPr/>
        </p:nvSpPr>
        <p:spPr>
          <a:xfrm>
            <a:off x="473350" y="1626100"/>
            <a:ext cx="7169400" cy="2493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s-419" sz="2500" b="1" i="0" u="none" strike="noStrike" cap="none">
                <a:solidFill>
                  <a:schemeClr val="lt1"/>
                </a:solidFill>
                <a:latin typeface="DM Sans"/>
                <a:ea typeface="DM Sans"/>
                <a:cs typeface="DM Sans"/>
                <a:sym typeface="DM Sans"/>
              </a:rPr>
              <a:t>Basándonos en el ejemplo de Compras - Proveedores, ¿te puedes imaginar rápidamente cuántos datos que conforman una factura necesitan normalizarse o separarse?</a:t>
            </a:r>
            <a:endParaRPr sz="2500" b="1" i="0" u="none" strike="noStrike" cap="none">
              <a:solidFill>
                <a:schemeClr val="lt1"/>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2500"/>
              <a:buFont typeface="Arial"/>
              <a:buNone/>
            </a:pPr>
            <a:endParaRPr sz="2500" b="0" i="0" u="none" strike="noStrike" cap="none">
              <a:solidFill>
                <a:srgbClr val="B7B7B7"/>
              </a:solidFill>
              <a:latin typeface="DM Sans"/>
              <a:ea typeface="DM Sans"/>
              <a:cs typeface="DM Sans"/>
              <a:sym typeface="DM Sans"/>
            </a:endParaRPr>
          </a:p>
        </p:txBody>
      </p:sp>
      <p:sp>
        <p:nvSpPr>
          <p:cNvPr id="368" name="Google Shape;368;p75"/>
          <p:cNvSpPr txBox="1"/>
          <p:nvPr/>
        </p:nvSpPr>
        <p:spPr>
          <a:xfrm>
            <a:off x="473350" y="4023900"/>
            <a:ext cx="7169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419" sz="2000" b="0" i="0" u="none" strike="noStrike" cap="none">
                <a:solidFill>
                  <a:srgbClr val="83AEFB"/>
                </a:solidFill>
                <a:latin typeface="DM Sans"/>
                <a:ea typeface="DM Sans"/>
                <a:cs typeface="DM Sans"/>
                <a:sym typeface="DM Sans"/>
              </a:rPr>
              <a:t>Contesta la encuesta de Zoom </a:t>
            </a:r>
            <a:endParaRPr sz="2000" b="0" i="0" u="none" strike="noStrike" cap="none">
              <a:solidFill>
                <a:srgbClr val="83AEFB"/>
              </a:solidFill>
              <a:latin typeface="DM Sans"/>
              <a:ea typeface="DM Sans"/>
              <a:cs typeface="DM Sans"/>
              <a:sym typeface="DM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4" name="Google Shape;373;p76"/>
          <p:cNvSpPr txBox="1"/>
          <p:nvPr/>
        </p:nvSpPr>
        <p:spPr>
          <a:xfrm>
            <a:off x="1461300" y="2202300"/>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419" sz="4000" b="1" i="0" u="none" strike="noStrike" cap="none" dirty="0">
                <a:solidFill>
                  <a:schemeClr val="dk1"/>
                </a:solidFill>
                <a:latin typeface="DM Sans"/>
                <a:ea typeface="DM Sans"/>
                <a:cs typeface="DM Sans"/>
                <a:sym typeface="DM Sans"/>
              </a:rPr>
              <a:t>Estructura de tablas</a:t>
            </a:r>
            <a:endParaRPr sz="4000" b="1" i="0" u="none" strike="noStrike" cap="none" dirty="0">
              <a:solidFill>
                <a:schemeClr val="dk1"/>
              </a:solidFill>
              <a:latin typeface="DM Sans"/>
              <a:ea typeface="DM Sans"/>
              <a:cs typeface="DM Sans"/>
              <a:sym typeface="DM Sans"/>
            </a:endParaRPr>
          </a:p>
        </p:txBody>
      </p:sp>
    </p:spTree>
    <p:extLst>
      <p:ext uri="{BB962C8B-B14F-4D97-AF65-F5344CB8AC3E}">
        <p14:creationId xmlns:p14="http://schemas.microsoft.com/office/powerpoint/2010/main" val="5136688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77"/>
          <p:cNvSpPr txBox="1"/>
          <p:nvPr/>
        </p:nvSpPr>
        <p:spPr>
          <a:xfrm>
            <a:off x="1445150" y="688825"/>
            <a:ext cx="7169400" cy="6696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500"/>
              <a:buFont typeface="Arial"/>
              <a:buNone/>
            </a:pPr>
            <a:r>
              <a:rPr lang="es-419" sz="3500" b="1" i="0" u="none" strike="noStrike" cap="none">
                <a:solidFill>
                  <a:srgbClr val="EAFF6A"/>
                </a:solidFill>
                <a:latin typeface="DM Sans"/>
                <a:ea typeface="DM Sans"/>
                <a:cs typeface="DM Sans"/>
                <a:sym typeface="DM Sans"/>
              </a:rPr>
              <a:t>Ejemplo en vivo</a:t>
            </a:r>
            <a:endParaRPr sz="3500" b="1" i="0" u="none" strike="noStrike" cap="none">
              <a:solidFill>
                <a:srgbClr val="EAFF6A"/>
              </a:solidFill>
              <a:latin typeface="DM Sans"/>
              <a:ea typeface="DM Sans"/>
              <a:cs typeface="DM Sans"/>
              <a:sym typeface="DM Sans"/>
            </a:endParaRPr>
          </a:p>
        </p:txBody>
      </p:sp>
      <p:sp>
        <p:nvSpPr>
          <p:cNvPr id="379" name="Google Shape;379;p77"/>
          <p:cNvSpPr txBox="1"/>
          <p:nvPr/>
        </p:nvSpPr>
        <p:spPr>
          <a:xfrm>
            <a:off x="473350" y="1626100"/>
            <a:ext cx="8191500" cy="153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s-419" sz="2200" b="0" i="0" u="none" strike="noStrike" cap="none">
                <a:solidFill>
                  <a:srgbClr val="B7B7B7"/>
                </a:solidFill>
                <a:latin typeface="DM Sans"/>
                <a:ea typeface="DM Sans"/>
                <a:cs typeface="DM Sans"/>
                <a:sym typeface="DM Sans"/>
              </a:rPr>
              <a:t>Con las siguientes tablas, diseñemos un diagrama del modelo entidad-relación. </a:t>
            </a:r>
            <a:endParaRPr sz="2200" b="0" i="0" u="none" strike="noStrike" cap="none">
              <a:solidFill>
                <a:srgbClr val="B7B7B7"/>
              </a:solidFill>
              <a:latin typeface="DM Sans"/>
              <a:ea typeface="DM Sans"/>
              <a:cs typeface="DM Sans"/>
              <a:sym typeface="DM Sans"/>
            </a:endParaRPr>
          </a:p>
          <a:p>
            <a:pPr marL="899999" marR="0" lvl="0" indent="-323849" algn="l" rtl="0">
              <a:lnSpc>
                <a:spcPct val="100000"/>
              </a:lnSpc>
              <a:spcBef>
                <a:spcPts val="0"/>
              </a:spcBef>
              <a:spcAft>
                <a:spcPts val="0"/>
              </a:spcAft>
              <a:buClr>
                <a:srgbClr val="E0FF00"/>
              </a:buClr>
              <a:buSzPts val="1500"/>
              <a:buFont typeface="Helvetica Neue"/>
              <a:buChar char="✓"/>
            </a:pPr>
            <a:r>
              <a:rPr lang="es-419" sz="2200" b="0" i="0" u="none" strike="noStrike" cap="none">
                <a:solidFill>
                  <a:srgbClr val="B7B7B7"/>
                </a:solidFill>
                <a:latin typeface="DM Sans"/>
                <a:ea typeface="DM Sans"/>
                <a:cs typeface="DM Sans"/>
                <a:sym typeface="DM Sans"/>
              </a:rPr>
              <a:t>Implementar todos los componentes del diagrama</a:t>
            </a:r>
            <a:endParaRPr sz="2200" b="0" i="0" u="none" strike="noStrike" cap="none">
              <a:solidFill>
                <a:srgbClr val="B7B7B7"/>
              </a:solidFill>
              <a:latin typeface="DM Sans"/>
              <a:ea typeface="DM Sans"/>
              <a:cs typeface="DM Sans"/>
              <a:sym typeface="DM Sans"/>
            </a:endParaRPr>
          </a:p>
          <a:p>
            <a:pPr marL="899999" marR="0" lvl="0" indent="-323849" algn="l" rtl="0">
              <a:lnSpc>
                <a:spcPct val="100000"/>
              </a:lnSpc>
              <a:spcBef>
                <a:spcPts val="0"/>
              </a:spcBef>
              <a:spcAft>
                <a:spcPts val="0"/>
              </a:spcAft>
              <a:buClr>
                <a:srgbClr val="E0FF00"/>
              </a:buClr>
              <a:buSzPts val="1500"/>
              <a:buFont typeface="Helvetica Neue"/>
              <a:buChar char="✓"/>
            </a:pPr>
            <a:r>
              <a:rPr lang="es-419" sz="2200" b="0" i="0" u="none" strike="noStrike" cap="none">
                <a:solidFill>
                  <a:srgbClr val="B7B7B7"/>
                </a:solidFill>
                <a:latin typeface="DM Sans"/>
                <a:ea typeface="DM Sans"/>
                <a:cs typeface="DM Sans"/>
                <a:sym typeface="DM Sans"/>
              </a:rPr>
              <a:t>Identificar los tipos de relación que se dan</a:t>
            </a:r>
            <a:endParaRPr sz="2200" b="0" i="0" u="none" strike="noStrike" cap="none">
              <a:solidFill>
                <a:srgbClr val="B7B7B7"/>
              </a:solidFill>
              <a:latin typeface="DM Sans"/>
              <a:ea typeface="DM Sans"/>
              <a:cs typeface="DM Sans"/>
              <a:sym typeface="DM Sans"/>
            </a:endParaRPr>
          </a:p>
        </p:txBody>
      </p:sp>
      <p:grpSp>
        <p:nvGrpSpPr>
          <p:cNvPr id="380" name="Google Shape;380;p77"/>
          <p:cNvGrpSpPr/>
          <p:nvPr/>
        </p:nvGrpSpPr>
        <p:grpSpPr>
          <a:xfrm>
            <a:off x="473351" y="619523"/>
            <a:ext cx="738900" cy="738900"/>
            <a:chOff x="473351" y="619523"/>
            <a:chExt cx="738900" cy="738900"/>
          </a:xfrm>
        </p:grpSpPr>
        <p:sp>
          <p:nvSpPr>
            <p:cNvPr id="381" name="Google Shape;381;p77"/>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82" name="Google Shape;382;p77" title="ícono de ejemplo en vivo"/>
            <p:cNvPicPr preferRelativeResize="0"/>
            <p:nvPr/>
          </p:nvPicPr>
          <p:blipFill rotWithShape="1">
            <a:blip r:embed="rId3">
              <a:alphaModFix/>
            </a:blip>
            <a:srcRect/>
            <a:stretch/>
          </p:blipFill>
          <p:spPr>
            <a:xfrm>
              <a:off x="616475" y="762650"/>
              <a:ext cx="452650" cy="452650"/>
            </a:xfrm>
            <a:prstGeom prst="rect">
              <a:avLst/>
            </a:prstGeom>
            <a:noFill/>
            <a:ln>
              <a:noFill/>
            </a:ln>
          </p:spPr>
        </p:pic>
      </p:grpSp>
      <p:sp>
        <p:nvSpPr>
          <p:cNvPr id="383" name="Google Shape;383;p77"/>
          <p:cNvSpPr/>
          <p:nvPr/>
        </p:nvSpPr>
        <p:spPr>
          <a:xfrm>
            <a:off x="1588225" y="3399100"/>
            <a:ext cx="1206300" cy="472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419" sz="1400" b="0" i="0" u="none" strike="noStrike" cap="none">
                <a:solidFill>
                  <a:srgbClr val="000000"/>
                </a:solidFill>
                <a:latin typeface="DM Sans"/>
                <a:ea typeface="DM Sans"/>
                <a:cs typeface="DM Sans"/>
                <a:sym typeface="DM Sans"/>
              </a:rPr>
              <a:t>Estudiantes</a:t>
            </a:r>
            <a:endParaRPr sz="1400" b="0" i="0" u="none" strike="noStrike" cap="none">
              <a:solidFill>
                <a:srgbClr val="000000"/>
              </a:solidFill>
              <a:latin typeface="DM Sans"/>
              <a:ea typeface="DM Sans"/>
              <a:cs typeface="DM Sans"/>
              <a:sym typeface="DM Sans"/>
            </a:endParaRPr>
          </a:p>
        </p:txBody>
      </p:sp>
      <p:sp>
        <p:nvSpPr>
          <p:cNvPr id="384" name="Google Shape;384;p77"/>
          <p:cNvSpPr/>
          <p:nvPr/>
        </p:nvSpPr>
        <p:spPr>
          <a:xfrm>
            <a:off x="3965950" y="3433075"/>
            <a:ext cx="1206300" cy="472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419" sz="1400" b="0" i="0" u="none" strike="noStrike" cap="none">
                <a:solidFill>
                  <a:srgbClr val="000000"/>
                </a:solidFill>
                <a:latin typeface="DM Sans"/>
                <a:ea typeface="DM Sans"/>
                <a:cs typeface="DM Sans"/>
                <a:sym typeface="DM Sans"/>
              </a:rPr>
              <a:t>Profesores</a:t>
            </a:r>
            <a:endParaRPr sz="1400" b="0" i="0" u="none" strike="noStrike" cap="none">
              <a:solidFill>
                <a:srgbClr val="000000"/>
              </a:solidFill>
              <a:latin typeface="DM Sans"/>
              <a:ea typeface="DM Sans"/>
              <a:cs typeface="DM Sans"/>
              <a:sym typeface="DM Sans"/>
            </a:endParaRPr>
          </a:p>
        </p:txBody>
      </p:sp>
      <p:sp>
        <p:nvSpPr>
          <p:cNvPr id="385" name="Google Shape;385;p77"/>
          <p:cNvSpPr/>
          <p:nvPr/>
        </p:nvSpPr>
        <p:spPr>
          <a:xfrm>
            <a:off x="6343675" y="3399100"/>
            <a:ext cx="1206300" cy="472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419" sz="1400" b="0" i="0" u="none" strike="noStrike" cap="none">
                <a:solidFill>
                  <a:srgbClr val="000000"/>
                </a:solidFill>
                <a:latin typeface="DM Sans"/>
                <a:ea typeface="DM Sans"/>
                <a:cs typeface="DM Sans"/>
                <a:sym typeface="DM Sans"/>
              </a:rPr>
              <a:t>Asignatura</a:t>
            </a:r>
            <a:endParaRPr sz="1400" b="0" i="0" u="none" strike="noStrike" cap="none">
              <a:solidFill>
                <a:srgbClr val="000000"/>
              </a:solidFill>
              <a:latin typeface="DM Sans"/>
              <a:ea typeface="DM Sans"/>
              <a:cs typeface="DM Sans"/>
              <a:sym typeface="DM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grpSp>
        <p:nvGrpSpPr>
          <p:cNvPr id="390" name="Google Shape;390;p78"/>
          <p:cNvGrpSpPr/>
          <p:nvPr/>
        </p:nvGrpSpPr>
        <p:grpSpPr>
          <a:xfrm>
            <a:off x="4202556" y="994173"/>
            <a:ext cx="738900" cy="738900"/>
            <a:chOff x="974706" y="2467173"/>
            <a:chExt cx="738900" cy="738900"/>
          </a:xfrm>
        </p:grpSpPr>
        <p:sp>
          <p:nvSpPr>
            <p:cNvPr id="391" name="Google Shape;391;p78"/>
            <p:cNvSpPr/>
            <p:nvPr/>
          </p:nvSpPr>
          <p:spPr>
            <a:xfrm>
              <a:off x="974706" y="2467173"/>
              <a:ext cx="738900" cy="738900"/>
            </a:xfrm>
            <a:prstGeom prst="ellipse">
              <a:avLst/>
            </a:prstGeom>
            <a:solidFill>
              <a:srgbClr val="EA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92" name="Google Shape;392;p78" title="ícono de actividad en clase"/>
            <p:cNvPicPr preferRelativeResize="0"/>
            <p:nvPr/>
          </p:nvPicPr>
          <p:blipFill rotWithShape="1">
            <a:blip r:embed="rId3">
              <a:alphaModFix/>
            </a:blip>
            <a:srcRect/>
            <a:stretch/>
          </p:blipFill>
          <p:spPr>
            <a:xfrm>
              <a:off x="1109750" y="2610275"/>
              <a:ext cx="452650" cy="452650"/>
            </a:xfrm>
            <a:prstGeom prst="rect">
              <a:avLst/>
            </a:prstGeom>
            <a:noFill/>
            <a:ln>
              <a:noFill/>
            </a:ln>
          </p:spPr>
        </p:pic>
      </p:grpSp>
      <p:sp>
        <p:nvSpPr>
          <p:cNvPr id="393" name="Google Shape;393;p78"/>
          <p:cNvSpPr txBox="1"/>
          <p:nvPr/>
        </p:nvSpPr>
        <p:spPr>
          <a:xfrm>
            <a:off x="1461300" y="1827625"/>
            <a:ext cx="6221400" cy="12930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419" sz="4000" b="1" i="0" u="none" strike="noStrike" cap="none">
                <a:solidFill>
                  <a:schemeClr val="dk1"/>
                </a:solidFill>
                <a:latin typeface="DM Sans"/>
                <a:ea typeface="DM Sans"/>
                <a:cs typeface="DM Sans"/>
                <a:sym typeface="DM Sans"/>
              </a:rPr>
              <a:t>Diagrama de entidad-relación</a:t>
            </a:r>
            <a:endParaRPr sz="4000" b="1" i="0" u="none" strike="noStrike" cap="none">
              <a:solidFill>
                <a:schemeClr val="dk1"/>
              </a:solidFill>
              <a:highlight>
                <a:srgbClr val="EAFF6A"/>
              </a:highlight>
              <a:latin typeface="DM Sans"/>
              <a:ea typeface="DM Sans"/>
              <a:cs typeface="DM Sans"/>
              <a:sym typeface="DM Sans"/>
            </a:endParaRPr>
          </a:p>
        </p:txBody>
      </p:sp>
      <p:sp>
        <p:nvSpPr>
          <p:cNvPr id="394" name="Google Shape;394;p78"/>
          <p:cNvSpPr txBox="1"/>
          <p:nvPr/>
        </p:nvSpPr>
        <p:spPr>
          <a:xfrm>
            <a:off x="987300" y="4153938"/>
            <a:ext cx="71694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419" sz="2000" b="0" i="0" u="none" strike="noStrike" cap="none">
                <a:solidFill>
                  <a:srgbClr val="83AEFB"/>
                </a:solidFill>
                <a:latin typeface="DM Sans"/>
                <a:ea typeface="DM Sans"/>
                <a:cs typeface="DM Sans"/>
                <a:sym typeface="DM Sans"/>
              </a:rPr>
              <a:t>Duración: </a:t>
            </a:r>
            <a:r>
              <a:rPr lang="es-419" sz="2000" b="1" i="0" u="none" strike="noStrike" cap="none">
                <a:solidFill>
                  <a:srgbClr val="83AEFB"/>
                </a:solidFill>
                <a:latin typeface="DM Sans"/>
                <a:ea typeface="DM Sans"/>
                <a:cs typeface="DM Sans"/>
                <a:sym typeface="DM Sans"/>
              </a:rPr>
              <a:t>20 minutos</a:t>
            </a:r>
            <a:endParaRPr sz="2000" b="1" i="0" u="none" strike="noStrike" cap="none">
              <a:solidFill>
                <a:srgbClr val="83AEFB"/>
              </a:solidFill>
              <a:latin typeface="DM Sans"/>
              <a:ea typeface="DM Sans"/>
              <a:cs typeface="DM Sans"/>
              <a:sym typeface="DM Sans"/>
            </a:endParaRPr>
          </a:p>
        </p:txBody>
      </p:sp>
      <p:sp>
        <p:nvSpPr>
          <p:cNvPr id="395" name="Google Shape;395;p78"/>
          <p:cNvSpPr txBox="1"/>
          <p:nvPr/>
        </p:nvSpPr>
        <p:spPr>
          <a:xfrm>
            <a:off x="987300" y="3176138"/>
            <a:ext cx="7169400" cy="800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419" sz="2000" b="0" i="0" u="none" strike="noStrike" cap="none">
                <a:solidFill>
                  <a:srgbClr val="999999"/>
                </a:solidFill>
                <a:latin typeface="DM Sans"/>
                <a:ea typeface="DM Sans"/>
                <a:cs typeface="DM Sans"/>
                <a:sym typeface="DM Sans"/>
              </a:rPr>
              <a:t>Diseña un diagrama de entidad-relación basado en algún modelo de negocios específico.</a:t>
            </a:r>
            <a:endParaRPr sz="2000" b="0" i="0" u="none" strike="noStrike" cap="none">
              <a:solidFill>
                <a:srgbClr val="999999"/>
              </a:solidFill>
              <a:latin typeface="DM Sans"/>
              <a:ea typeface="DM Sans"/>
              <a:cs typeface="DM Sans"/>
              <a:sym typeface="DM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grpSp>
        <p:nvGrpSpPr>
          <p:cNvPr id="400" name="Google Shape;400;p79"/>
          <p:cNvGrpSpPr/>
          <p:nvPr/>
        </p:nvGrpSpPr>
        <p:grpSpPr>
          <a:xfrm>
            <a:off x="457347" y="468297"/>
            <a:ext cx="431074" cy="431074"/>
            <a:chOff x="974706" y="2467173"/>
            <a:chExt cx="738900" cy="738900"/>
          </a:xfrm>
        </p:grpSpPr>
        <p:sp>
          <p:nvSpPr>
            <p:cNvPr id="401" name="Google Shape;401;p79"/>
            <p:cNvSpPr/>
            <p:nvPr/>
          </p:nvSpPr>
          <p:spPr>
            <a:xfrm>
              <a:off x="974706" y="2467173"/>
              <a:ext cx="738900" cy="738900"/>
            </a:xfrm>
            <a:prstGeom prst="ellipse">
              <a:avLst/>
            </a:prstGeom>
            <a:solidFill>
              <a:srgbClr val="EA90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02" name="Google Shape;402;p79" title="ícono de actividad en clase"/>
            <p:cNvPicPr preferRelativeResize="0"/>
            <p:nvPr/>
          </p:nvPicPr>
          <p:blipFill rotWithShape="1">
            <a:blip r:embed="rId3">
              <a:alphaModFix/>
            </a:blip>
            <a:srcRect/>
            <a:stretch/>
          </p:blipFill>
          <p:spPr>
            <a:xfrm>
              <a:off x="1109750" y="2610275"/>
              <a:ext cx="452650" cy="452650"/>
            </a:xfrm>
            <a:prstGeom prst="rect">
              <a:avLst/>
            </a:prstGeom>
            <a:noFill/>
            <a:ln>
              <a:noFill/>
            </a:ln>
          </p:spPr>
        </p:pic>
      </p:grpSp>
      <p:sp>
        <p:nvSpPr>
          <p:cNvPr id="403" name="Google Shape;403;p79"/>
          <p:cNvSpPr txBox="1"/>
          <p:nvPr/>
        </p:nvSpPr>
        <p:spPr>
          <a:xfrm>
            <a:off x="501450" y="1081750"/>
            <a:ext cx="809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419" sz="4000" b="1" i="0" u="none" strike="noStrike" cap="none">
                <a:solidFill>
                  <a:schemeClr val="dk1"/>
                </a:solidFill>
                <a:latin typeface="DM Sans"/>
                <a:ea typeface="DM Sans"/>
                <a:cs typeface="DM Sans"/>
                <a:sym typeface="DM Sans"/>
              </a:rPr>
              <a:t>Diagrama de entidad-relación</a:t>
            </a:r>
            <a:endParaRPr sz="4000" b="1" i="0" u="none" strike="noStrike" cap="none">
              <a:solidFill>
                <a:schemeClr val="dk1"/>
              </a:solidFill>
              <a:latin typeface="DM Sans"/>
              <a:ea typeface="DM Sans"/>
              <a:cs typeface="DM Sans"/>
              <a:sym typeface="DM Sans"/>
            </a:endParaRPr>
          </a:p>
        </p:txBody>
      </p:sp>
      <p:pic>
        <p:nvPicPr>
          <p:cNvPr id="404" name="Google Shape;404;p79"/>
          <p:cNvPicPr preferRelativeResize="0"/>
          <p:nvPr/>
        </p:nvPicPr>
        <p:blipFill rotWithShape="1">
          <a:blip r:embed="rId4">
            <a:alphaModFix/>
          </a:blip>
          <a:srcRect/>
          <a:stretch/>
        </p:blipFill>
        <p:spPr>
          <a:xfrm>
            <a:off x="7811413" y="4692275"/>
            <a:ext cx="1150750" cy="267575"/>
          </a:xfrm>
          <a:prstGeom prst="rect">
            <a:avLst/>
          </a:prstGeom>
          <a:noFill/>
          <a:ln>
            <a:noFill/>
          </a:ln>
        </p:spPr>
      </p:pic>
      <p:sp>
        <p:nvSpPr>
          <p:cNvPr id="405" name="Google Shape;405;p79"/>
          <p:cNvSpPr txBox="1"/>
          <p:nvPr/>
        </p:nvSpPr>
        <p:spPr>
          <a:xfrm>
            <a:off x="549525" y="2025150"/>
            <a:ext cx="7455000" cy="1688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419" sz="1350" b="1" i="0" u="none" strike="noStrike" cap="none">
                <a:solidFill>
                  <a:srgbClr val="000000"/>
                </a:solidFill>
                <a:latin typeface="DM Sans"/>
                <a:ea typeface="DM Sans"/>
                <a:cs typeface="DM Sans"/>
                <a:sym typeface="DM Sans"/>
              </a:rPr>
              <a:t>Descripción de la actividad</a:t>
            </a:r>
            <a:endParaRPr sz="1350" b="0" i="0" u="none" strike="noStrike" cap="none">
              <a:solidFill>
                <a:srgbClr val="000000"/>
              </a:solidFill>
              <a:latin typeface="DM Sans"/>
              <a:ea typeface="DM Sans"/>
              <a:cs typeface="DM Sans"/>
              <a:sym typeface="DM Sans"/>
            </a:endParaRPr>
          </a:p>
          <a:p>
            <a:pPr marL="457200" marR="0" lvl="0" indent="-314325" algn="l" rtl="0">
              <a:lnSpc>
                <a:spcPct val="100000"/>
              </a:lnSpc>
              <a:spcBef>
                <a:spcPts val="0"/>
              </a:spcBef>
              <a:spcAft>
                <a:spcPts val="0"/>
              </a:spcAft>
              <a:buClr>
                <a:srgbClr val="EF89D2"/>
              </a:buClr>
              <a:buSzPts val="1350"/>
              <a:buFont typeface="Helvetica Neue"/>
              <a:buAutoNum type="arabicPeriod"/>
            </a:pPr>
            <a:r>
              <a:rPr lang="es-419" sz="1350" b="0" i="0" u="none" strike="noStrike" cap="none">
                <a:solidFill>
                  <a:srgbClr val="000000"/>
                </a:solidFill>
                <a:latin typeface="DM Sans"/>
                <a:ea typeface="DM Sans"/>
                <a:cs typeface="DM Sans"/>
                <a:sym typeface="DM Sans"/>
              </a:rPr>
              <a:t>Elegir un modelo de negocios de los presentes en la opción o download tool de la web: </a:t>
            </a:r>
            <a:r>
              <a:rPr lang="es-419" sz="1350" b="0" i="0" u="sng" strike="noStrike" cap="none">
                <a:solidFill>
                  <a:schemeClr val="accent5"/>
                </a:solidFill>
                <a:latin typeface="DM Sans"/>
                <a:ea typeface="DM Sans"/>
                <a:cs typeface="DM Sans"/>
                <a:sym typeface="DM Sans"/>
                <a:hlinkClick r:id="rId5">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https://businessmakeover.eu/tools/business-model-card</a:t>
            </a:r>
            <a:r>
              <a:rPr lang="es-419" sz="1350" b="0" i="0" u="sng" strike="noStrike" cap="none">
                <a:solidFill>
                  <a:schemeClr val="accent5"/>
                </a:solidFill>
                <a:latin typeface="DM Sans"/>
                <a:ea typeface="DM Sans"/>
                <a:cs typeface="DM Sans"/>
                <a:sym typeface="DM Sans"/>
              </a:rPr>
              <a:t>s</a:t>
            </a:r>
            <a:r>
              <a:rPr lang="es-419" sz="1350" b="0" i="0" u="none" strike="noStrike" cap="none">
                <a:solidFill>
                  <a:srgbClr val="000000"/>
                </a:solidFill>
                <a:latin typeface="DM Sans"/>
                <a:ea typeface="DM Sans"/>
                <a:cs typeface="DM Sans"/>
                <a:sym typeface="DM Sans"/>
              </a:rPr>
              <a:t>  </a:t>
            </a:r>
            <a:endParaRPr sz="1350" b="0" i="0" u="none" strike="noStrike" cap="none">
              <a:solidFill>
                <a:srgbClr val="000000"/>
              </a:solidFill>
              <a:latin typeface="DM Sans"/>
              <a:ea typeface="DM Sans"/>
              <a:cs typeface="DM Sans"/>
              <a:sym typeface="DM Sans"/>
            </a:endParaRPr>
          </a:p>
          <a:p>
            <a:pPr marL="457200" marR="0" lvl="0" indent="-314325" algn="just" rtl="0">
              <a:lnSpc>
                <a:spcPct val="100000"/>
              </a:lnSpc>
              <a:spcBef>
                <a:spcPts val="1000"/>
              </a:spcBef>
              <a:spcAft>
                <a:spcPts val="0"/>
              </a:spcAft>
              <a:buClr>
                <a:srgbClr val="EF89D2"/>
              </a:buClr>
              <a:buSzPts val="1350"/>
              <a:buFont typeface="Helvetica Neue"/>
              <a:buAutoNum type="arabicPeriod"/>
            </a:pPr>
            <a:r>
              <a:rPr lang="es-419" sz="1350" b="0" i="0" u="none" strike="noStrike" cap="none">
                <a:solidFill>
                  <a:srgbClr val="000000"/>
                </a:solidFill>
                <a:latin typeface="DM Sans"/>
                <a:ea typeface="DM Sans"/>
                <a:cs typeface="DM Sans"/>
                <a:sym typeface="DM Sans"/>
              </a:rPr>
              <a:t>Basado en el modelo de negocios elegido, identifica cinco posibles tablas que formarían parte del modelo de datos, y diseña el diagrama E-R con sus componentes.</a:t>
            </a:r>
            <a:endParaRPr sz="1350" b="0" i="0" u="none" strike="noStrike" cap="none">
              <a:solidFill>
                <a:srgbClr val="000000"/>
              </a:solidFill>
              <a:latin typeface="DM Sans"/>
              <a:ea typeface="DM Sans"/>
              <a:cs typeface="DM Sans"/>
              <a:sym typeface="DM Sans"/>
            </a:endParaRPr>
          </a:p>
          <a:p>
            <a:pPr marL="457200" marR="0" lvl="0" indent="-314325" algn="just" rtl="0">
              <a:lnSpc>
                <a:spcPct val="100000"/>
              </a:lnSpc>
              <a:spcBef>
                <a:spcPts val="1000"/>
              </a:spcBef>
              <a:spcAft>
                <a:spcPts val="1000"/>
              </a:spcAft>
              <a:buClr>
                <a:srgbClr val="EF89D2"/>
              </a:buClr>
              <a:buSzPts val="1350"/>
              <a:buFont typeface="Helvetica Neue"/>
              <a:buAutoNum type="arabicPeriod"/>
            </a:pPr>
            <a:r>
              <a:rPr lang="es-419" sz="1350" b="0" i="0" u="none" strike="noStrike" cap="none">
                <a:solidFill>
                  <a:srgbClr val="000000"/>
                </a:solidFill>
                <a:latin typeface="DM Sans"/>
                <a:ea typeface="DM Sans"/>
                <a:cs typeface="DM Sans"/>
                <a:sym typeface="DM Sans"/>
              </a:rPr>
              <a:t>Guarda el archivo, porque lo usaremos en una próxima clase como complemento</a:t>
            </a:r>
            <a:endParaRPr sz="1350" b="0" i="0" u="none" strike="noStrike" cap="none">
              <a:solidFill>
                <a:srgbClr val="000000"/>
              </a:solidFill>
              <a:latin typeface="DM Sans"/>
              <a:ea typeface="DM Sans"/>
              <a:cs typeface="DM Sans"/>
              <a:sym typeface="DM Sans"/>
            </a:endParaRPr>
          </a:p>
        </p:txBody>
      </p:sp>
      <p:sp>
        <p:nvSpPr>
          <p:cNvPr id="406" name="Google Shape;406;p79"/>
          <p:cNvSpPr txBox="1"/>
          <p:nvPr/>
        </p:nvSpPr>
        <p:spPr>
          <a:xfrm>
            <a:off x="930550" y="468275"/>
            <a:ext cx="24612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419" sz="1600" b="0" i="0" u="none" strike="noStrike" cap="none">
                <a:solidFill>
                  <a:schemeClr val="dk1"/>
                </a:solidFill>
                <a:latin typeface="DM Sans"/>
                <a:ea typeface="DM Sans"/>
                <a:cs typeface="DM Sans"/>
                <a:sym typeface="DM Sans"/>
              </a:rPr>
              <a:t>ACTIVIDAD EN CLASE</a:t>
            </a:r>
            <a:endParaRPr sz="1400" b="0" i="0" u="none" strike="noStrike" cap="none">
              <a:solidFill>
                <a:srgbClr val="000000"/>
              </a:solidFill>
              <a:latin typeface="DM Sans"/>
              <a:ea typeface="DM Sans"/>
              <a:cs typeface="DM Sans"/>
              <a:sym typeface="DM Sans"/>
            </a:endParaRPr>
          </a:p>
        </p:txBody>
      </p:sp>
      <p:sp>
        <p:nvSpPr>
          <p:cNvPr id="407" name="Google Shape;407;p79"/>
          <p:cNvSpPr txBox="1"/>
          <p:nvPr/>
        </p:nvSpPr>
        <p:spPr>
          <a:xfrm>
            <a:off x="533400" y="4191000"/>
            <a:ext cx="6475800" cy="384900"/>
          </a:xfrm>
          <a:prstGeom prst="rect">
            <a:avLst/>
          </a:prstGeom>
          <a:noFill/>
          <a:ln>
            <a:noFill/>
          </a:ln>
        </p:spPr>
        <p:txBody>
          <a:bodyPr spcFirstLastPara="1" wrap="square" lIns="91425" tIns="91425" rIns="91425" bIns="91425" anchor="t" anchorCtr="0">
            <a:spAutoFit/>
          </a:bodyPr>
          <a:lstStyle/>
          <a:p>
            <a:pPr marL="0" marR="0" lvl="0" indent="0" algn="just" rtl="0">
              <a:lnSpc>
                <a:spcPct val="150000"/>
              </a:lnSpc>
              <a:spcBef>
                <a:spcPts val="0"/>
              </a:spcBef>
              <a:spcAft>
                <a:spcPts val="1000"/>
              </a:spcAft>
              <a:buClr>
                <a:srgbClr val="000000"/>
              </a:buClr>
              <a:buSzPts val="1300"/>
              <a:buFont typeface="Arial"/>
              <a:buNone/>
            </a:pPr>
            <a:r>
              <a:rPr lang="es-419" sz="1300" b="1" i="0" u="none" strike="noStrike" cap="none">
                <a:solidFill>
                  <a:schemeClr val="dk1"/>
                </a:solidFill>
                <a:highlight>
                  <a:srgbClr val="E0FF00"/>
                </a:highlight>
                <a:latin typeface="DM Sans"/>
                <a:ea typeface="DM Sans"/>
                <a:cs typeface="DM Sans"/>
                <a:sym typeface="DM Sans"/>
              </a:rPr>
              <a:t>NOTA: </a:t>
            </a:r>
            <a:r>
              <a:rPr lang="es-419" sz="1300" b="0" i="0" u="none" strike="noStrike" cap="none">
                <a:solidFill>
                  <a:schemeClr val="dk1"/>
                </a:solidFill>
                <a:highlight>
                  <a:srgbClr val="E0FF00"/>
                </a:highlight>
                <a:latin typeface="DM Sans"/>
                <a:ea typeface="DM Sans"/>
                <a:cs typeface="DM Sans"/>
                <a:sym typeface="DM Sans"/>
              </a:rPr>
              <a:t>Sugerimos diseñes la consigna en formato PPT o GSlides</a:t>
            </a:r>
            <a:endParaRPr sz="1300" b="0" i="0" u="none" strike="noStrike" cap="none">
              <a:solidFill>
                <a:schemeClr val="dk1"/>
              </a:solidFill>
              <a:highlight>
                <a:srgbClr val="E0FF00"/>
              </a:highlight>
              <a:latin typeface="DM Sans"/>
              <a:ea typeface="DM Sans"/>
              <a:cs typeface="DM Sans"/>
              <a:sym typeface="DM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7" name="Google Shape;199;p39"/>
          <p:cNvSpPr txBox="1"/>
          <p:nvPr/>
        </p:nvSpPr>
        <p:spPr>
          <a:xfrm>
            <a:off x="1461300" y="1598325"/>
            <a:ext cx="6221400" cy="14316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5000" dirty="0">
                <a:solidFill>
                  <a:srgbClr val="E8E7E3"/>
                </a:solidFill>
              </a:rPr>
              <a:t>☕</a:t>
            </a:r>
            <a:endParaRPr sz="5000" dirty="0">
              <a:solidFill>
                <a:srgbClr val="E8E7E3"/>
              </a:solidFill>
            </a:endParaRPr>
          </a:p>
          <a:p>
            <a:pPr marL="0" lvl="0" indent="0" algn="ctr" rtl="0">
              <a:lnSpc>
                <a:spcPct val="90000"/>
              </a:lnSpc>
              <a:spcBef>
                <a:spcPts val="0"/>
              </a:spcBef>
              <a:spcAft>
                <a:spcPts val="0"/>
              </a:spcAft>
              <a:buNone/>
            </a:pPr>
            <a:r>
              <a:rPr lang="es" sz="4000" b="1" dirty="0">
                <a:solidFill>
                  <a:srgbClr val="EAFF6A"/>
                </a:solidFill>
                <a:latin typeface="DM Sans"/>
                <a:ea typeface="DM Sans"/>
                <a:cs typeface="DM Sans"/>
                <a:sym typeface="DM Sans"/>
              </a:rPr>
              <a:t>Break</a:t>
            </a:r>
            <a:endParaRPr sz="4000" b="1" dirty="0">
              <a:solidFill>
                <a:schemeClr val="lt1"/>
              </a:solidFill>
              <a:latin typeface="DM Sans"/>
              <a:ea typeface="DM Sans"/>
              <a:cs typeface="DM Sans"/>
              <a:sym typeface="DM Sans"/>
            </a:endParaRPr>
          </a:p>
        </p:txBody>
      </p:sp>
      <p:sp>
        <p:nvSpPr>
          <p:cNvPr id="8" name="Google Shape;200;p39"/>
          <p:cNvSpPr txBox="1"/>
          <p:nvPr/>
        </p:nvSpPr>
        <p:spPr>
          <a:xfrm>
            <a:off x="2998200" y="2971950"/>
            <a:ext cx="31476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sz="2000" dirty="0">
                <a:solidFill>
                  <a:schemeClr val="lt1"/>
                </a:solidFill>
                <a:latin typeface="DM Sans"/>
                <a:ea typeface="DM Sans"/>
                <a:cs typeface="DM Sans"/>
                <a:sym typeface="DM Sans"/>
              </a:rPr>
              <a:t>¡5 minutos y volvemos!</a:t>
            </a:r>
            <a:endParaRPr sz="2000" dirty="0">
              <a:solidFill>
                <a:schemeClr val="lt1"/>
              </a:solidFill>
              <a:latin typeface="DM Sans"/>
              <a:ea typeface="DM Sans"/>
              <a:cs typeface="DM Sans"/>
              <a:sym typeface="DM Sans"/>
            </a:endParaRPr>
          </a:p>
        </p:txBody>
      </p:sp>
    </p:spTree>
    <p:extLst>
      <p:ext uri="{BB962C8B-B14F-4D97-AF65-F5344CB8AC3E}">
        <p14:creationId xmlns:p14="http://schemas.microsoft.com/office/powerpoint/2010/main" val="5465455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4" name="Google Shape;412;p80"/>
          <p:cNvSpPr txBox="1"/>
          <p:nvPr/>
        </p:nvSpPr>
        <p:spPr>
          <a:xfrm>
            <a:off x="1461300" y="1925250"/>
            <a:ext cx="62214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419" sz="4000" b="1" i="0" u="none" strike="noStrike" cap="none" dirty="0" err="1">
                <a:solidFill>
                  <a:schemeClr val="dk1"/>
                </a:solidFill>
                <a:latin typeface="DM Sans"/>
                <a:ea typeface="DM Sans"/>
                <a:cs typeface="DM Sans"/>
                <a:sym typeface="DM Sans"/>
              </a:rPr>
              <a:t>MySQL</a:t>
            </a:r>
            <a:endParaRPr sz="4000" b="1" i="0" u="none" strike="noStrike" cap="none" dirty="0">
              <a:solidFill>
                <a:schemeClr val="dk1"/>
              </a:solidFill>
              <a:latin typeface="DM Sans"/>
              <a:ea typeface="DM Sans"/>
              <a:cs typeface="DM Sans"/>
              <a:sym typeface="DM Sans"/>
            </a:endParaRPr>
          </a:p>
        </p:txBody>
      </p:sp>
    </p:spTree>
    <p:extLst>
      <p:ext uri="{BB962C8B-B14F-4D97-AF65-F5344CB8AC3E}">
        <p14:creationId xmlns:p14="http://schemas.microsoft.com/office/powerpoint/2010/main" val="11591517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5" name="Google Shape;417;p81"/>
          <p:cNvSpPr txBox="1"/>
          <p:nvPr/>
        </p:nvSpPr>
        <p:spPr>
          <a:xfrm>
            <a:off x="457725" y="1071050"/>
            <a:ext cx="473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419" sz="4000" b="1" i="0" u="none" strike="noStrike" cap="none">
                <a:solidFill>
                  <a:schemeClr val="dk1"/>
                </a:solidFill>
                <a:latin typeface="DM Sans"/>
                <a:ea typeface="DM Sans"/>
                <a:cs typeface="DM Sans"/>
                <a:sym typeface="DM Sans"/>
              </a:rPr>
              <a:t>MySQL</a:t>
            </a:r>
            <a:endParaRPr sz="4000" b="1" i="0" u="none" strike="noStrike" cap="none">
              <a:solidFill>
                <a:schemeClr val="dk1"/>
              </a:solidFill>
              <a:latin typeface="DM Sans"/>
              <a:ea typeface="DM Sans"/>
              <a:cs typeface="DM Sans"/>
              <a:sym typeface="DM Sans"/>
            </a:endParaRPr>
          </a:p>
        </p:txBody>
      </p:sp>
      <p:sp>
        <p:nvSpPr>
          <p:cNvPr id="6" name="Google Shape;418;p81"/>
          <p:cNvSpPr txBox="1"/>
          <p:nvPr/>
        </p:nvSpPr>
        <p:spPr>
          <a:xfrm>
            <a:off x="457725" y="2211625"/>
            <a:ext cx="4730100" cy="1639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100"/>
              <a:buFont typeface="Arial"/>
              <a:buNone/>
            </a:pPr>
            <a:r>
              <a:rPr lang="es-419" sz="1350" i="0" u="none" strike="noStrike" cap="none" dirty="0">
                <a:solidFill>
                  <a:srgbClr val="000000"/>
                </a:solidFill>
                <a:latin typeface="DM Sans"/>
                <a:ea typeface="DM Sans"/>
                <a:cs typeface="DM Sans"/>
                <a:sym typeface="DM Sans"/>
              </a:rPr>
              <a:t>Es un sistema de gestión de Base de datos Relacional.</a:t>
            </a:r>
            <a:endParaRPr sz="1350" i="0" u="none" strike="noStrike" cap="none" dirty="0">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2100"/>
              <a:buFont typeface="Arial"/>
              <a:buNone/>
            </a:pPr>
            <a:endParaRPr sz="1350" i="0" u="none" strike="noStrike" cap="none" dirty="0">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2100"/>
              <a:buFont typeface="Arial"/>
              <a:buNone/>
            </a:pPr>
            <a:r>
              <a:rPr lang="es-419" sz="1350" i="0" u="none" strike="noStrike" cap="none" dirty="0">
                <a:solidFill>
                  <a:srgbClr val="000000"/>
                </a:solidFill>
                <a:latin typeface="DM Sans"/>
                <a:ea typeface="DM Sans"/>
                <a:cs typeface="DM Sans"/>
                <a:sym typeface="DM Sans"/>
              </a:rPr>
              <a:t>ORACLE es su dueño actual, pero mantiene una licencia dual, que le permite tener una opción bajo el estándar open </a:t>
            </a:r>
            <a:r>
              <a:rPr lang="es-419" sz="1350" i="0" u="none" strike="noStrike" cap="none" dirty="0" err="1">
                <a:solidFill>
                  <a:srgbClr val="000000"/>
                </a:solidFill>
                <a:latin typeface="DM Sans"/>
                <a:ea typeface="DM Sans"/>
                <a:cs typeface="DM Sans"/>
                <a:sym typeface="DM Sans"/>
              </a:rPr>
              <a:t>source</a:t>
            </a:r>
            <a:r>
              <a:rPr lang="es-419" sz="1350" i="0" u="none" strike="noStrike" cap="none" dirty="0">
                <a:solidFill>
                  <a:srgbClr val="000000"/>
                </a:solidFill>
                <a:latin typeface="DM Sans"/>
                <a:ea typeface="DM Sans"/>
                <a:cs typeface="DM Sans"/>
                <a:sym typeface="DM Sans"/>
              </a:rPr>
              <a:t> (código abierto).</a:t>
            </a:r>
            <a:endParaRPr sz="1350" i="0" u="none" strike="noStrike" cap="none" dirty="0">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2100"/>
              <a:buFont typeface="Arial"/>
              <a:buNone/>
            </a:pPr>
            <a:endParaRPr sz="1350" b="0" i="0" u="none" strike="noStrike" cap="none" dirty="0">
              <a:solidFill>
                <a:srgbClr val="000000"/>
              </a:solidFill>
              <a:latin typeface="DM Sans"/>
              <a:ea typeface="DM Sans"/>
              <a:cs typeface="DM Sans"/>
              <a:sym typeface="DM Sans"/>
            </a:endParaRPr>
          </a:p>
          <a:p>
            <a:pPr lvl="0">
              <a:buClr>
                <a:schemeClr val="dk1"/>
              </a:buClr>
              <a:buSzPts val="2100"/>
            </a:pPr>
            <a:r>
              <a:rPr lang="es-419" sz="1350" u="sng" dirty="0">
                <a:solidFill>
                  <a:schemeClr val="accent5"/>
                </a:solidFill>
                <a:latin typeface="DM Sans"/>
                <a:ea typeface="DM Sans"/>
                <a:cs typeface="DM Sans"/>
                <a:sym typeface="DM Sans"/>
              </a:rPr>
              <a:t>https://dev.mysql.com/downloads/workbench/ </a:t>
            </a:r>
            <a:endParaRPr sz="1350" b="0" i="0" u="sng" strike="noStrike" cap="none" dirty="0">
              <a:solidFill>
                <a:schemeClr val="accent5"/>
              </a:solidFill>
              <a:latin typeface="DM Sans"/>
              <a:ea typeface="DM Sans"/>
              <a:cs typeface="DM Sans"/>
              <a:sym typeface="DM Sans"/>
            </a:endParaRPr>
          </a:p>
        </p:txBody>
      </p:sp>
      <p:pic>
        <p:nvPicPr>
          <p:cNvPr id="8" name="Google Shape;419;p81"/>
          <p:cNvPicPr preferRelativeResize="0"/>
          <p:nvPr/>
        </p:nvPicPr>
        <p:blipFill rotWithShape="1">
          <a:blip r:embed="rId4">
            <a:alphaModFix/>
          </a:blip>
          <a:srcRect l="9018" r="6221"/>
          <a:stretch/>
        </p:blipFill>
        <p:spPr>
          <a:xfrm>
            <a:off x="5712875" y="1615649"/>
            <a:ext cx="2923973" cy="1707687"/>
          </a:xfrm>
          <a:prstGeom prst="rect">
            <a:avLst/>
          </a:prstGeom>
          <a:noFill/>
          <a:ln>
            <a:noFill/>
          </a:ln>
        </p:spPr>
      </p:pic>
    </p:spTree>
    <p:extLst>
      <p:ext uri="{BB962C8B-B14F-4D97-AF65-F5344CB8AC3E}">
        <p14:creationId xmlns:p14="http://schemas.microsoft.com/office/powerpoint/2010/main" val="3842797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5" name="Google Shape;417;p81"/>
          <p:cNvSpPr txBox="1"/>
          <p:nvPr/>
        </p:nvSpPr>
        <p:spPr>
          <a:xfrm>
            <a:off x="457725" y="1071050"/>
            <a:ext cx="473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419" sz="4000" b="1" i="0" u="none" strike="noStrike" cap="none">
                <a:solidFill>
                  <a:schemeClr val="dk1"/>
                </a:solidFill>
                <a:latin typeface="DM Sans"/>
                <a:ea typeface="DM Sans"/>
                <a:cs typeface="DM Sans"/>
                <a:sym typeface="DM Sans"/>
              </a:rPr>
              <a:t>MySQL</a:t>
            </a:r>
            <a:endParaRPr sz="4000" b="1" i="0" u="none" strike="noStrike" cap="none">
              <a:solidFill>
                <a:schemeClr val="dk1"/>
              </a:solidFill>
              <a:latin typeface="DM Sans"/>
              <a:ea typeface="DM Sans"/>
              <a:cs typeface="DM Sans"/>
              <a:sym typeface="DM Sans"/>
            </a:endParaRPr>
          </a:p>
        </p:txBody>
      </p:sp>
      <p:sp>
        <p:nvSpPr>
          <p:cNvPr id="7" name="Google Shape;425;p82"/>
          <p:cNvSpPr txBox="1"/>
          <p:nvPr/>
        </p:nvSpPr>
        <p:spPr>
          <a:xfrm>
            <a:off x="260697" y="2072667"/>
            <a:ext cx="8628121" cy="2108239"/>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1000"/>
              </a:spcBef>
              <a:spcAft>
                <a:spcPts val="0"/>
              </a:spcAft>
              <a:buClr>
                <a:srgbClr val="000000"/>
              </a:buClr>
              <a:buSzPts val="2500"/>
              <a:buFont typeface="Arial"/>
              <a:buNone/>
            </a:pPr>
            <a:r>
              <a:rPr lang="es-419" sz="2500" dirty="0">
                <a:solidFill>
                  <a:schemeClr val="bg1"/>
                </a:solidFill>
                <a:latin typeface="DM Sans"/>
                <a:ea typeface="DM Sans"/>
                <a:cs typeface="DM Sans"/>
                <a:sym typeface="DM Sans"/>
              </a:rPr>
              <a:t>Observaremos el paso a paso para </a:t>
            </a:r>
            <a:r>
              <a:rPr lang="es-419" sz="2500" dirty="0" err="1">
                <a:solidFill>
                  <a:schemeClr val="bg1"/>
                </a:solidFill>
                <a:latin typeface="DM Sans"/>
                <a:ea typeface="DM Sans"/>
                <a:cs typeface="DM Sans"/>
                <a:sym typeface="DM Sans"/>
              </a:rPr>
              <a:t>instalarMySQL</a:t>
            </a:r>
            <a:r>
              <a:rPr lang="es-419" sz="2500" dirty="0">
                <a:solidFill>
                  <a:schemeClr val="bg1"/>
                </a:solidFill>
                <a:latin typeface="DM Sans"/>
                <a:ea typeface="DM Sans"/>
                <a:cs typeface="DM Sans"/>
                <a:sym typeface="DM Sans"/>
              </a:rPr>
              <a:t> </a:t>
            </a:r>
            <a:r>
              <a:rPr lang="es-419" sz="2500" dirty="0" err="1">
                <a:solidFill>
                  <a:schemeClr val="bg1"/>
                </a:solidFill>
                <a:latin typeface="DM Sans"/>
                <a:ea typeface="DM Sans"/>
                <a:cs typeface="DM Sans"/>
                <a:sym typeface="DM Sans"/>
              </a:rPr>
              <a:t>workbench</a:t>
            </a:r>
            <a:r>
              <a:rPr lang="es-419" sz="2500" dirty="0">
                <a:solidFill>
                  <a:schemeClr val="bg1"/>
                </a:solidFill>
                <a:latin typeface="DM Sans"/>
                <a:ea typeface="DM Sans"/>
                <a:cs typeface="DM Sans"/>
                <a:sym typeface="DM Sans"/>
              </a:rPr>
              <a:t>.</a:t>
            </a:r>
            <a:endParaRPr sz="2500" dirty="0">
              <a:solidFill>
                <a:schemeClr val="bg1"/>
              </a:solidFill>
              <a:latin typeface="DM Sans"/>
              <a:ea typeface="DM Sans"/>
              <a:cs typeface="DM Sans"/>
              <a:sym typeface="DM Sans"/>
            </a:endParaRPr>
          </a:p>
          <a:p>
            <a:pPr marL="0" marR="0" lvl="0" indent="0" algn="l" rtl="0">
              <a:lnSpc>
                <a:spcPct val="100000"/>
              </a:lnSpc>
              <a:spcBef>
                <a:spcPts val="1000"/>
              </a:spcBef>
              <a:spcAft>
                <a:spcPts val="0"/>
              </a:spcAft>
              <a:buClr>
                <a:srgbClr val="000000"/>
              </a:buClr>
              <a:buSzPts val="2500"/>
              <a:buFont typeface="Arial"/>
              <a:buNone/>
            </a:pPr>
            <a:r>
              <a:rPr lang="es-419" sz="2500" dirty="0">
                <a:solidFill>
                  <a:srgbClr val="B7B7B7"/>
                </a:solidFill>
                <a:latin typeface="DM Sans"/>
                <a:ea typeface="DM Sans"/>
                <a:cs typeface="DM Sans"/>
                <a:sym typeface="DM Sans"/>
              </a:rPr>
              <a:t> </a:t>
            </a:r>
            <a:endParaRPr sz="3500" b="1" dirty="0">
              <a:solidFill>
                <a:schemeClr val="accent6"/>
              </a:solidFill>
              <a:latin typeface="DM Sans"/>
              <a:ea typeface="DM Sans"/>
              <a:cs typeface="DM Sans"/>
              <a:sym typeface="DM Sans"/>
            </a:endParaRPr>
          </a:p>
          <a:p>
            <a:pPr marL="0" marR="0" lvl="0" indent="0" algn="l" rtl="0">
              <a:lnSpc>
                <a:spcPct val="100000"/>
              </a:lnSpc>
              <a:spcBef>
                <a:spcPts val="1000"/>
              </a:spcBef>
              <a:spcAft>
                <a:spcPts val="0"/>
              </a:spcAft>
              <a:buClr>
                <a:srgbClr val="000000"/>
              </a:buClr>
              <a:buSzPts val="2500"/>
              <a:buFont typeface="Arial"/>
              <a:buNone/>
            </a:pPr>
            <a:endParaRPr sz="2500" dirty="0">
              <a:solidFill>
                <a:srgbClr val="B7B7B7"/>
              </a:solidFill>
              <a:latin typeface="DM Sans"/>
              <a:ea typeface="DM Sans"/>
              <a:cs typeface="DM Sans"/>
              <a:sym typeface="DM Sans"/>
            </a:endParaRPr>
          </a:p>
        </p:txBody>
      </p:sp>
      <p:sp>
        <p:nvSpPr>
          <p:cNvPr id="9" name="Google Shape;429;p82"/>
          <p:cNvSpPr txBox="1"/>
          <p:nvPr/>
        </p:nvSpPr>
        <p:spPr>
          <a:xfrm>
            <a:off x="302453" y="3560667"/>
            <a:ext cx="50763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2000" dirty="0">
                <a:solidFill>
                  <a:schemeClr val="tx1"/>
                </a:solidFill>
                <a:latin typeface="DM Sans"/>
                <a:ea typeface="DM Sans"/>
                <a:cs typeface="DM Sans"/>
                <a:sym typeface="DM Sans"/>
              </a:rPr>
              <a:t>Duración: 15/20  minutos</a:t>
            </a:r>
            <a:endParaRPr sz="2000" dirty="0">
              <a:solidFill>
                <a:schemeClr val="tx1"/>
              </a:solidFill>
              <a:latin typeface="DM Sans"/>
              <a:ea typeface="DM Sans"/>
              <a:cs typeface="DM Sans"/>
              <a:sym typeface="DM Sans"/>
            </a:endParaRPr>
          </a:p>
        </p:txBody>
      </p:sp>
    </p:spTree>
    <p:extLst>
      <p:ext uri="{BB962C8B-B14F-4D97-AF65-F5344CB8AC3E}">
        <p14:creationId xmlns:p14="http://schemas.microsoft.com/office/powerpoint/2010/main" val="10863010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5" name="Google Shape;417;p81"/>
          <p:cNvSpPr txBox="1"/>
          <p:nvPr/>
        </p:nvSpPr>
        <p:spPr>
          <a:xfrm>
            <a:off x="302453" y="411831"/>
            <a:ext cx="5337019" cy="738633"/>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419" sz="4000" b="1" i="0" u="none" strike="noStrike" cap="none" dirty="0" err="1" smtClean="0">
                <a:solidFill>
                  <a:schemeClr val="dk1"/>
                </a:solidFill>
                <a:latin typeface="DM Sans"/>
                <a:ea typeface="DM Sans"/>
                <a:cs typeface="DM Sans"/>
                <a:sym typeface="DM Sans"/>
              </a:rPr>
              <a:t>MySQL-Instalacion</a:t>
            </a:r>
            <a:endParaRPr sz="4000" b="1" i="0" u="none" strike="noStrike" cap="none" dirty="0">
              <a:solidFill>
                <a:schemeClr val="dk1"/>
              </a:solidFill>
              <a:latin typeface="DM Sans"/>
              <a:ea typeface="DM Sans"/>
              <a:cs typeface="DM Sans"/>
              <a:sym typeface="DM Sans"/>
            </a:endParaRPr>
          </a:p>
        </p:txBody>
      </p:sp>
      <p:pic>
        <p:nvPicPr>
          <p:cNvPr id="3" name="Imagen 2"/>
          <p:cNvPicPr>
            <a:picLocks noChangeAspect="1"/>
          </p:cNvPicPr>
          <p:nvPr/>
        </p:nvPicPr>
        <p:blipFill>
          <a:blip r:embed="rId4"/>
          <a:stretch>
            <a:fillRect/>
          </a:stretch>
        </p:blipFill>
        <p:spPr>
          <a:xfrm>
            <a:off x="1650419" y="1386544"/>
            <a:ext cx="5741899" cy="2596600"/>
          </a:xfrm>
          <a:prstGeom prst="rect">
            <a:avLst/>
          </a:prstGeom>
        </p:spPr>
      </p:pic>
    </p:spTree>
    <p:extLst>
      <p:ext uri="{BB962C8B-B14F-4D97-AF65-F5344CB8AC3E}">
        <p14:creationId xmlns:p14="http://schemas.microsoft.com/office/powerpoint/2010/main" val="8939136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5" name="Google Shape;417;p81"/>
          <p:cNvSpPr txBox="1"/>
          <p:nvPr/>
        </p:nvSpPr>
        <p:spPr>
          <a:xfrm>
            <a:off x="302453" y="411831"/>
            <a:ext cx="5337019" cy="738633"/>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419" sz="4000" b="1" i="0" u="none" strike="noStrike" cap="none" dirty="0" err="1" smtClean="0">
                <a:solidFill>
                  <a:schemeClr val="dk1"/>
                </a:solidFill>
                <a:latin typeface="DM Sans"/>
                <a:ea typeface="DM Sans"/>
                <a:cs typeface="DM Sans"/>
                <a:sym typeface="DM Sans"/>
              </a:rPr>
              <a:t>MySQL-Instalacion</a:t>
            </a:r>
            <a:endParaRPr sz="4000" b="1" i="0" u="none" strike="noStrike" cap="none" dirty="0">
              <a:solidFill>
                <a:schemeClr val="dk1"/>
              </a:solidFill>
              <a:latin typeface="DM Sans"/>
              <a:ea typeface="DM Sans"/>
              <a:cs typeface="DM Sans"/>
              <a:sym typeface="DM Sans"/>
            </a:endParaRPr>
          </a:p>
        </p:txBody>
      </p:sp>
      <p:sp>
        <p:nvSpPr>
          <p:cNvPr id="6" name="Google Shape;418;p81"/>
          <p:cNvSpPr txBox="1"/>
          <p:nvPr/>
        </p:nvSpPr>
        <p:spPr>
          <a:xfrm>
            <a:off x="302453" y="3787037"/>
            <a:ext cx="4730100" cy="60013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100"/>
              <a:buFont typeface="Arial"/>
              <a:buNone/>
            </a:pPr>
            <a:endParaRPr sz="1350" b="0" i="0" u="none" strike="noStrike" cap="none" dirty="0">
              <a:solidFill>
                <a:srgbClr val="000000"/>
              </a:solidFill>
              <a:latin typeface="DM Sans"/>
              <a:ea typeface="DM Sans"/>
              <a:cs typeface="DM Sans"/>
              <a:sym typeface="DM Sans"/>
            </a:endParaRPr>
          </a:p>
          <a:p>
            <a:pPr lvl="0">
              <a:buClr>
                <a:schemeClr val="dk1"/>
              </a:buClr>
              <a:buSzPts val="2100"/>
            </a:pPr>
            <a:r>
              <a:rPr lang="es-419" sz="1350" u="sng" dirty="0">
                <a:solidFill>
                  <a:schemeClr val="accent5"/>
                </a:solidFill>
                <a:latin typeface="DM Sans"/>
                <a:ea typeface="DM Sans"/>
                <a:cs typeface="DM Sans"/>
                <a:sym typeface="DM Sans"/>
              </a:rPr>
              <a:t>https://dev.mysql.com/downloads/workbench/ </a:t>
            </a:r>
            <a:endParaRPr sz="1350" b="0" i="0" u="sng" strike="noStrike" cap="none" dirty="0">
              <a:solidFill>
                <a:schemeClr val="accent5"/>
              </a:solidFill>
              <a:latin typeface="DM Sans"/>
              <a:ea typeface="DM Sans"/>
              <a:cs typeface="DM Sans"/>
              <a:sym typeface="DM Sans"/>
            </a:endParaRPr>
          </a:p>
        </p:txBody>
      </p:sp>
      <p:pic>
        <p:nvPicPr>
          <p:cNvPr id="2" name="Imagen 1"/>
          <p:cNvPicPr>
            <a:picLocks noChangeAspect="1"/>
          </p:cNvPicPr>
          <p:nvPr/>
        </p:nvPicPr>
        <p:blipFill>
          <a:blip r:embed="rId4"/>
          <a:stretch>
            <a:fillRect/>
          </a:stretch>
        </p:blipFill>
        <p:spPr>
          <a:xfrm>
            <a:off x="2167028" y="1286443"/>
            <a:ext cx="4487160" cy="2634955"/>
          </a:xfrm>
          <a:prstGeom prst="rect">
            <a:avLst/>
          </a:prstGeom>
        </p:spPr>
      </p:pic>
    </p:spTree>
    <p:extLst>
      <p:ext uri="{BB962C8B-B14F-4D97-AF65-F5344CB8AC3E}">
        <p14:creationId xmlns:p14="http://schemas.microsoft.com/office/powerpoint/2010/main" val="14405167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5" name="Google Shape;417;p81"/>
          <p:cNvSpPr txBox="1"/>
          <p:nvPr/>
        </p:nvSpPr>
        <p:spPr>
          <a:xfrm>
            <a:off x="302453" y="411831"/>
            <a:ext cx="5337019" cy="738633"/>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419" sz="4000" b="1" i="0" u="none" strike="noStrike" cap="none" dirty="0" smtClean="0">
                <a:solidFill>
                  <a:schemeClr val="dk1"/>
                </a:solidFill>
                <a:latin typeface="DM Sans"/>
                <a:ea typeface="DM Sans"/>
                <a:cs typeface="DM Sans"/>
                <a:sym typeface="DM Sans"/>
              </a:rPr>
              <a:t>No </a:t>
            </a:r>
            <a:r>
              <a:rPr lang="es-419" sz="4000" b="1" i="0" u="none" strike="noStrike" cap="none" dirty="0" err="1" smtClean="0">
                <a:solidFill>
                  <a:schemeClr val="dk1"/>
                </a:solidFill>
                <a:latin typeface="DM Sans"/>
                <a:ea typeface="DM Sans"/>
                <a:cs typeface="DM Sans"/>
                <a:sym typeface="DM Sans"/>
              </a:rPr>
              <a:t>Thanks</a:t>
            </a:r>
            <a:endParaRPr sz="4000" b="1" i="0" u="none" strike="noStrike" cap="none" dirty="0">
              <a:solidFill>
                <a:schemeClr val="dk1"/>
              </a:solidFill>
              <a:latin typeface="DM Sans"/>
              <a:ea typeface="DM Sans"/>
              <a:cs typeface="DM Sans"/>
              <a:sym typeface="DM Sans"/>
            </a:endParaRPr>
          </a:p>
        </p:txBody>
      </p:sp>
      <p:sp>
        <p:nvSpPr>
          <p:cNvPr id="6" name="Google Shape;418;p81"/>
          <p:cNvSpPr txBox="1"/>
          <p:nvPr/>
        </p:nvSpPr>
        <p:spPr>
          <a:xfrm>
            <a:off x="302453" y="3787037"/>
            <a:ext cx="4730100" cy="60013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100"/>
              <a:buFont typeface="Arial"/>
              <a:buNone/>
            </a:pPr>
            <a:endParaRPr sz="1350" b="0" i="0" u="none" strike="noStrike" cap="none" dirty="0">
              <a:solidFill>
                <a:srgbClr val="000000"/>
              </a:solidFill>
              <a:latin typeface="DM Sans"/>
              <a:ea typeface="DM Sans"/>
              <a:cs typeface="DM Sans"/>
              <a:sym typeface="DM Sans"/>
            </a:endParaRPr>
          </a:p>
          <a:p>
            <a:pPr lvl="0">
              <a:buClr>
                <a:schemeClr val="dk1"/>
              </a:buClr>
              <a:buSzPts val="2100"/>
            </a:pPr>
            <a:r>
              <a:rPr lang="es-419" sz="1350" u="sng" dirty="0">
                <a:solidFill>
                  <a:schemeClr val="accent5"/>
                </a:solidFill>
                <a:latin typeface="DM Sans"/>
                <a:ea typeface="DM Sans"/>
                <a:cs typeface="DM Sans"/>
                <a:sym typeface="DM Sans"/>
              </a:rPr>
              <a:t>https://dev.mysql.com/downloads/workbench/ </a:t>
            </a:r>
            <a:endParaRPr sz="1350" b="0" i="0" u="sng" strike="noStrike" cap="none" dirty="0">
              <a:solidFill>
                <a:schemeClr val="accent5"/>
              </a:solidFill>
              <a:latin typeface="DM Sans"/>
              <a:ea typeface="DM Sans"/>
              <a:cs typeface="DM Sans"/>
              <a:sym typeface="DM Sans"/>
            </a:endParaRPr>
          </a:p>
        </p:txBody>
      </p:sp>
      <p:pic>
        <p:nvPicPr>
          <p:cNvPr id="3" name="Imagen 2"/>
          <p:cNvPicPr>
            <a:picLocks noChangeAspect="1"/>
          </p:cNvPicPr>
          <p:nvPr/>
        </p:nvPicPr>
        <p:blipFill>
          <a:blip r:embed="rId4"/>
          <a:stretch>
            <a:fillRect/>
          </a:stretch>
        </p:blipFill>
        <p:spPr>
          <a:xfrm>
            <a:off x="4133016" y="621642"/>
            <a:ext cx="4290869" cy="3165395"/>
          </a:xfrm>
          <a:prstGeom prst="rect">
            <a:avLst/>
          </a:prstGeom>
        </p:spPr>
      </p:pic>
    </p:spTree>
    <p:extLst>
      <p:ext uri="{BB962C8B-B14F-4D97-AF65-F5344CB8AC3E}">
        <p14:creationId xmlns:p14="http://schemas.microsoft.com/office/powerpoint/2010/main" val="27035083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5" name="Google Shape;417;p81"/>
          <p:cNvSpPr txBox="1"/>
          <p:nvPr/>
        </p:nvSpPr>
        <p:spPr>
          <a:xfrm>
            <a:off x="302453" y="411831"/>
            <a:ext cx="6566180" cy="738633"/>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419" sz="4000" b="1" i="0" u="none" strike="noStrike" cap="none" dirty="0" err="1" smtClean="0">
                <a:solidFill>
                  <a:schemeClr val="dk1"/>
                </a:solidFill>
                <a:latin typeface="DM Sans"/>
                <a:ea typeface="DM Sans"/>
                <a:cs typeface="DM Sans"/>
                <a:sym typeface="DM Sans"/>
              </a:rPr>
              <a:t>MySQL</a:t>
            </a:r>
            <a:r>
              <a:rPr lang="es-419" sz="4000" b="1" i="0" u="none" strike="noStrike" cap="none" dirty="0" smtClean="0">
                <a:solidFill>
                  <a:schemeClr val="dk1"/>
                </a:solidFill>
                <a:latin typeface="DM Sans"/>
                <a:ea typeface="DM Sans"/>
                <a:cs typeface="DM Sans"/>
                <a:sym typeface="DM Sans"/>
              </a:rPr>
              <a:t>-</a:t>
            </a:r>
            <a:r>
              <a:rPr lang="es-419" sz="4000" b="1" i="0" u="none" strike="noStrike" cap="none" dirty="0" err="1" smtClean="0">
                <a:solidFill>
                  <a:schemeClr val="dk1"/>
                </a:solidFill>
                <a:latin typeface="DM Sans"/>
                <a:ea typeface="DM Sans"/>
                <a:cs typeface="DM Sans"/>
                <a:sym typeface="DM Sans"/>
              </a:rPr>
              <a:t>Instalacion</a:t>
            </a:r>
            <a:r>
              <a:rPr lang="es-419" sz="4000" b="1" dirty="0" smtClean="0">
                <a:solidFill>
                  <a:schemeClr val="dk1"/>
                </a:solidFill>
                <a:latin typeface="DM Sans"/>
                <a:ea typeface="DM Sans"/>
                <a:cs typeface="DM Sans"/>
                <a:sym typeface="DM Sans"/>
              </a:rPr>
              <a:t>-error</a:t>
            </a:r>
            <a:endParaRPr sz="4000" b="1" i="0" u="none" strike="noStrike" cap="none" dirty="0">
              <a:solidFill>
                <a:schemeClr val="dk1"/>
              </a:solidFill>
              <a:latin typeface="DM Sans"/>
              <a:ea typeface="DM Sans"/>
              <a:cs typeface="DM Sans"/>
              <a:sym typeface="DM Sans"/>
            </a:endParaRPr>
          </a:p>
        </p:txBody>
      </p:sp>
      <p:sp>
        <p:nvSpPr>
          <p:cNvPr id="6" name="Google Shape;418;p81"/>
          <p:cNvSpPr txBox="1"/>
          <p:nvPr/>
        </p:nvSpPr>
        <p:spPr>
          <a:xfrm>
            <a:off x="302453" y="3787037"/>
            <a:ext cx="8203594" cy="60013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100"/>
              <a:buFont typeface="Arial"/>
              <a:buNone/>
            </a:pPr>
            <a:endParaRPr sz="1350" b="0" i="0" u="none" strike="noStrike" cap="none" dirty="0">
              <a:solidFill>
                <a:srgbClr val="000000"/>
              </a:solidFill>
              <a:latin typeface="DM Sans"/>
              <a:ea typeface="DM Sans"/>
              <a:cs typeface="DM Sans"/>
              <a:sym typeface="DM Sans"/>
            </a:endParaRPr>
          </a:p>
          <a:p>
            <a:pPr lvl="0">
              <a:buClr>
                <a:schemeClr val="dk1"/>
              </a:buClr>
              <a:buSzPts val="2100"/>
            </a:pPr>
            <a:r>
              <a:rPr lang="es-419" sz="1350" u="sng" dirty="0">
                <a:solidFill>
                  <a:schemeClr val="accent5"/>
                </a:solidFill>
                <a:latin typeface="DM Sans"/>
                <a:ea typeface="DM Sans"/>
                <a:cs typeface="DM Sans"/>
                <a:sym typeface="DM Sans"/>
              </a:rPr>
              <a:t>https://learn.microsoft.com/en-us/cpp/windows/latest-supported-vc-redist?view=msvc-170/ </a:t>
            </a:r>
            <a:endParaRPr sz="1350" b="0" i="0" u="sng" strike="noStrike" cap="none" dirty="0">
              <a:solidFill>
                <a:schemeClr val="accent5"/>
              </a:solidFill>
              <a:latin typeface="DM Sans"/>
              <a:ea typeface="DM Sans"/>
              <a:cs typeface="DM Sans"/>
              <a:sym typeface="DM Sans"/>
            </a:endParaRPr>
          </a:p>
        </p:txBody>
      </p:sp>
      <p:pic>
        <p:nvPicPr>
          <p:cNvPr id="3" name="Imagen 2"/>
          <p:cNvPicPr>
            <a:picLocks noChangeAspect="1"/>
          </p:cNvPicPr>
          <p:nvPr/>
        </p:nvPicPr>
        <p:blipFill>
          <a:blip r:embed="rId4"/>
          <a:stretch>
            <a:fillRect/>
          </a:stretch>
        </p:blipFill>
        <p:spPr>
          <a:xfrm>
            <a:off x="711112" y="1697118"/>
            <a:ext cx="3334215" cy="1543265"/>
          </a:xfrm>
          <a:prstGeom prst="rect">
            <a:avLst/>
          </a:prstGeom>
        </p:spPr>
      </p:pic>
      <p:pic>
        <p:nvPicPr>
          <p:cNvPr id="4" name="Imagen 3"/>
          <p:cNvPicPr>
            <a:picLocks noChangeAspect="1"/>
          </p:cNvPicPr>
          <p:nvPr/>
        </p:nvPicPr>
        <p:blipFill>
          <a:blip r:embed="rId5"/>
          <a:stretch>
            <a:fillRect/>
          </a:stretch>
        </p:blipFill>
        <p:spPr>
          <a:xfrm>
            <a:off x="4292557" y="1150464"/>
            <a:ext cx="4128430" cy="2762450"/>
          </a:xfrm>
          <a:prstGeom prst="rect">
            <a:avLst/>
          </a:prstGeom>
        </p:spPr>
      </p:pic>
    </p:spTree>
    <p:extLst>
      <p:ext uri="{BB962C8B-B14F-4D97-AF65-F5344CB8AC3E}">
        <p14:creationId xmlns:p14="http://schemas.microsoft.com/office/powerpoint/2010/main" val="29796994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5" name="Google Shape;417;p81"/>
          <p:cNvSpPr txBox="1"/>
          <p:nvPr/>
        </p:nvSpPr>
        <p:spPr>
          <a:xfrm>
            <a:off x="302453" y="411831"/>
            <a:ext cx="6566180" cy="738633"/>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419" sz="4000" b="1" i="0" u="none" strike="noStrike" cap="none" dirty="0" err="1" smtClean="0">
                <a:solidFill>
                  <a:schemeClr val="dk1"/>
                </a:solidFill>
                <a:latin typeface="DM Sans"/>
                <a:ea typeface="DM Sans"/>
                <a:cs typeface="DM Sans"/>
                <a:sym typeface="DM Sans"/>
              </a:rPr>
              <a:t>MySQL</a:t>
            </a:r>
            <a:r>
              <a:rPr lang="es-419" sz="4000" b="1" i="0" u="none" strike="noStrike" cap="none" dirty="0" smtClean="0">
                <a:solidFill>
                  <a:schemeClr val="dk1"/>
                </a:solidFill>
                <a:latin typeface="DM Sans"/>
                <a:ea typeface="DM Sans"/>
                <a:cs typeface="DM Sans"/>
                <a:sym typeface="DM Sans"/>
              </a:rPr>
              <a:t>-</a:t>
            </a:r>
            <a:r>
              <a:rPr lang="es-419" sz="4000" b="1" i="0" u="none" strike="noStrike" cap="none" dirty="0" err="1" smtClean="0">
                <a:solidFill>
                  <a:schemeClr val="dk1"/>
                </a:solidFill>
                <a:latin typeface="DM Sans"/>
                <a:ea typeface="DM Sans"/>
                <a:cs typeface="DM Sans"/>
                <a:sym typeface="DM Sans"/>
              </a:rPr>
              <a:t>Instalacion</a:t>
            </a:r>
            <a:r>
              <a:rPr lang="es-419" sz="4000" b="1" dirty="0" smtClean="0">
                <a:solidFill>
                  <a:schemeClr val="dk1"/>
                </a:solidFill>
                <a:latin typeface="DM Sans"/>
                <a:ea typeface="DM Sans"/>
                <a:cs typeface="DM Sans"/>
                <a:sym typeface="DM Sans"/>
              </a:rPr>
              <a:t>-error</a:t>
            </a:r>
            <a:endParaRPr sz="4000" b="1" i="0" u="none" strike="noStrike" cap="none" dirty="0">
              <a:solidFill>
                <a:schemeClr val="dk1"/>
              </a:solidFill>
              <a:latin typeface="DM Sans"/>
              <a:ea typeface="DM Sans"/>
              <a:cs typeface="DM Sans"/>
              <a:sym typeface="DM Sans"/>
            </a:endParaRPr>
          </a:p>
        </p:txBody>
      </p:sp>
      <p:sp>
        <p:nvSpPr>
          <p:cNvPr id="6" name="Google Shape;418;p81"/>
          <p:cNvSpPr txBox="1"/>
          <p:nvPr/>
        </p:nvSpPr>
        <p:spPr>
          <a:xfrm>
            <a:off x="302453" y="3787037"/>
            <a:ext cx="8203594" cy="60013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100"/>
              <a:buFont typeface="Arial"/>
              <a:buNone/>
            </a:pPr>
            <a:endParaRPr sz="1350" b="0" i="0" u="none" strike="noStrike" cap="none" dirty="0">
              <a:solidFill>
                <a:srgbClr val="000000"/>
              </a:solidFill>
              <a:latin typeface="DM Sans"/>
              <a:ea typeface="DM Sans"/>
              <a:cs typeface="DM Sans"/>
              <a:sym typeface="DM Sans"/>
            </a:endParaRPr>
          </a:p>
          <a:p>
            <a:pPr lvl="0">
              <a:buClr>
                <a:schemeClr val="dk1"/>
              </a:buClr>
              <a:buSzPts val="2100"/>
            </a:pPr>
            <a:r>
              <a:rPr lang="es-419" sz="1350" u="sng" dirty="0">
                <a:solidFill>
                  <a:schemeClr val="accent5"/>
                </a:solidFill>
                <a:latin typeface="DM Sans"/>
                <a:ea typeface="DM Sans"/>
                <a:cs typeface="DM Sans"/>
                <a:sym typeface="DM Sans"/>
              </a:rPr>
              <a:t>https://learn.microsoft.com/en-us/cpp/windows/latest-supported-vc-redist?view=msvc-170/ </a:t>
            </a:r>
            <a:endParaRPr sz="1350" b="0" i="0" u="sng" strike="noStrike" cap="none" dirty="0">
              <a:solidFill>
                <a:schemeClr val="accent5"/>
              </a:solidFill>
              <a:latin typeface="DM Sans"/>
              <a:ea typeface="DM Sans"/>
              <a:cs typeface="DM Sans"/>
              <a:sym typeface="DM Sans"/>
            </a:endParaRPr>
          </a:p>
        </p:txBody>
      </p:sp>
      <p:pic>
        <p:nvPicPr>
          <p:cNvPr id="2" name="Imagen 1"/>
          <p:cNvPicPr>
            <a:picLocks noChangeAspect="1"/>
          </p:cNvPicPr>
          <p:nvPr/>
        </p:nvPicPr>
        <p:blipFill>
          <a:blip r:embed="rId4"/>
          <a:stretch>
            <a:fillRect/>
          </a:stretch>
        </p:blipFill>
        <p:spPr>
          <a:xfrm>
            <a:off x="302453" y="1264594"/>
            <a:ext cx="4344006" cy="2648320"/>
          </a:xfrm>
          <a:prstGeom prst="rect">
            <a:avLst/>
          </a:prstGeom>
        </p:spPr>
      </p:pic>
      <p:pic>
        <p:nvPicPr>
          <p:cNvPr id="3" name="Imagen 2"/>
          <p:cNvPicPr>
            <a:picLocks noChangeAspect="1"/>
          </p:cNvPicPr>
          <p:nvPr/>
        </p:nvPicPr>
        <p:blipFill>
          <a:blip r:embed="rId5"/>
          <a:stretch>
            <a:fillRect/>
          </a:stretch>
        </p:blipFill>
        <p:spPr>
          <a:xfrm>
            <a:off x="5016411" y="1121590"/>
            <a:ext cx="3704444" cy="2808451"/>
          </a:xfrm>
          <a:prstGeom prst="rect">
            <a:avLst/>
          </a:prstGeom>
        </p:spPr>
      </p:pic>
    </p:spTree>
    <p:extLst>
      <p:ext uri="{BB962C8B-B14F-4D97-AF65-F5344CB8AC3E}">
        <p14:creationId xmlns:p14="http://schemas.microsoft.com/office/powerpoint/2010/main" val="18421867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5" name="Google Shape;417;p81"/>
          <p:cNvSpPr txBox="1"/>
          <p:nvPr/>
        </p:nvSpPr>
        <p:spPr>
          <a:xfrm>
            <a:off x="302453" y="411831"/>
            <a:ext cx="6566180" cy="738633"/>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419" sz="4000" b="1" i="0" u="none" strike="noStrike" cap="none" dirty="0" err="1" smtClean="0">
                <a:solidFill>
                  <a:schemeClr val="dk1"/>
                </a:solidFill>
                <a:latin typeface="DM Sans"/>
                <a:ea typeface="DM Sans"/>
                <a:cs typeface="DM Sans"/>
                <a:sym typeface="DM Sans"/>
              </a:rPr>
              <a:t>MySQL-Instalacion</a:t>
            </a:r>
            <a:endParaRPr sz="4000" b="1" i="0" u="none" strike="noStrike" cap="none" dirty="0">
              <a:solidFill>
                <a:schemeClr val="dk1"/>
              </a:solidFill>
              <a:latin typeface="DM Sans"/>
              <a:ea typeface="DM Sans"/>
              <a:cs typeface="DM Sans"/>
              <a:sym typeface="DM Sans"/>
            </a:endParaRPr>
          </a:p>
        </p:txBody>
      </p:sp>
      <p:pic>
        <p:nvPicPr>
          <p:cNvPr id="4" name="Imagen 3"/>
          <p:cNvPicPr>
            <a:picLocks noChangeAspect="1"/>
          </p:cNvPicPr>
          <p:nvPr/>
        </p:nvPicPr>
        <p:blipFill>
          <a:blip r:embed="rId4"/>
          <a:stretch>
            <a:fillRect/>
          </a:stretch>
        </p:blipFill>
        <p:spPr>
          <a:xfrm>
            <a:off x="780283" y="1318437"/>
            <a:ext cx="3653494" cy="2814987"/>
          </a:xfrm>
          <a:prstGeom prst="rect">
            <a:avLst/>
          </a:prstGeom>
        </p:spPr>
      </p:pic>
      <p:pic>
        <p:nvPicPr>
          <p:cNvPr id="7" name="Imagen 6"/>
          <p:cNvPicPr>
            <a:picLocks noChangeAspect="1"/>
          </p:cNvPicPr>
          <p:nvPr/>
        </p:nvPicPr>
        <p:blipFill>
          <a:blip r:embed="rId5"/>
          <a:stretch>
            <a:fillRect/>
          </a:stretch>
        </p:blipFill>
        <p:spPr>
          <a:xfrm>
            <a:off x="5044267" y="1318437"/>
            <a:ext cx="3648731" cy="2787122"/>
          </a:xfrm>
          <a:prstGeom prst="rect">
            <a:avLst/>
          </a:prstGeom>
        </p:spPr>
      </p:pic>
    </p:spTree>
    <p:extLst>
      <p:ext uri="{BB962C8B-B14F-4D97-AF65-F5344CB8AC3E}">
        <p14:creationId xmlns:p14="http://schemas.microsoft.com/office/powerpoint/2010/main" val="32653245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5" name="Google Shape;417;p81"/>
          <p:cNvSpPr txBox="1"/>
          <p:nvPr/>
        </p:nvSpPr>
        <p:spPr>
          <a:xfrm>
            <a:off x="302453" y="411831"/>
            <a:ext cx="6566180" cy="738633"/>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419" sz="4000" b="1" i="0" u="none" strike="noStrike" cap="none" dirty="0" err="1" smtClean="0">
                <a:solidFill>
                  <a:schemeClr val="dk1"/>
                </a:solidFill>
                <a:latin typeface="DM Sans"/>
                <a:ea typeface="DM Sans"/>
                <a:cs typeface="DM Sans"/>
                <a:sym typeface="DM Sans"/>
              </a:rPr>
              <a:t>MySQL-Instalacion</a:t>
            </a:r>
            <a:endParaRPr sz="4000" b="1" i="0" u="none" strike="noStrike" cap="none" dirty="0">
              <a:solidFill>
                <a:schemeClr val="dk1"/>
              </a:solidFill>
              <a:latin typeface="DM Sans"/>
              <a:ea typeface="DM Sans"/>
              <a:cs typeface="DM Sans"/>
              <a:sym typeface="DM Sans"/>
            </a:endParaRPr>
          </a:p>
        </p:txBody>
      </p:sp>
      <p:pic>
        <p:nvPicPr>
          <p:cNvPr id="4" name="Imagen 3"/>
          <p:cNvPicPr>
            <a:picLocks noChangeAspect="1"/>
          </p:cNvPicPr>
          <p:nvPr/>
        </p:nvPicPr>
        <p:blipFill>
          <a:blip r:embed="rId4"/>
          <a:stretch>
            <a:fillRect/>
          </a:stretch>
        </p:blipFill>
        <p:spPr>
          <a:xfrm>
            <a:off x="780283" y="1318437"/>
            <a:ext cx="3653494" cy="2814987"/>
          </a:xfrm>
          <a:prstGeom prst="rect">
            <a:avLst/>
          </a:prstGeom>
        </p:spPr>
      </p:pic>
      <p:pic>
        <p:nvPicPr>
          <p:cNvPr id="7" name="Imagen 6"/>
          <p:cNvPicPr>
            <a:picLocks noChangeAspect="1"/>
          </p:cNvPicPr>
          <p:nvPr/>
        </p:nvPicPr>
        <p:blipFill>
          <a:blip r:embed="rId5"/>
          <a:stretch>
            <a:fillRect/>
          </a:stretch>
        </p:blipFill>
        <p:spPr>
          <a:xfrm>
            <a:off x="5044267" y="1318437"/>
            <a:ext cx="3648731" cy="2787122"/>
          </a:xfrm>
          <a:prstGeom prst="rect">
            <a:avLst/>
          </a:prstGeom>
        </p:spPr>
      </p:pic>
    </p:spTree>
    <p:extLst>
      <p:ext uri="{BB962C8B-B14F-4D97-AF65-F5344CB8AC3E}">
        <p14:creationId xmlns:p14="http://schemas.microsoft.com/office/powerpoint/2010/main" val="22325392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5" name="Google Shape;417;p81"/>
          <p:cNvSpPr txBox="1"/>
          <p:nvPr/>
        </p:nvSpPr>
        <p:spPr>
          <a:xfrm>
            <a:off x="302453" y="411831"/>
            <a:ext cx="6566180" cy="738633"/>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419" sz="4000" b="1" i="0" u="none" strike="noStrike" cap="none" dirty="0" err="1" smtClean="0">
                <a:solidFill>
                  <a:schemeClr val="dk1"/>
                </a:solidFill>
                <a:latin typeface="DM Sans"/>
                <a:ea typeface="DM Sans"/>
                <a:cs typeface="DM Sans"/>
                <a:sym typeface="DM Sans"/>
              </a:rPr>
              <a:t>MySQL</a:t>
            </a:r>
            <a:r>
              <a:rPr lang="es-419" sz="4000" b="1" i="0" u="none" strike="noStrike" cap="none" dirty="0" smtClean="0">
                <a:solidFill>
                  <a:schemeClr val="dk1"/>
                </a:solidFill>
                <a:latin typeface="DM Sans"/>
                <a:ea typeface="DM Sans"/>
                <a:cs typeface="DM Sans"/>
                <a:sym typeface="DM Sans"/>
              </a:rPr>
              <a:t> </a:t>
            </a:r>
            <a:r>
              <a:rPr lang="es-419" sz="4000" b="1" i="0" u="none" strike="noStrike" cap="none" dirty="0" err="1" smtClean="0">
                <a:solidFill>
                  <a:schemeClr val="dk1"/>
                </a:solidFill>
                <a:latin typeface="DM Sans"/>
                <a:ea typeface="DM Sans"/>
                <a:cs typeface="DM Sans"/>
                <a:sym typeface="DM Sans"/>
              </a:rPr>
              <a:t>Community</a:t>
            </a:r>
            <a:endParaRPr sz="4000" b="1" i="0" u="none" strike="noStrike" cap="none" dirty="0">
              <a:solidFill>
                <a:schemeClr val="dk1"/>
              </a:solidFill>
              <a:latin typeface="DM Sans"/>
              <a:ea typeface="DM Sans"/>
              <a:cs typeface="DM Sans"/>
              <a:sym typeface="DM Sans"/>
            </a:endParaRPr>
          </a:p>
        </p:txBody>
      </p:sp>
      <p:sp>
        <p:nvSpPr>
          <p:cNvPr id="6" name="Google Shape;418;p81"/>
          <p:cNvSpPr txBox="1"/>
          <p:nvPr/>
        </p:nvSpPr>
        <p:spPr>
          <a:xfrm>
            <a:off x="302453" y="3923016"/>
            <a:ext cx="8203594" cy="60013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100"/>
              <a:buFont typeface="Arial"/>
              <a:buNone/>
            </a:pPr>
            <a:endParaRPr sz="1350" b="0" i="0" u="none" strike="noStrike" cap="none" dirty="0">
              <a:solidFill>
                <a:srgbClr val="000000"/>
              </a:solidFill>
              <a:latin typeface="DM Sans"/>
              <a:ea typeface="DM Sans"/>
              <a:cs typeface="DM Sans"/>
              <a:sym typeface="DM Sans"/>
            </a:endParaRPr>
          </a:p>
          <a:p>
            <a:pPr lvl="0">
              <a:buClr>
                <a:schemeClr val="dk1"/>
              </a:buClr>
              <a:buSzPts val="2100"/>
            </a:pPr>
            <a:r>
              <a:rPr lang="es-419" sz="1350" u="sng" dirty="0">
                <a:solidFill>
                  <a:schemeClr val="accent5"/>
                </a:solidFill>
                <a:latin typeface="DM Sans"/>
                <a:ea typeface="DM Sans"/>
                <a:cs typeface="DM Sans"/>
                <a:sym typeface="DM Sans"/>
              </a:rPr>
              <a:t>https://dev.mysql.com/downloads/mysql// </a:t>
            </a:r>
            <a:endParaRPr sz="1350" b="0" i="0" u="sng" strike="noStrike" cap="none" dirty="0">
              <a:solidFill>
                <a:schemeClr val="accent5"/>
              </a:solidFill>
              <a:latin typeface="DM Sans"/>
              <a:ea typeface="DM Sans"/>
              <a:cs typeface="DM Sans"/>
              <a:sym typeface="DM Sans"/>
            </a:endParaRPr>
          </a:p>
        </p:txBody>
      </p:sp>
      <p:pic>
        <p:nvPicPr>
          <p:cNvPr id="2" name="Imagen 1"/>
          <p:cNvPicPr>
            <a:picLocks noChangeAspect="1"/>
          </p:cNvPicPr>
          <p:nvPr/>
        </p:nvPicPr>
        <p:blipFill>
          <a:blip r:embed="rId4"/>
          <a:stretch>
            <a:fillRect/>
          </a:stretch>
        </p:blipFill>
        <p:spPr>
          <a:xfrm>
            <a:off x="383077" y="1139485"/>
            <a:ext cx="4316513" cy="2947619"/>
          </a:xfrm>
          <a:prstGeom prst="rect">
            <a:avLst/>
          </a:prstGeom>
        </p:spPr>
      </p:pic>
      <p:pic>
        <p:nvPicPr>
          <p:cNvPr id="3" name="Imagen 2"/>
          <p:cNvPicPr>
            <a:picLocks noChangeAspect="1"/>
          </p:cNvPicPr>
          <p:nvPr/>
        </p:nvPicPr>
        <p:blipFill>
          <a:blip r:embed="rId5"/>
          <a:stretch>
            <a:fillRect/>
          </a:stretch>
        </p:blipFill>
        <p:spPr>
          <a:xfrm>
            <a:off x="5043488" y="1150464"/>
            <a:ext cx="3811538" cy="2947801"/>
          </a:xfrm>
          <a:prstGeom prst="rect">
            <a:avLst/>
          </a:prstGeom>
        </p:spPr>
      </p:pic>
    </p:spTree>
    <p:extLst>
      <p:ext uri="{BB962C8B-B14F-4D97-AF65-F5344CB8AC3E}">
        <p14:creationId xmlns:p14="http://schemas.microsoft.com/office/powerpoint/2010/main" val="21025760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5" name="Google Shape;417;p81"/>
          <p:cNvSpPr txBox="1"/>
          <p:nvPr/>
        </p:nvSpPr>
        <p:spPr>
          <a:xfrm>
            <a:off x="302453" y="411831"/>
            <a:ext cx="6566180" cy="738633"/>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419" sz="4000" b="1" i="0" u="none" strike="noStrike" cap="none" dirty="0" err="1" smtClean="0">
                <a:solidFill>
                  <a:schemeClr val="dk1"/>
                </a:solidFill>
                <a:latin typeface="DM Sans"/>
                <a:ea typeface="DM Sans"/>
                <a:cs typeface="DM Sans"/>
                <a:sym typeface="DM Sans"/>
              </a:rPr>
              <a:t>MySQL</a:t>
            </a:r>
            <a:r>
              <a:rPr lang="es-419" sz="4000" b="1" i="0" u="none" strike="noStrike" cap="none" dirty="0" smtClean="0">
                <a:solidFill>
                  <a:schemeClr val="dk1"/>
                </a:solidFill>
                <a:latin typeface="DM Sans"/>
                <a:ea typeface="DM Sans"/>
                <a:cs typeface="DM Sans"/>
                <a:sym typeface="DM Sans"/>
              </a:rPr>
              <a:t> </a:t>
            </a:r>
            <a:r>
              <a:rPr lang="es-419" sz="4000" b="1" i="0" u="none" strike="noStrike" cap="none" dirty="0" err="1" smtClean="0">
                <a:solidFill>
                  <a:schemeClr val="dk1"/>
                </a:solidFill>
                <a:latin typeface="DM Sans"/>
                <a:ea typeface="DM Sans"/>
                <a:cs typeface="DM Sans"/>
                <a:sym typeface="DM Sans"/>
              </a:rPr>
              <a:t>Community</a:t>
            </a:r>
            <a:endParaRPr sz="4000" b="1" i="0" u="none" strike="noStrike" cap="none" dirty="0">
              <a:solidFill>
                <a:schemeClr val="dk1"/>
              </a:solidFill>
              <a:latin typeface="DM Sans"/>
              <a:ea typeface="DM Sans"/>
              <a:cs typeface="DM Sans"/>
              <a:sym typeface="DM Sans"/>
            </a:endParaRPr>
          </a:p>
        </p:txBody>
      </p:sp>
      <p:sp>
        <p:nvSpPr>
          <p:cNvPr id="6" name="Google Shape;418;p81"/>
          <p:cNvSpPr txBox="1"/>
          <p:nvPr/>
        </p:nvSpPr>
        <p:spPr>
          <a:xfrm>
            <a:off x="302453" y="3923016"/>
            <a:ext cx="8203594" cy="60013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100"/>
              <a:buFont typeface="Arial"/>
              <a:buNone/>
            </a:pPr>
            <a:endParaRPr sz="1350" b="0" i="0" u="none" strike="noStrike" cap="none" dirty="0">
              <a:solidFill>
                <a:srgbClr val="000000"/>
              </a:solidFill>
              <a:latin typeface="DM Sans"/>
              <a:ea typeface="DM Sans"/>
              <a:cs typeface="DM Sans"/>
              <a:sym typeface="DM Sans"/>
            </a:endParaRPr>
          </a:p>
          <a:p>
            <a:pPr lvl="0">
              <a:buClr>
                <a:schemeClr val="dk1"/>
              </a:buClr>
              <a:buSzPts val="2100"/>
            </a:pPr>
            <a:r>
              <a:rPr lang="es-419" sz="1350" u="sng" dirty="0">
                <a:solidFill>
                  <a:schemeClr val="accent5"/>
                </a:solidFill>
                <a:latin typeface="DM Sans"/>
                <a:ea typeface="DM Sans"/>
                <a:cs typeface="DM Sans"/>
                <a:sym typeface="DM Sans"/>
              </a:rPr>
              <a:t>https://dev.mysql.com/downloads/mysql// </a:t>
            </a:r>
            <a:endParaRPr sz="1350" b="0" i="0" u="sng" strike="noStrike" cap="none" dirty="0">
              <a:solidFill>
                <a:schemeClr val="accent5"/>
              </a:solidFill>
              <a:latin typeface="DM Sans"/>
              <a:ea typeface="DM Sans"/>
              <a:cs typeface="DM Sans"/>
              <a:sym typeface="DM Sans"/>
            </a:endParaRPr>
          </a:p>
        </p:txBody>
      </p:sp>
      <p:pic>
        <p:nvPicPr>
          <p:cNvPr id="4" name="Imagen 3"/>
          <p:cNvPicPr>
            <a:picLocks noChangeAspect="1"/>
          </p:cNvPicPr>
          <p:nvPr/>
        </p:nvPicPr>
        <p:blipFill>
          <a:blip r:embed="rId4"/>
          <a:stretch>
            <a:fillRect/>
          </a:stretch>
        </p:blipFill>
        <p:spPr>
          <a:xfrm>
            <a:off x="706491" y="1286579"/>
            <a:ext cx="3769816" cy="2872708"/>
          </a:xfrm>
          <a:prstGeom prst="rect">
            <a:avLst/>
          </a:prstGeom>
        </p:spPr>
      </p:pic>
      <p:pic>
        <p:nvPicPr>
          <p:cNvPr id="7" name="Imagen 6"/>
          <p:cNvPicPr>
            <a:picLocks noChangeAspect="1"/>
          </p:cNvPicPr>
          <p:nvPr/>
        </p:nvPicPr>
        <p:blipFill>
          <a:blip r:embed="rId5"/>
          <a:stretch>
            <a:fillRect/>
          </a:stretch>
        </p:blipFill>
        <p:spPr>
          <a:xfrm>
            <a:off x="4604778" y="1452134"/>
            <a:ext cx="4188348" cy="1563796"/>
          </a:xfrm>
          <a:prstGeom prst="rect">
            <a:avLst/>
          </a:prstGeom>
        </p:spPr>
      </p:pic>
    </p:spTree>
    <p:extLst>
      <p:ext uri="{BB962C8B-B14F-4D97-AF65-F5344CB8AC3E}">
        <p14:creationId xmlns:p14="http://schemas.microsoft.com/office/powerpoint/2010/main" val="9451168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5" name="Google Shape;417;p81"/>
          <p:cNvSpPr txBox="1"/>
          <p:nvPr/>
        </p:nvSpPr>
        <p:spPr>
          <a:xfrm>
            <a:off x="302453" y="411831"/>
            <a:ext cx="6566180" cy="738633"/>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419" sz="4000" b="1" i="0" u="none" strike="noStrike" cap="none" dirty="0" err="1" smtClean="0">
                <a:solidFill>
                  <a:schemeClr val="dk1"/>
                </a:solidFill>
                <a:latin typeface="DM Sans"/>
                <a:ea typeface="DM Sans"/>
                <a:cs typeface="DM Sans"/>
                <a:sym typeface="DM Sans"/>
              </a:rPr>
              <a:t>MySQL</a:t>
            </a:r>
            <a:r>
              <a:rPr lang="es-419" sz="4000" b="1" i="0" u="none" strike="noStrike" cap="none" dirty="0" smtClean="0">
                <a:solidFill>
                  <a:schemeClr val="dk1"/>
                </a:solidFill>
                <a:latin typeface="DM Sans"/>
                <a:ea typeface="DM Sans"/>
                <a:cs typeface="DM Sans"/>
                <a:sym typeface="DM Sans"/>
              </a:rPr>
              <a:t> </a:t>
            </a:r>
            <a:r>
              <a:rPr lang="es-419" sz="4000" b="1" i="0" u="none" strike="noStrike" cap="none" dirty="0" err="1" smtClean="0">
                <a:solidFill>
                  <a:schemeClr val="dk1"/>
                </a:solidFill>
                <a:latin typeface="DM Sans"/>
                <a:ea typeface="DM Sans"/>
                <a:cs typeface="DM Sans"/>
                <a:sym typeface="DM Sans"/>
              </a:rPr>
              <a:t>Community</a:t>
            </a:r>
            <a:endParaRPr sz="4000" b="1" i="0" u="none" strike="noStrike" cap="none" dirty="0">
              <a:solidFill>
                <a:schemeClr val="dk1"/>
              </a:solidFill>
              <a:latin typeface="DM Sans"/>
              <a:ea typeface="DM Sans"/>
              <a:cs typeface="DM Sans"/>
              <a:sym typeface="DM Sans"/>
            </a:endParaRPr>
          </a:p>
        </p:txBody>
      </p:sp>
      <p:sp>
        <p:nvSpPr>
          <p:cNvPr id="6" name="Google Shape;418;p81"/>
          <p:cNvSpPr txBox="1"/>
          <p:nvPr/>
        </p:nvSpPr>
        <p:spPr>
          <a:xfrm>
            <a:off x="302453" y="3923016"/>
            <a:ext cx="8203594" cy="60013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100"/>
              <a:buFont typeface="Arial"/>
              <a:buNone/>
            </a:pPr>
            <a:endParaRPr sz="1350" b="0" i="0" u="none" strike="noStrike" cap="none" dirty="0">
              <a:solidFill>
                <a:srgbClr val="000000"/>
              </a:solidFill>
              <a:latin typeface="DM Sans"/>
              <a:ea typeface="DM Sans"/>
              <a:cs typeface="DM Sans"/>
              <a:sym typeface="DM Sans"/>
            </a:endParaRPr>
          </a:p>
          <a:p>
            <a:pPr lvl="0">
              <a:buClr>
                <a:schemeClr val="dk1"/>
              </a:buClr>
              <a:buSzPts val="2100"/>
            </a:pPr>
            <a:r>
              <a:rPr lang="es-419" sz="1350" u="sng" dirty="0">
                <a:solidFill>
                  <a:schemeClr val="accent5"/>
                </a:solidFill>
                <a:latin typeface="DM Sans"/>
                <a:ea typeface="DM Sans"/>
                <a:cs typeface="DM Sans"/>
                <a:sym typeface="DM Sans"/>
              </a:rPr>
              <a:t>https://dev.mysql.com/downloads/mysql// </a:t>
            </a:r>
            <a:endParaRPr sz="1350" b="0" i="0" u="sng" strike="noStrike" cap="none" dirty="0">
              <a:solidFill>
                <a:schemeClr val="accent5"/>
              </a:solidFill>
              <a:latin typeface="DM Sans"/>
              <a:ea typeface="DM Sans"/>
              <a:cs typeface="DM Sans"/>
              <a:sym typeface="DM Sans"/>
            </a:endParaRPr>
          </a:p>
        </p:txBody>
      </p:sp>
      <p:pic>
        <p:nvPicPr>
          <p:cNvPr id="2" name="Imagen 1"/>
          <p:cNvPicPr>
            <a:picLocks noChangeAspect="1"/>
          </p:cNvPicPr>
          <p:nvPr/>
        </p:nvPicPr>
        <p:blipFill>
          <a:blip r:embed="rId4"/>
          <a:stretch>
            <a:fillRect/>
          </a:stretch>
        </p:blipFill>
        <p:spPr>
          <a:xfrm>
            <a:off x="2172124" y="1371716"/>
            <a:ext cx="4069188" cy="2851367"/>
          </a:xfrm>
          <a:prstGeom prst="rect">
            <a:avLst/>
          </a:prstGeom>
        </p:spPr>
      </p:pic>
    </p:spTree>
    <p:extLst>
      <p:ext uri="{BB962C8B-B14F-4D97-AF65-F5344CB8AC3E}">
        <p14:creationId xmlns:p14="http://schemas.microsoft.com/office/powerpoint/2010/main" val="31433088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9" name="Google Shape;429;p82"/>
          <p:cNvSpPr txBox="1"/>
          <p:nvPr/>
        </p:nvSpPr>
        <p:spPr>
          <a:xfrm>
            <a:off x="302453" y="3560667"/>
            <a:ext cx="50763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2000" dirty="0">
                <a:solidFill>
                  <a:schemeClr val="tx1"/>
                </a:solidFill>
                <a:latin typeface="DM Sans"/>
                <a:ea typeface="DM Sans"/>
                <a:cs typeface="DM Sans"/>
                <a:sym typeface="DM Sans"/>
              </a:rPr>
              <a:t>Duración: </a:t>
            </a:r>
            <a:r>
              <a:rPr lang="es-419" sz="2000" dirty="0" smtClean="0">
                <a:solidFill>
                  <a:schemeClr val="tx1"/>
                </a:solidFill>
                <a:latin typeface="DM Sans"/>
                <a:ea typeface="DM Sans"/>
                <a:cs typeface="DM Sans"/>
                <a:sym typeface="DM Sans"/>
              </a:rPr>
              <a:t>20  </a:t>
            </a:r>
            <a:r>
              <a:rPr lang="es-419" sz="2000" dirty="0">
                <a:solidFill>
                  <a:schemeClr val="tx1"/>
                </a:solidFill>
                <a:latin typeface="DM Sans"/>
                <a:ea typeface="DM Sans"/>
                <a:cs typeface="DM Sans"/>
                <a:sym typeface="DM Sans"/>
              </a:rPr>
              <a:t>minutos</a:t>
            </a:r>
            <a:endParaRPr sz="2000" dirty="0">
              <a:solidFill>
                <a:schemeClr val="tx1"/>
              </a:solidFill>
              <a:latin typeface="DM Sans"/>
              <a:ea typeface="DM Sans"/>
              <a:cs typeface="DM Sans"/>
              <a:sym typeface="DM Sans"/>
            </a:endParaRPr>
          </a:p>
        </p:txBody>
      </p:sp>
      <p:sp>
        <p:nvSpPr>
          <p:cNvPr id="6" name="Google Shape;434;p83"/>
          <p:cNvSpPr txBox="1"/>
          <p:nvPr/>
        </p:nvSpPr>
        <p:spPr>
          <a:xfrm>
            <a:off x="260697" y="816416"/>
            <a:ext cx="7169400" cy="6696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500"/>
              <a:buFont typeface="Arial"/>
              <a:buNone/>
            </a:pPr>
            <a:r>
              <a:rPr lang="es-419" sz="3500" b="1" i="0" u="none" strike="noStrike" cap="none">
                <a:solidFill>
                  <a:srgbClr val="EAFF6A"/>
                </a:solidFill>
                <a:latin typeface="DM Sans"/>
                <a:ea typeface="DM Sans"/>
                <a:cs typeface="DM Sans"/>
                <a:sym typeface="DM Sans"/>
              </a:rPr>
              <a:t>MySQL workbench</a:t>
            </a:r>
            <a:endParaRPr sz="3500" b="1" i="0" u="none" strike="noStrike" cap="none">
              <a:solidFill>
                <a:srgbClr val="EAFF6A"/>
              </a:solidFill>
              <a:latin typeface="DM Sans"/>
              <a:ea typeface="DM Sans"/>
              <a:cs typeface="DM Sans"/>
              <a:sym typeface="DM Sans"/>
            </a:endParaRPr>
          </a:p>
        </p:txBody>
      </p:sp>
      <p:sp>
        <p:nvSpPr>
          <p:cNvPr id="10" name="Google Shape;435;p83"/>
          <p:cNvSpPr txBox="1"/>
          <p:nvPr/>
        </p:nvSpPr>
        <p:spPr>
          <a:xfrm>
            <a:off x="260697" y="1853741"/>
            <a:ext cx="6806700" cy="108231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1000"/>
              </a:spcBef>
              <a:spcAft>
                <a:spcPts val="0"/>
              </a:spcAft>
              <a:buClr>
                <a:srgbClr val="000000"/>
              </a:buClr>
              <a:buSzPts val="2500"/>
              <a:buFont typeface="Arial"/>
              <a:buNone/>
            </a:pPr>
            <a:r>
              <a:rPr lang="es-419" sz="2500" b="0" i="0" u="none" strike="noStrike" cap="none" dirty="0">
                <a:solidFill>
                  <a:schemeClr val="bg1"/>
                </a:solidFill>
                <a:latin typeface="DM Sans"/>
                <a:ea typeface="DM Sans"/>
                <a:cs typeface="DM Sans"/>
                <a:sym typeface="DM Sans"/>
              </a:rPr>
              <a:t>Conozcamos este sistema de gestión de base de datos, y sus principales herramientas.</a:t>
            </a:r>
            <a:endParaRPr sz="2500" b="1" i="0" u="none" strike="noStrike" cap="none" dirty="0">
              <a:solidFill>
                <a:schemeClr val="bg1"/>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13121186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6" name="Google Shape;434;p83"/>
          <p:cNvSpPr txBox="1"/>
          <p:nvPr/>
        </p:nvSpPr>
        <p:spPr>
          <a:xfrm>
            <a:off x="246103" y="339483"/>
            <a:ext cx="7169400" cy="6696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500"/>
              <a:buFont typeface="Arial"/>
              <a:buNone/>
            </a:pPr>
            <a:r>
              <a:rPr lang="es-419" sz="3500" b="1" i="0" u="none" strike="noStrike" cap="none" dirty="0" err="1">
                <a:solidFill>
                  <a:srgbClr val="EAFF6A"/>
                </a:solidFill>
                <a:latin typeface="DM Sans"/>
                <a:ea typeface="DM Sans"/>
                <a:cs typeface="DM Sans"/>
                <a:sym typeface="DM Sans"/>
              </a:rPr>
              <a:t>MySQL</a:t>
            </a:r>
            <a:r>
              <a:rPr lang="es-419" sz="3500" b="1" i="0" u="none" strike="noStrike" cap="none" dirty="0">
                <a:solidFill>
                  <a:srgbClr val="EAFF6A"/>
                </a:solidFill>
                <a:latin typeface="DM Sans"/>
                <a:ea typeface="DM Sans"/>
                <a:cs typeface="DM Sans"/>
                <a:sym typeface="DM Sans"/>
              </a:rPr>
              <a:t> </a:t>
            </a:r>
            <a:r>
              <a:rPr lang="es-419" sz="3500" b="1" i="0" u="none" strike="noStrike" cap="none" dirty="0" err="1">
                <a:solidFill>
                  <a:srgbClr val="EAFF6A"/>
                </a:solidFill>
                <a:latin typeface="DM Sans"/>
                <a:ea typeface="DM Sans"/>
                <a:cs typeface="DM Sans"/>
                <a:sym typeface="DM Sans"/>
              </a:rPr>
              <a:t>workbench</a:t>
            </a:r>
            <a:endParaRPr sz="3500" b="1" i="0" u="none" strike="noStrike" cap="none" dirty="0">
              <a:solidFill>
                <a:srgbClr val="EAFF6A"/>
              </a:solidFill>
              <a:latin typeface="DM Sans"/>
              <a:ea typeface="DM Sans"/>
              <a:cs typeface="DM Sans"/>
              <a:sym typeface="DM Sans"/>
            </a:endParaRPr>
          </a:p>
        </p:txBody>
      </p:sp>
      <p:pic>
        <p:nvPicPr>
          <p:cNvPr id="2" name="Imagen 1"/>
          <p:cNvPicPr>
            <a:picLocks noChangeAspect="1"/>
          </p:cNvPicPr>
          <p:nvPr/>
        </p:nvPicPr>
        <p:blipFill>
          <a:blip r:embed="rId4"/>
          <a:stretch>
            <a:fillRect/>
          </a:stretch>
        </p:blipFill>
        <p:spPr>
          <a:xfrm>
            <a:off x="929236" y="1078414"/>
            <a:ext cx="6624492" cy="3444736"/>
          </a:xfrm>
          <a:prstGeom prst="rect">
            <a:avLst/>
          </a:prstGeom>
        </p:spPr>
      </p:pic>
    </p:spTree>
    <p:extLst>
      <p:ext uri="{BB962C8B-B14F-4D97-AF65-F5344CB8AC3E}">
        <p14:creationId xmlns:p14="http://schemas.microsoft.com/office/powerpoint/2010/main" val="2763557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6" name="Google Shape;434;p83"/>
          <p:cNvSpPr txBox="1"/>
          <p:nvPr/>
        </p:nvSpPr>
        <p:spPr>
          <a:xfrm>
            <a:off x="246103" y="339483"/>
            <a:ext cx="7169400" cy="6696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500"/>
              <a:buFont typeface="Arial"/>
              <a:buNone/>
            </a:pPr>
            <a:r>
              <a:rPr lang="es-419" sz="3500" b="1" i="0" u="none" strike="noStrike" cap="none" dirty="0" err="1">
                <a:solidFill>
                  <a:srgbClr val="EAFF6A"/>
                </a:solidFill>
                <a:latin typeface="DM Sans"/>
                <a:ea typeface="DM Sans"/>
                <a:cs typeface="DM Sans"/>
                <a:sym typeface="DM Sans"/>
              </a:rPr>
              <a:t>MySQL</a:t>
            </a:r>
            <a:r>
              <a:rPr lang="es-419" sz="3500" b="1" i="0" u="none" strike="noStrike" cap="none" dirty="0">
                <a:solidFill>
                  <a:srgbClr val="EAFF6A"/>
                </a:solidFill>
                <a:latin typeface="DM Sans"/>
                <a:ea typeface="DM Sans"/>
                <a:cs typeface="DM Sans"/>
                <a:sym typeface="DM Sans"/>
              </a:rPr>
              <a:t> </a:t>
            </a:r>
            <a:r>
              <a:rPr lang="es-419" sz="3500" b="1" i="0" u="none" strike="noStrike" cap="none" dirty="0" err="1" smtClean="0">
                <a:solidFill>
                  <a:srgbClr val="EAFF6A"/>
                </a:solidFill>
                <a:latin typeface="DM Sans"/>
                <a:ea typeface="DM Sans"/>
                <a:cs typeface="DM Sans"/>
                <a:sym typeface="DM Sans"/>
              </a:rPr>
              <a:t>workbench</a:t>
            </a:r>
            <a:r>
              <a:rPr lang="es-419" sz="3500" b="1" i="0" u="none" strike="noStrike" cap="none" dirty="0" smtClean="0">
                <a:solidFill>
                  <a:srgbClr val="EAFF6A"/>
                </a:solidFill>
                <a:latin typeface="DM Sans"/>
                <a:ea typeface="DM Sans"/>
                <a:cs typeface="DM Sans"/>
                <a:sym typeface="DM Sans"/>
              </a:rPr>
              <a:t> </a:t>
            </a:r>
            <a:r>
              <a:rPr lang="es-419" sz="3500" b="1" i="0" u="none" strike="noStrike" cap="none" dirty="0" err="1" smtClean="0">
                <a:solidFill>
                  <a:srgbClr val="EAFF6A"/>
                </a:solidFill>
                <a:latin typeface="DM Sans"/>
                <a:ea typeface="DM Sans"/>
                <a:cs typeface="DM Sans"/>
                <a:sym typeface="DM Sans"/>
              </a:rPr>
              <a:t>Connection</a:t>
            </a:r>
            <a:endParaRPr sz="3500" b="1" i="0" u="none" strike="noStrike" cap="none" dirty="0">
              <a:solidFill>
                <a:srgbClr val="EAFF6A"/>
              </a:solidFill>
              <a:latin typeface="DM Sans"/>
              <a:ea typeface="DM Sans"/>
              <a:cs typeface="DM Sans"/>
              <a:sym typeface="DM Sans"/>
            </a:endParaRPr>
          </a:p>
        </p:txBody>
      </p:sp>
      <p:pic>
        <p:nvPicPr>
          <p:cNvPr id="3" name="Imagen 2"/>
          <p:cNvPicPr>
            <a:picLocks noChangeAspect="1"/>
          </p:cNvPicPr>
          <p:nvPr/>
        </p:nvPicPr>
        <p:blipFill>
          <a:blip r:embed="rId4"/>
          <a:stretch>
            <a:fillRect/>
          </a:stretch>
        </p:blipFill>
        <p:spPr>
          <a:xfrm>
            <a:off x="853076" y="1009083"/>
            <a:ext cx="5515828" cy="3444751"/>
          </a:xfrm>
          <a:prstGeom prst="rect">
            <a:avLst/>
          </a:prstGeom>
        </p:spPr>
      </p:pic>
      <p:pic>
        <p:nvPicPr>
          <p:cNvPr id="4" name="Imagen 3"/>
          <p:cNvPicPr>
            <a:picLocks noChangeAspect="1"/>
          </p:cNvPicPr>
          <p:nvPr/>
        </p:nvPicPr>
        <p:blipFill>
          <a:blip r:embed="rId5"/>
          <a:stretch>
            <a:fillRect/>
          </a:stretch>
        </p:blipFill>
        <p:spPr>
          <a:xfrm>
            <a:off x="6467101" y="1009083"/>
            <a:ext cx="2676899" cy="924054"/>
          </a:xfrm>
          <a:prstGeom prst="rect">
            <a:avLst/>
          </a:prstGeom>
        </p:spPr>
      </p:pic>
      <p:pic>
        <p:nvPicPr>
          <p:cNvPr id="7" name="Imagen 6"/>
          <p:cNvPicPr>
            <a:picLocks noChangeAspect="1"/>
          </p:cNvPicPr>
          <p:nvPr/>
        </p:nvPicPr>
        <p:blipFill>
          <a:blip r:embed="rId6"/>
          <a:stretch>
            <a:fillRect/>
          </a:stretch>
        </p:blipFill>
        <p:spPr>
          <a:xfrm>
            <a:off x="6368904" y="2444164"/>
            <a:ext cx="2769177" cy="2009670"/>
          </a:xfrm>
          <a:prstGeom prst="rect">
            <a:avLst/>
          </a:prstGeom>
        </p:spPr>
      </p:pic>
    </p:spTree>
    <p:extLst>
      <p:ext uri="{BB962C8B-B14F-4D97-AF65-F5344CB8AC3E}">
        <p14:creationId xmlns:p14="http://schemas.microsoft.com/office/powerpoint/2010/main" val="26454814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6" name="Google Shape;434;p83"/>
          <p:cNvSpPr txBox="1"/>
          <p:nvPr/>
        </p:nvSpPr>
        <p:spPr>
          <a:xfrm>
            <a:off x="260697" y="816416"/>
            <a:ext cx="7169400" cy="6696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500"/>
              <a:buFont typeface="Arial"/>
              <a:buNone/>
            </a:pPr>
            <a:r>
              <a:rPr lang="es-419" sz="3500" b="1" i="0" u="none" strike="noStrike" cap="none">
                <a:solidFill>
                  <a:srgbClr val="EAFF6A"/>
                </a:solidFill>
                <a:latin typeface="DM Sans"/>
                <a:ea typeface="DM Sans"/>
                <a:cs typeface="DM Sans"/>
                <a:sym typeface="DM Sans"/>
              </a:rPr>
              <a:t>MySQL workbench</a:t>
            </a:r>
            <a:endParaRPr sz="3500" b="1" i="0" u="none" strike="noStrike" cap="none">
              <a:solidFill>
                <a:srgbClr val="EAFF6A"/>
              </a:solidFill>
              <a:latin typeface="DM Sans"/>
              <a:ea typeface="DM Sans"/>
              <a:cs typeface="DM Sans"/>
              <a:sym typeface="DM Sans"/>
            </a:endParaRPr>
          </a:p>
        </p:txBody>
      </p:sp>
      <p:sp>
        <p:nvSpPr>
          <p:cNvPr id="7" name="Google Shape;446;p84"/>
          <p:cNvSpPr txBox="1"/>
          <p:nvPr/>
        </p:nvSpPr>
        <p:spPr>
          <a:xfrm>
            <a:off x="260697" y="2079698"/>
            <a:ext cx="4987200" cy="1639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419" sz="1350" b="0" i="0" u="none" strike="noStrike" cap="none" dirty="0">
                <a:solidFill>
                  <a:schemeClr val="bg1"/>
                </a:solidFill>
                <a:latin typeface="DM Sans"/>
                <a:ea typeface="DM Sans"/>
                <a:cs typeface="DM Sans"/>
                <a:sym typeface="DM Sans"/>
              </a:rPr>
              <a:t>Es una herramienta visual que permite crear y gestionar bases de datos de forma gráfica.</a:t>
            </a:r>
            <a:endParaRPr sz="1350" b="0" i="0" u="none" strike="noStrike" cap="none" dirty="0">
              <a:solidFill>
                <a:schemeClr val="bg1"/>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2100"/>
              <a:buFont typeface="Arial"/>
              <a:buNone/>
            </a:pPr>
            <a:r>
              <a:rPr lang="es-419" sz="1350" b="0" i="0" u="none" strike="noStrike" cap="none" dirty="0">
                <a:solidFill>
                  <a:schemeClr val="bg1"/>
                </a:solidFill>
                <a:latin typeface="DM Sans"/>
                <a:ea typeface="DM Sans"/>
                <a:cs typeface="DM Sans"/>
                <a:sym typeface="DM Sans"/>
              </a:rPr>
              <a:t>Este software integra:</a:t>
            </a:r>
            <a:endParaRPr sz="1350" b="0" i="0" u="none" strike="noStrike" cap="none" dirty="0">
              <a:solidFill>
                <a:schemeClr val="bg1"/>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Helvetica Neue"/>
              <a:buChar char="✓"/>
            </a:pPr>
            <a:r>
              <a:rPr lang="es-419" sz="1350" b="0" i="0" u="none" strike="noStrike" cap="none" dirty="0">
                <a:solidFill>
                  <a:schemeClr val="bg1"/>
                </a:solidFill>
                <a:latin typeface="DM Sans"/>
                <a:ea typeface="DM Sans"/>
                <a:cs typeface="DM Sans"/>
                <a:sym typeface="DM Sans"/>
              </a:rPr>
              <a:t>Diseño de las DB</a:t>
            </a:r>
            <a:endParaRPr sz="1350" b="0" i="0" u="none" strike="noStrike" cap="none" dirty="0">
              <a:solidFill>
                <a:schemeClr val="bg1"/>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Helvetica Neue"/>
              <a:buChar char="✓"/>
            </a:pPr>
            <a:r>
              <a:rPr lang="es-419" sz="1350" b="0" i="0" u="none" strike="noStrike" cap="none" dirty="0">
                <a:solidFill>
                  <a:schemeClr val="bg1"/>
                </a:solidFill>
                <a:latin typeface="DM Sans"/>
                <a:ea typeface="DM Sans"/>
                <a:cs typeface="DM Sans"/>
                <a:sym typeface="DM Sans"/>
              </a:rPr>
              <a:t>Desarrollo de las DB</a:t>
            </a:r>
            <a:endParaRPr sz="1350" b="0" i="0" u="none" strike="noStrike" cap="none" dirty="0">
              <a:solidFill>
                <a:schemeClr val="bg1"/>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Helvetica Neue"/>
              <a:buChar char="✓"/>
            </a:pPr>
            <a:r>
              <a:rPr lang="es-419" sz="1350" b="0" i="0" u="none" strike="noStrike" cap="none" dirty="0">
                <a:solidFill>
                  <a:schemeClr val="bg1"/>
                </a:solidFill>
                <a:latin typeface="DM Sans"/>
                <a:ea typeface="DM Sans"/>
                <a:cs typeface="DM Sans"/>
                <a:sym typeface="DM Sans"/>
              </a:rPr>
              <a:t>Administración de las DB</a:t>
            </a:r>
            <a:endParaRPr sz="1350" b="0" i="0" u="none" strike="noStrike" cap="none" dirty="0">
              <a:solidFill>
                <a:schemeClr val="bg1"/>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Helvetica Neue"/>
              <a:buChar char="✓"/>
            </a:pPr>
            <a:r>
              <a:rPr lang="es-419" sz="1350" b="0" i="0" u="none" strike="noStrike" cap="none" dirty="0">
                <a:solidFill>
                  <a:schemeClr val="bg1"/>
                </a:solidFill>
                <a:latin typeface="DM Sans"/>
                <a:ea typeface="DM Sans"/>
                <a:cs typeface="DM Sans"/>
                <a:sym typeface="DM Sans"/>
              </a:rPr>
              <a:t>Mantenimiento de las DB</a:t>
            </a:r>
            <a:endParaRPr sz="1350" b="0" i="0" u="none" strike="noStrike" cap="none" dirty="0">
              <a:solidFill>
                <a:schemeClr val="bg1"/>
              </a:solidFill>
              <a:latin typeface="DM Sans"/>
              <a:ea typeface="DM Sans"/>
              <a:cs typeface="DM Sans"/>
              <a:sym typeface="DM Sans"/>
            </a:endParaRPr>
          </a:p>
        </p:txBody>
      </p:sp>
      <p:pic>
        <p:nvPicPr>
          <p:cNvPr id="2" name="Imagen 1"/>
          <p:cNvPicPr>
            <a:picLocks noChangeAspect="1"/>
          </p:cNvPicPr>
          <p:nvPr/>
        </p:nvPicPr>
        <p:blipFill>
          <a:blip r:embed="rId4"/>
          <a:stretch>
            <a:fillRect/>
          </a:stretch>
        </p:blipFill>
        <p:spPr>
          <a:xfrm>
            <a:off x="5300364" y="1722473"/>
            <a:ext cx="3706023" cy="2206995"/>
          </a:xfrm>
          <a:prstGeom prst="rect">
            <a:avLst/>
          </a:prstGeom>
        </p:spPr>
      </p:pic>
    </p:spTree>
    <p:extLst>
      <p:ext uri="{BB962C8B-B14F-4D97-AF65-F5344CB8AC3E}">
        <p14:creationId xmlns:p14="http://schemas.microsoft.com/office/powerpoint/2010/main" val="8216763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6" name="Google Shape;434;p83"/>
          <p:cNvSpPr txBox="1"/>
          <p:nvPr/>
        </p:nvSpPr>
        <p:spPr>
          <a:xfrm>
            <a:off x="260697" y="816416"/>
            <a:ext cx="7169400" cy="6696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500"/>
              <a:buFont typeface="Arial"/>
              <a:buNone/>
            </a:pPr>
            <a:r>
              <a:rPr lang="es-419" sz="3500" b="1" dirty="0" smtClean="0">
                <a:solidFill>
                  <a:srgbClr val="EAFF6A"/>
                </a:solidFill>
                <a:latin typeface="DM Sans"/>
                <a:ea typeface="DM Sans"/>
                <a:cs typeface="DM Sans"/>
                <a:sym typeface="DM Sans"/>
              </a:rPr>
              <a:t>Panel </a:t>
            </a:r>
            <a:r>
              <a:rPr lang="es-419" sz="3500" b="1" dirty="0" err="1" smtClean="0">
                <a:solidFill>
                  <a:srgbClr val="EAFF6A"/>
                </a:solidFill>
                <a:latin typeface="DM Sans"/>
                <a:ea typeface="DM Sans"/>
                <a:cs typeface="DM Sans"/>
                <a:sym typeface="DM Sans"/>
              </a:rPr>
              <a:t>Schemas</a:t>
            </a:r>
            <a:endParaRPr sz="3500" b="1" i="0" u="none" strike="noStrike" cap="none" dirty="0">
              <a:solidFill>
                <a:srgbClr val="EAFF6A"/>
              </a:solidFill>
              <a:latin typeface="DM Sans"/>
              <a:ea typeface="DM Sans"/>
              <a:cs typeface="DM Sans"/>
              <a:sym typeface="DM Sans"/>
            </a:endParaRPr>
          </a:p>
        </p:txBody>
      </p:sp>
      <p:sp>
        <p:nvSpPr>
          <p:cNvPr id="10" name="Google Shape;454;p85"/>
          <p:cNvSpPr txBox="1"/>
          <p:nvPr/>
        </p:nvSpPr>
        <p:spPr>
          <a:xfrm>
            <a:off x="108859" y="2079698"/>
            <a:ext cx="4987200" cy="1431600"/>
          </a:xfrm>
          <a:prstGeom prst="rect">
            <a:avLst/>
          </a:prstGeom>
          <a:noFill/>
          <a:ln>
            <a:noFill/>
          </a:ln>
        </p:spPr>
        <p:txBody>
          <a:bodyPr spcFirstLastPara="1" wrap="square" lIns="91425" tIns="91425" rIns="91425" bIns="91425" anchor="t" anchorCtr="0">
            <a:spAutoFit/>
          </a:bodyPr>
          <a:lstStyle/>
          <a:p>
            <a:pPr marL="457200" marR="0" lvl="0" indent="-314325" algn="l" rtl="0">
              <a:lnSpc>
                <a:spcPct val="100000"/>
              </a:lnSpc>
              <a:spcBef>
                <a:spcPts val="0"/>
              </a:spcBef>
              <a:spcAft>
                <a:spcPts val="0"/>
              </a:spcAft>
              <a:buClr>
                <a:srgbClr val="EA90FF"/>
              </a:buClr>
              <a:buSzPts val="1350"/>
              <a:buFont typeface="DM Sans"/>
              <a:buChar char="✓"/>
            </a:pPr>
            <a:r>
              <a:rPr lang="es-419" sz="1350" b="0" i="0" u="none" strike="noStrike" cap="none" dirty="0">
                <a:solidFill>
                  <a:schemeClr val="bg1"/>
                </a:solidFill>
                <a:latin typeface="DM Sans"/>
                <a:ea typeface="DM Sans"/>
                <a:cs typeface="DM Sans"/>
                <a:sym typeface="DM Sans"/>
              </a:rPr>
              <a:t>El Panel </a:t>
            </a:r>
            <a:r>
              <a:rPr lang="es-419" sz="1350" b="0" i="0" u="none" strike="noStrike" cap="none" dirty="0" err="1">
                <a:solidFill>
                  <a:schemeClr val="bg1"/>
                </a:solidFill>
                <a:latin typeface="DM Sans"/>
                <a:ea typeface="DM Sans"/>
                <a:cs typeface="DM Sans"/>
                <a:sym typeface="DM Sans"/>
              </a:rPr>
              <a:t>Schemas</a:t>
            </a:r>
            <a:r>
              <a:rPr lang="es-419" sz="1350" b="0" i="0" u="none" strike="noStrike" cap="none" dirty="0">
                <a:solidFill>
                  <a:schemeClr val="bg1"/>
                </a:solidFill>
                <a:latin typeface="DM Sans"/>
                <a:ea typeface="DM Sans"/>
                <a:cs typeface="DM Sans"/>
                <a:sym typeface="DM Sans"/>
              </a:rPr>
              <a:t> nos lista todas las bases de datos que tengamos, junto a sus objetos.</a:t>
            </a:r>
            <a:endParaRPr sz="1350" b="0" i="0" u="none" strike="noStrike" cap="none" dirty="0">
              <a:solidFill>
                <a:schemeClr val="bg1"/>
              </a:solidFill>
              <a:latin typeface="DM Sans"/>
              <a:ea typeface="DM Sans"/>
              <a:cs typeface="DM Sans"/>
              <a:sym typeface="DM Sans"/>
            </a:endParaRPr>
          </a:p>
          <a:p>
            <a:pPr marL="457200" marR="0" lvl="0" indent="-314325" algn="l" rtl="0">
              <a:lnSpc>
                <a:spcPct val="100000"/>
              </a:lnSpc>
              <a:spcBef>
                <a:spcPts val="0"/>
              </a:spcBef>
              <a:spcAft>
                <a:spcPts val="0"/>
              </a:spcAft>
              <a:buClr>
                <a:srgbClr val="EA90FF"/>
              </a:buClr>
              <a:buSzPts val="1350"/>
              <a:buFont typeface="DM Sans"/>
              <a:buChar char="✓"/>
            </a:pPr>
            <a:r>
              <a:rPr lang="es-419" sz="1350" b="0" i="0" u="none" strike="noStrike" cap="none" dirty="0">
                <a:solidFill>
                  <a:schemeClr val="bg1"/>
                </a:solidFill>
                <a:latin typeface="DM Sans"/>
                <a:ea typeface="DM Sans"/>
                <a:cs typeface="DM Sans"/>
                <a:sym typeface="DM Sans"/>
              </a:rPr>
              <a:t>Podemos navegar cada objeto a través del menú de árbol, para ver sus propiedades y acciones.</a:t>
            </a:r>
            <a:endParaRPr sz="1350" b="0" i="0" u="none" strike="noStrike" cap="none" dirty="0">
              <a:solidFill>
                <a:schemeClr val="bg1"/>
              </a:solidFill>
              <a:latin typeface="DM Sans"/>
              <a:ea typeface="DM Sans"/>
              <a:cs typeface="DM Sans"/>
              <a:sym typeface="DM Sans"/>
            </a:endParaRPr>
          </a:p>
          <a:p>
            <a:pPr marL="457200" marR="0" lvl="0" indent="-314325" algn="l" rtl="0">
              <a:lnSpc>
                <a:spcPct val="100000"/>
              </a:lnSpc>
              <a:spcBef>
                <a:spcPts val="0"/>
              </a:spcBef>
              <a:spcAft>
                <a:spcPts val="0"/>
              </a:spcAft>
              <a:buClr>
                <a:srgbClr val="EA90FF"/>
              </a:buClr>
              <a:buSzPts val="1350"/>
              <a:buFont typeface="DM Sans"/>
              <a:buChar char="✓"/>
            </a:pPr>
            <a:r>
              <a:rPr lang="es-419" sz="1350" b="0" i="0" u="none" strike="noStrike" cap="none" dirty="0">
                <a:solidFill>
                  <a:schemeClr val="bg1"/>
                </a:solidFill>
                <a:latin typeface="DM Sans"/>
                <a:ea typeface="DM Sans"/>
                <a:cs typeface="DM Sans"/>
                <a:sym typeface="DM Sans"/>
              </a:rPr>
              <a:t>Al </a:t>
            </a:r>
            <a:r>
              <a:rPr lang="es-419" sz="1350" b="0" i="0" u="none" strike="noStrike" cap="none" dirty="0" err="1">
                <a:solidFill>
                  <a:schemeClr val="bg1"/>
                </a:solidFill>
                <a:latin typeface="DM Sans"/>
                <a:ea typeface="DM Sans"/>
                <a:cs typeface="DM Sans"/>
                <a:sym typeface="DM Sans"/>
              </a:rPr>
              <a:t>pié</a:t>
            </a:r>
            <a:r>
              <a:rPr lang="es-419" sz="1350" b="0" i="0" u="none" strike="noStrike" cap="none" dirty="0">
                <a:solidFill>
                  <a:schemeClr val="bg1"/>
                </a:solidFill>
                <a:latin typeface="DM Sans"/>
                <a:ea typeface="DM Sans"/>
                <a:cs typeface="DM Sans"/>
                <a:sym typeface="DM Sans"/>
              </a:rPr>
              <a:t>, obtenemos información general del elemento seleccionado.</a:t>
            </a:r>
            <a:endParaRPr sz="1350" b="0" i="0" u="none" strike="noStrike" cap="none" dirty="0">
              <a:solidFill>
                <a:schemeClr val="bg1"/>
              </a:solidFill>
              <a:latin typeface="DM Sans"/>
              <a:ea typeface="DM Sans"/>
              <a:cs typeface="DM Sans"/>
              <a:sym typeface="DM Sans"/>
            </a:endParaRPr>
          </a:p>
        </p:txBody>
      </p:sp>
      <p:pic>
        <p:nvPicPr>
          <p:cNvPr id="3" name="Imagen 2"/>
          <p:cNvPicPr>
            <a:picLocks noChangeAspect="1"/>
          </p:cNvPicPr>
          <p:nvPr/>
        </p:nvPicPr>
        <p:blipFill>
          <a:blip r:embed="rId4"/>
          <a:stretch>
            <a:fillRect/>
          </a:stretch>
        </p:blipFill>
        <p:spPr>
          <a:xfrm>
            <a:off x="5640165" y="816416"/>
            <a:ext cx="2648320" cy="3581900"/>
          </a:xfrm>
          <a:prstGeom prst="rect">
            <a:avLst/>
          </a:prstGeom>
        </p:spPr>
      </p:pic>
    </p:spTree>
    <p:extLst>
      <p:ext uri="{BB962C8B-B14F-4D97-AF65-F5344CB8AC3E}">
        <p14:creationId xmlns:p14="http://schemas.microsoft.com/office/powerpoint/2010/main" val="37267562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6" name="Google Shape;434;p83"/>
          <p:cNvSpPr txBox="1"/>
          <p:nvPr/>
        </p:nvSpPr>
        <p:spPr>
          <a:xfrm>
            <a:off x="260697" y="816416"/>
            <a:ext cx="7169400" cy="6696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500"/>
              <a:buFont typeface="Arial"/>
              <a:buNone/>
            </a:pPr>
            <a:r>
              <a:rPr lang="es-419" sz="3500" b="1" dirty="0" smtClean="0">
                <a:solidFill>
                  <a:srgbClr val="EAFF6A"/>
                </a:solidFill>
                <a:latin typeface="DM Sans"/>
                <a:ea typeface="DM Sans"/>
                <a:cs typeface="DM Sans"/>
                <a:sym typeface="DM Sans"/>
              </a:rPr>
              <a:t>Barras de herramientas superior</a:t>
            </a:r>
            <a:endParaRPr sz="3500" b="1" i="0" u="none" strike="noStrike" cap="none" dirty="0">
              <a:solidFill>
                <a:srgbClr val="EAFF6A"/>
              </a:solidFill>
              <a:latin typeface="DM Sans"/>
              <a:ea typeface="DM Sans"/>
              <a:cs typeface="DM Sans"/>
              <a:sym typeface="DM Sans"/>
            </a:endParaRPr>
          </a:p>
        </p:txBody>
      </p:sp>
      <p:sp>
        <p:nvSpPr>
          <p:cNvPr id="7" name="Google Shape;461;p86"/>
          <p:cNvSpPr txBox="1"/>
          <p:nvPr/>
        </p:nvSpPr>
        <p:spPr>
          <a:xfrm>
            <a:off x="473350" y="1908175"/>
            <a:ext cx="3834600" cy="1223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419" sz="1350" b="0" i="0" u="none" strike="noStrike" cap="none" dirty="0">
                <a:solidFill>
                  <a:schemeClr val="bg1"/>
                </a:solidFill>
                <a:latin typeface="DM Sans"/>
                <a:ea typeface="DM Sans"/>
                <a:cs typeface="DM Sans"/>
                <a:sym typeface="DM Sans"/>
              </a:rPr>
              <a:t>Incluye botones para iniciar cualquiera de las principales tareas tales como crear una base de datos, abrir una ventana de script, crear una tabla, una función, un </a:t>
            </a:r>
            <a:r>
              <a:rPr lang="es-419" sz="1350" b="0" i="0" u="none" strike="noStrike" cap="none" dirty="0" err="1">
                <a:solidFill>
                  <a:schemeClr val="bg1"/>
                </a:solidFill>
                <a:latin typeface="DM Sans"/>
                <a:ea typeface="DM Sans"/>
                <a:cs typeface="DM Sans"/>
                <a:sym typeface="DM Sans"/>
              </a:rPr>
              <a:t>stored</a:t>
            </a:r>
            <a:r>
              <a:rPr lang="es-419" sz="1350" b="0" i="0" u="none" strike="noStrike" cap="none" dirty="0">
                <a:solidFill>
                  <a:schemeClr val="bg1"/>
                </a:solidFill>
                <a:latin typeface="DM Sans"/>
                <a:ea typeface="DM Sans"/>
                <a:cs typeface="DM Sans"/>
                <a:sym typeface="DM Sans"/>
              </a:rPr>
              <a:t> </a:t>
            </a:r>
            <a:r>
              <a:rPr lang="es-419" sz="1350" b="0" i="0" u="none" strike="noStrike" cap="none" dirty="0" err="1">
                <a:solidFill>
                  <a:schemeClr val="bg1"/>
                </a:solidFill>
                <a:latin typeface="DM Sans"/>
                <a:ea typeface="DM Sans"/>
                <a:cs typeface="DM Sans"/>
                <a:sym typeface="DM Sans"/>
              </a:rPr>
              <a:t>procedures</a:t>
            </a:r>
            <a:r>
              <a:rPr lang="es-419" sz="1350" b="0" i="0" u="none" strike="noStrike" cap="none" dirty="0">
                <a:solidFill>
                  <a:schemeClr val="bg1"/>
                </a:solidFill>
                <a:latin typeface="DM Sans"/>
                <a:ea typeface="DM Sans"/>
                <a:cs typeface="DM Sans"/>
                <a:sym typeface="DM Sans"/>
              </a:rPr>
              <a:t> y otras opciones más.</a:t>
            </a:r>
            <a:endParaRPr sz="1350" b="0" i="0" u="none" strike="noStrike" cap="none" dirty="0">
              <a:solidFill>
                <a:schemeClr val="bg1"/>
              </a:solidFill>
              <a:latin typeface="DM Sans"/>
              <a:ea typeface="DM Sans"/>
              <a:cs typeface="DM Sans"/>
              <a:sym typeface="DM Sans"/>
            </a:endParaRPr>
          </a:p>
        </p:txBody>
      </p:sp>
      <p:sp>
        <p:nvSpPr>
          <p:cNvPr id="8" name="Google Shape;462;p86"/>
          <p:cNvSpPr txBox="1"/>
          <p:nvPr/>
        </p:nvSpPr>
        <p:spPr>
          <a:xfrm>
            <a:off x="4527575" y="1908175"/>
            <a:ext cx="3834600" cy="60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419" sz="1350" b="0" i="0" u="none" strike="noStrike" cap="none" dirty="0">
                <a:solidFill>
                  <a:schemeClr val="bg1"/>
                </a:solidFill>
                <a:latin typeface="DM Sans"/>
                <a:ea typeface="DM Sans"/>
                <a:cs typeface="DM Sans"/>
                <a:sym typeface="DM Sans"/>
              </a:rPr>
              <a:t>Al pie se encuentran las pestañas de acción para navegar entre los objetos en uso.</a:t>
            </a:r>
            <a:endParaRPr sz="1350" b="0" i="0" u="none" strike="noStrike" cap="none" dirty="0">
              <a:solidFill>
                <a:schemeClr val="bg1"/>
              </a:solidFill>
              <a:latin typeface="DM Sans"/>
              <a:ea typeface="DM Sans"/>
              <a:cs typeface="DM Sans"/>
              <a:sym typeface="DM Sans"/>
            </a:endParaRPr>
          </a:p>
        </p:txBody>
      </p:sp>
      <p:pic>
        <p:nvPicPr>
          <p:cNvPr id="2" name="Imagen 1"/>
          <p:cNvPicPr>
            <a:picLocks noChangeAspect="1"/>
          </p:cNvPicPr>
          <p:nvPr/>
        </p:nvPicPr>
        <p:blipFill>
          <a:blip r:embed="rId4"/>
          <a:stretch>
            <a:fillRect/>
          </a:stretch>
        </p:blipFill>
        <p:spPr>
          <a:xfrm>
            <a:off x="2038060" y="3253006"/>
            <a:ext cx="4153480" cy="495369"/>
          </a:xfrm>
          <a:prstGeom prst="rect">
            <a:avLst/>
          </a:prstGeom>
        </p:spPr>
      </p:pic>
    </p:spTree>
    <p:extLst>
      <p:ext uri="{BB962C8B-B14F-4D97-AF65-F5344CB8AC3E}">
        <p14:creationId xmlns:p14="http://schemas.microsoft.com/office/powerpoint/2010/main" val="32098339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6" name="Google Shape;434;p83"/>
          <p:cNvSpPr txBox="1"/>
          <p:nvPr/>
        </p:nvSpPr>
        <p:spPr>
          <a:xfrm>
            <a:off x="260697" y="816416"/>
            <a:ext cx="7169400" cy="6696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500"/>
              <a:buFont typeface="Arial"/>
              <a:buNone/>
            </a:pPr>
            <a:r>
              <a:rPr lang="es-419" sz="3500" b="1" dirty="0" smtClean="0">
                <a:solidFill>
                  <a:srgbClr val="EAFF6A"/>
                </a:solidFill>
                <a:latin typeface="DM Sans"/>
                <a:ea typeface="DM Sans"/>
                <a:cs typeface="DM Sans"/>
                <a:sym typeface="DM Sans"/>
              </a:rPr>
              <a:t>Panel Central</a:t>
            </a:r>
            <a:endParaRPr sz="3500" b="1" i="0" u="none" strike="noStrike" cap="none" dirty="0">
              <a:solidFill>
                <a:srgbClr val="EAFF6A"/>
              </a:solidFill>
              <a:latin typeface="DM Sans"/>
              <a:ea typeface="DM Sans"/>
              <a:cs typeface="DM Sans"/>
              <a:sym typeface="DM Sans"/>
            </a:endParaRPr>
          </a:p>
        </p:txBody>
      </p:sp>
      <p:sp>
        <p:nvSpPr>
          <p:cNvPr id="9" name="Google Shape;470;p87"/>
          <p:cNvSpPr txBox="1"/>
          <p:nvPr/>
        </p:nvSpPr>
        <p:spPr>
          <a:xfrm>
            <a:off x="391553" y="2127383"/>
            <a:ext cx="4987200" cy="877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419" sz="1350" b="0" i="0" u="none" strike="noStrike" cap="none" dirty="0">
                <a:solidFill>
                  <a:schemeClr val="bg1"/>
                </a:solidFill>
                <a:latin typeface="DM Sans"/>
                <a:ea typeface="DM Sans"/>
                <a:cs typeface="DM Sans"/>
                <a:sym typeface="DM Sans"/>
              </a:rPr>
              <a:t>Permite visualizar diferentes pestañas para ver o escribir comandos SQL, junto a la ventana de resultados al pie de este panel</a:t>
            </a:r>
            <a:r>
              <a:rPr lang="es-419" sz="1800" b="0" i="0" u="none" strike="noStrike" cap="none" dirty="0">
                <a:solidFill>
                  <a:schemeClr val="bg1"/>
                </a:solidFill>
                <a:latin typeface="Helvetica Neue"/>
                <a:ea typeface="Helvetica Neue"/>
                <a:cs typeface="Helvetica Neue"/>
                <a:sym typeface="Helvetica Neue"/>
              </a:rPr>
              <a:t>.</a:t>
            </a:r>
            <a:endParaRPr sz="1350" b="0" i="0" u="none" strike="noStrike" cap="none" dirty="0">
              <a:solidFill>
                <a:schemeClr val="bg1"/>
              </a:solidFill>
              <a:latin typeface="DM Sans"/>
              <a:ea typeface="DM Sans"/>
              <a:cs typeface="DM Sans"/>
              <a:sym typeface="DM Sans"/>
            </a:endParaRPr>
          </a:p>
        </p:txBody>
      </p:sp>
      <p:pic>
        <p:nvPicPr>
          <p:cNvPr id="10" name="Google Shape;471;p87"/>
          <p:cNvPicPr preferRelativeResize="0"/>
          <p:nvPr/>
        </p:nvPicPr>
        <p:blipFill rotWithShape="1">
          <a:blip r:embed="rId4">
            <a:alphaModFix/>
          </a:blip>
          <a:srcRect/>
          <a:stretch/>
        </p:blipFill>
        <p:spPr>
          <a:xfrm>
            <a:off x="5648970" y="1957333"/>
            <a:ext cx="2909513" cy="1217300"/>
          </a:xfrm>
          <a:prstGeom prst="rect">
            <a:avLst/>
          </a:prstGeom>
          <a:noFill/>
          <a:ln>
            <a:noFill/>
          </a:ln>
        </p:spPr>
      </p:pic>
    </p:spTree>
    <p:extLst>
      <p:ext uri="{BB962C8B-B14F-4D97-AF65-F5344CB8AC3E}">
        <p14:creationId xmlns:p14="http://schemas.microsoft.com/office/powerpoint/2010/main" val="15688023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6" name="Google Shape;434;p83"/>
          <p:cNvSpPr txBox="1"/>
          <p:nvPr/>
        </p:nvSpPr>
        <p:spPr>
          <a:xfrm>
            <a:off x="260697" y="816416"/>
            <a:ext cx="7169400" cy="6696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500"/>
              <a:buFont typeface="Arial"/>
              <a:buNone/>
            </a:pPr>
            <a:r>
              <a:rPr lang="es-419" sz="3500" b="1" dirty="0" smtClean="0">
                <a:solidFill>
                  <a:srgbClr val="EAFF6A"/>
                </a:solidFill>
                <a:latin typeface="DM Sans"/>
                <a:ea typeface="DM Sans"/>
                <a:cs typeface="DM Sans"/>
                <a:sym typeface="DM Sans"/>
              </a:rPr>
              <a:t>Pestaña de acciones</a:t>
            </a:r>
            <a:endParaRPr sz="3500" b="1" i="0" u="none" strike="noStrike" cap="none" dirty="0">
              <a:solidFill>
                <a:srgbClr val="EAFF6A"/>
              </a:solidFill>
              <a:latin typeface="DM Sans"/>
              <a:ea typeface="DM Sans"/>
              <a:cs typeface="DM Sans"/>
              <a:sym typeface="DM Sans"/>
            </a:endParaRPr>
          </a:p>
        </p:txBody>
      </p:sp>
      <p:sp>
        <p:nvSpPr>
          <p:cNvPr id="7" name="Google Shape;477;p88"/>
          <p:cNvSpPr txBox="1"/>
          <p:nvPr/>
        </p:nvSpPr>
        <p:spPr>
          <a:xfrm>
            <a:off x="473350" y="1908175"/>
            <a:ext cx="7780500" cy="8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419" sz="1350" b="0" i="0" u="none" strike="noStrike" cap="none" dirty="0">
                <a:solidFill>
                  <a:schemeClr val="bg1"/>
                </a:solidFill>
                <a:latin typeface="DM Sans"/>
                <a:ea typeface="DM Sans"/>
                <a:cs typeface="DM Sans"/>
                <a:sym typeface="DM Sans"/>
              </a:rPr>
              <a:t>Al </a:t>
            </a:r>
            <a:r>
              <a:rPr lang="es-419" sz="1350" b="0" i="0" u="none" strike="noStrike" cap="none" dirty="0" err="1">
                <a:solidFill>
                  <a:schemeClr val="bg1"/>
                </a:solidFill>
                <a:latin typeface="DM Sans"/>
                <a:ea typeface="DM Sans"/>
                <a:cs typeface="DM Sans"/>
                <a:sym typeface="DM Sans"/>
              </a:rPr>
              <a:t>pié</a:t>
            </a:r>
            <a:r>
              <a:rPr lang="es-419" sz="1350" b="0" i="0" u="none" strike="noStrike" cap="none" dirty="0">
                <a:solidFill>
                  <a:schemeClr val="bg1"/>
                </a:solidFill>
                <a:latin typeface="DM Sans"/>
                <a:ea typeface="DM Sans"/>
                <a:cs typeface="DM Sans"/>
                <a:sym typeface="DM Sans"/>
              </a:rPr>
              <a:t> de la ventana está la pestaña de acciones, donde veremos el resultado de cada consulta o comando SQL que se dispare; la confirmación de ejecución, los errores, y demás mensajes del sistema.</a:t>
            </a:r>
            <a:endParaRPr sz="1350" b="0" i="0" u="none" strike="noStrike" cap="none" dirty="0">
              <a:solidFill>
                <a:schemeClr val="bg1"/>
              </a:solidFill>
              <a:latin typeface="DM Sans"/>
              <a:ea typeface="DM Sans"/>
              <a:cs typeface="DM Sans"/>
              <a:sym typeface="DM Sans"/>
            </a:endParaRPr>
          </a:p>
        </p:txBody>
      </p:sp>
      <p:pic>
        <p:nvPicPr>
          <p:cNvPr id="8" name="Google Shape;478;p88"/>
          <p:cNvPicPr preferRelativeResize="0"/>
          <p:nvPr/>
        </p:nvPicPr>
        <p:blipFill rotWithShape="1">
          <a:blip r:embed="rId4">
            <a:alphaModFix/>
          </a:blip>
          <a:srcRect/>
          <a:stretch/>
        </p:blipFill>
        <p:spPr>
          <a:xfrm>
            <a:off x="757912" y="3266125"/>
            <a:ext cx="7571976" cy="879200"/>
          </a:xfrm>
          <a:prstGeom prst="rect">
            <a:avLst/>
          </a:prstGeom>
          <a:noFill/>
          <a:ln>
            <a:noFill/>
          </a:ln>
        </p:spPr>
      </p:pic>
    </p:spTree>
    <p:extLst>
      <p:ext uri="{BB962C8B-B14F-4D97-AF65-F5344CB8AC3E}">
        <p14:creationId xmlns:p14="http://schemas.microsoft.com/office/powerpoint/2010/main" val="8047696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6" name="Google Shape;434;p83"/>
          <p:cNvSpPr txBox="1"/>
          <p:nvPr/>
        </p:nvSpPr>
        <p:spPr>
          <a:xfrm>
            <a:off x="260697" y="816416"/>
            <a:ext cx="7169400" cy="1154132"/>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3500"/>
              <a:buFont typeface="Arial"/>
              <a:buNone/>
            </a:pPr>
            <a:r>
              <a:rPr lang="es-419" sz="3500" b="1" dirty="0" err="1" smtClean="0">
                <a:solidFill>
                  <a:srgbClr val="EAFF6A"/>
                </a:solidFill>
                <a:latin typeface="DM Sans"/>
                <a:ea typeface="DM Sans"/>
                <a:cs typeface="DM Sans"/>
                <a:sym typeface="DM Sans"/>
              </a:rPr>
              <a:t>Tematicas</a:t>
            </a:r>
            <a:r>
              <a:rPr lang="es-419" sz="3500" b="1" dirty="0" smtClean="0">
                <a:solidFill>
                  <a:srgbClr val="EAFF6A"/>
                </a:solidFill>
                <a:latin typeface="DM Sans"/>
                <a:ea typeface="DM Sans"/>
                <a:cs typeface="DM Sans"/>
                <a:sym typeface="DM Sans"/>
              </a:rPr>
              <a:t> Posibles para el proyecto final</a:t>
            </a:r>
            <a:endParaRPr sz="3500" b="1" i="0" u="none" strike="noStrike" cap="none" dirty="0">
              <a:solidFill>
                <a:srgbClr val="EAFF6A"/>
              </a:solidFill>
              <a:latin typeface="DM Sans"/>
              <a:ea typeface="DM Sans"/>
              <a:cs typeface="DM Sans"/>
              <a:sym typeface="DM Sans"/>
            </a:endParaRPr>
          </a:p>
        </p:txBody>
      </p:sp>
      <p:sp>
        <p:nvSpPr>
          <p:cNvPr id="11" name="Google Shape;483;p89"/>
          <p:cNvSpPr txBox="1"/>
          <p:nvPr/>
        </p:nvSpPr>
        <p:spPr>
          <a:xfrm>
            <a:off x="457350" y="2517775"/>
            <a:ext cx="3834600" cy="138829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419" sz="1350" b="1" i="0" u="none" strike="noStrike" cap="none" dirty="0">
                <a:solidFill>
                  <a:schemeClr val="bg1"/>
                </a:solidFill>
                <a:latin typeface="DM Sans"/>
                <a:ea typeface="DM Sans"/>
                <a:cs typeface="DM Sans"/>
                <a:sym typeface="DM Sans"/>
              </a:rPr>
              <a:t>Consigna</a:t>
            </a:r>
            <a:endParaRPr sz="1350" b="1" i="0" u="none" strike="noStrike" cap="none" dirty="0">
              <a:solidFill>
                <a:schemeClr val="bg1"/>
              </a:solidFill>
              <a:latin typeface="DM Sans"/>
              <a:ea typeface="DM Sans"/>
              <a:cs typeface="DM Sans"/>
              <a:sym typeface="DM Sans"/>
            </a:endParaRPr>
          </a:p>
          <a:p>
            <a:pPr marL="0" marR="0" lvl="0" indent="0" algn="l" rtl="0">
              <a:lnSpc>
                <a:spcPct val="30000"/>
              </a:lnSpc>
              <a:spcBef>
                <a:spcPts val="0"/>
              </a:spcBef>
              <a:spcAft>
                <a:spcPts val="0"/>
              </a:spcAft>
              <a:buClr>
                <a:srgbClr val="000000"/>
              </a:buClr>
              <a:buSzPts val="1350"/>
              <a:buFont typeface="Arial"/>
              <a:buNone/>
            </a:pPr>
            <a:endParaRPr sz="1350" b="1" i="0" u="none" strike="noStrike" cap="none" dirty="0">
              <a:solidFill>
                <a:schemeClr val="bg1"/>
              </a:solidFill>
              <a:latin typeface="DM Sans"/>
              <a:ea typeface="DM Sans"/>
              <a:cs typeface="DM Sans"/>
              <a:sym typeface="DM Sans"/>
            </a:endParaRPr>
          </a:p>
          <a:p>
            <a:pPr marL="0" marR="0" lvl="0" indent="0" algn="l" rtl="0">
              <a:lnSpc>
                <a:spcPct val="100000"/>
              </a:lnSpc>
              <a:spcBef>
                <a:spcPts val="0"/>
              </a:spcBef>
              <a:spcAft>
                <a:spcPts val="800"/>
              </a:spcAft>
              <a:buClr>
                <a:srgbClr val="000000"/>
              </a:buClr>
              <a:buSzPts val="1350"/>
              <a:buFont typeface="Arial"/>
              <a:buNone/>
            </a:pPr>
            <a:r>
              <a:rPr lang="es-419" sz="1350" b="0" i="0" u="none" strike="noStrike" cap="none" dirty="0">
                <a:solidFill>
                  <a:schemeClr val="bg1"/>
                </a:solidFill>
                <a:latin typeface="DM Sans"/>
                <a:ea typeface="DM Sans"/>
                <a:cs typeface="DM Sans"/>
                <a:sym typeface="DM Sans"/>
              </a:rPr>
              <a:t>Pensar una serie de temáticas de cara a ir moldeando tu proyecto final y generar un listado de posibles temáticas a abordar para tu base de datos.</a:t>
            </a:r>
            <a:endParaRPr sz="1350" b="0" i="0" u="sng" strike="noStrike" cap="none" dirty="0">
              <a:solidFill>
                <a:schemeClr val="bg1"/>
              </a:solidFill>
              <a:latin typeface="DM Sans"/>
              <a:ea typeface="DM Sans"/>
              <a:cs typeface="DM Sans"/>
              <a:sym typeface="DM Sans"/>
            </a:endParaRPr>
          </a:p>
        </p:txBody>
      </p:sp>
      <p:sp>
        <p:nvSpPr>
          <p:cNvPr id="12" name="Google Shape;486;p89"/>
          <p:cNvSpPr txBox="1"/>
          <p:nvPr/>
        </p:nvSpPr>
        <p:spPr>
          <a:xfrm>
            <a:off x="4541850" y="2517775"/>
            <a:ext cx="3834600" cy="1909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419" sz="1350" b="1" i="0" u="none" strike="noStrike" cap="none" dirty="0">
                <a:solidFill>
                  <a:schemeClr val="bg1"/>
                </a:solidFill>
                <a:latin typeface="DM Sans"/>
                <a:ea typeface="DM Sans"/>
                <a:cs typeface="DM Sans"/>
                <a:sym typeface="DM Sans"/>
              </a:rPr>
              <a:t>Aspectos a incluir</a:t>
            </a:r>
            <a:endParaRPr sz="1350" b="1" i="0" u="none" strike="noStrike" cap="none" dirty="0">
              <a:solidFill>
                <a:schemeClr val="bg1"/>
              </a:solidFill>
              <a:latin typeface="DM Sans"/>
              <a:ea typeface="DM Sans"/>
              <a:cs typeface="DM Sans"/>
              <a:sym typeface="DM Sans"/>
            </a:endParaRPr>
          </a:p>
          <a:p>
            <a:pPr marL="0" marR="0" lvl="0" indent="0" algn="l" rtl="0">
              <a:lnSpc>
                <a:spcPct val="30000"/>
              </a:lnSpc>
              <a:spcBef>
                <a:spcPts val="0"/>
              </a:spcBef>
              <a:spcAft>
                <a:spcPts val="0"/>
              </a:spcAft>
              <a:buClr>
                <a:srgbClr val="000000"/>
              </a:buClr>
              <a:buSzPts val="1350"/>
              <a:buFont typeface="Arial"/>
              <a:buNone/>
            </a:pPr>
            <a:endParaRPr sz="1350" b="1" i="0" u="none" strike="noStrike" cap="none" dirty="0">
              <a:solidFill>
                <a:schemeClr val="bg1"/>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419" sz="1350" b="0" i="0" u="none" strike="noStrike" cap="none" dirty="0">
                <a:solidFill>
                  <a:schemeClr val="bg1"/>
                </a:solidFill>
                <a:latin typeface="DM Sans"/>
                <a:ea typeface="DM Sans"/>
                <a:cs typeface="DM Sans"/>
                <a:sym typeface="DM Sans"/>
              </a:rPr>
              <a:t>Para la clase 04 comenzaremos a diseñar el Diagrama Entidad-Relación de nuestro proyecto final.</a:t>
            </a:r>
            <a:endParaRPr sz="1350" b="0" i="0" u="none" strike="noStrike" cap="none" dirty="0">
              <a:solidFill>
                <a:schemeClr val="bg1"/>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419" sz="1350" b="0" i="0" u="none" strike="noStrike" cap="none" dirty="0">
                <a:solidFill>
                  <a:schemeClr val="bg1"/>
                </a:solidFill>
                <a:latin typeface="DM Sans"/>
                <a:ea typeface="DM Sans"/>
                <a:cs typeface="DM Sans"/>
                <a:sym typeface="DM Sans"/>
              </a:rPr>
              <a:t>Si bien el mismo puede variar, al menos ya podemos construir las bases para que luego sean modificadas según lo que vayamos agregando en éste.</a:t>
            </a:r>
            <a:endParaRPr sz="1350" b="0" i="0" u="none" strike="noStrike" cap="none" dirty="0">
              <a:solidFill>
                <a:schemeClr val="bg1"/>
              </a:solidFill>
              <a:latin typeface="DM Sans"/>
              <a:ea typeface="DM Sans"/>
              <a:cs typeface="DM Sans"/>
              <a:sym typeface="DM Sans"/>
            </a:endParaRPr>
          </a:p>
        </p:txBody>
      </p:sp>
    </p:spTree>
    <p:extLst>
      <p:ext uri="{BB962C8B-B14F-4D97-AF65-F5344CB8AC3E}">
        <p14:creationId xmlns:p14="http://schemas.microsoft.com/office/powerpoint/2010/main" val="29360569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3"/>
          <p:cNvSpPr txBox="1"/>
          <p:nvPr/>
        </p:nvSpPr>
        <p:spPr>
          <a:xfrm>
            <a:off x="287079" y="323260"/>
            <a:ext cx="8346558" cy="1416059"/>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5000" dirty="0" smtClean="0">
                <a:solidFill>
                  <a:srgbClr val="F8F2E8"/>
                </a:solidFill>
                <a:latin typeface="Plus Jakarta Sans ExtraBold"/>
                <a:ea typeface="Plus Jakarta Sans ExtraBold"/>
                <a:cs typeface="Plus Jakarta Sans ExtraBold"/>
                <a:sym typeface="Plus Jakarta Sans ExtraBold"/>
              </a:rPr>
              <a:t>Resumen de la clase de hoy</a:t>
            </a:r>
            <a:endParaRPr sz="2000" dirty="0">
              <a:solidFill>
                <a:srgbClr val="F8F2E8"/>
              </a:solidFill>
              <a:latin typeface="Plus Jakarta Sans ExtraBold"/>
              <a:ea typeface="Plus Jakarta Sans ExtraBold"/>
              <a:cs typeface="Plus Jakarta Sans ExtraBold"/>
              <a:sym typeface="Plus Jakarta Sans ExtraBold"/>
            </a:endParaRPr>
          </a:p>
        </p:txBody>
      </p:sp>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7" name="Google Shape;500;p91"/>
          <p:cNvSpPr txBox="1"/>
          <p:nvPr/>
        </p:nvSpPr>
        <p:spPr>
          <a:xfrm>
            <a:off x="2222204" y="1739319"/>
            <a:ext cx="7846829" cy="2123628"/>
          </a:xfrm>
          <a:prstGeom prst="rect">
            <a:avLst/>
          </a:prstGeom>
          <a:noFill/>
          <a:ln>
            <a:noFill/>
          </a:ln>
        </p:spPr>
        <p:txBody>
          <a:bodyPr spcFirstLastPara="1" wrap="square" lIns="91425" tIns="91425" rIns="91425" bIns="91425" anchor="t" anchorCtr="0">
            <a:spAutoFit/>
          </a:bodyPr>
          <a:lstStyle/>
          <a:p>
            <a:pPr marL="457200" marR="0" lvl="0" indent="-314325" algn="l" rtl="0">
              <a:lnSpc>
                <a:spcPct val="100000"/>
              </a:lnSpc>
              <a:spcBef>
                <a:spcPts val="0"/>
              </a:spcBef>
              <a:spcAft>
                <a:spcPts val="0"/>
              </a:spcAft>
              <a:buClr>
                <a:srgbClr val="E0FF00"/>
              </a:buClr>
              <a:buSzPts val="1350"/>
              <a:buFont typeface="Arial"/>
              <a:buChar char="✓"/>
            </a:pPr>
            <a:r>
              <a:rPr lang="es-419" sz="1800" b="0" i="0" u="none" strike="noStrike" cap="none" dirty="0">
                <a:solidFill>
                  <a:schemeClr val="lt1"/>
                </a:solidFill>
                <a:latin typeface="DM Sans"/>
                <a:ea typeface="DM Sans"/>
                <a:cs typeface="DM Sans"/>
                <a:sym typeface="DM Sans"/>
              </a:rPr>
              <a:t>Tecnologías relacionadas con una DB.</a:t>
            </a:r>
            <a:endParaRPr sz="1800" b="0" i="0" u="none" strike="noStrike" cap="none" dirty="0">
              <a:solidFill>
                <a:schemeClr val="lt1"/>
              </a:solidFill>
              <a:latin typeface="DM Sans"/>
              <a:ea typeface="DM Sans"/>
              <a:cs typeface="DM Sans"/>
              <a:sym typeface="DM Sans"/>
            </a:endParaRPr>
          </a:p>
          <a:p>
            <a:pPr marL="457200" marR="0" lvl="0" indent="-314325" algn="l" rtl="0">
              <a:lnSpc>
                <a:spcPct val="100000"/>
              </a:lnSpc>
              <a:spcBef>
                <a:spcPts val="0"/>
              </a:spcBef>
              <a:spcAft>
                <a:spcPts val="0"/>
              </a:spcAft>
              <a:buClr>
                <a:srgbClr val="E0FF00"/>
              </a:buClr>
              <a:buSzPts val="1350"/>
              <a:buFont typeface="Arial"/>
              <a:buChar char="✓"/>
            </a:pPr>
            <a:r>
              <a:rPr lang="es-419" sz="1800" b="0" i="0" u="none" strike="noStrike" cap="none" dirty="0">
                <a:solidFill>
                  <a:schemeClr val="lt1"/>
                </a:solidFill>
                <a:latin typeface="DM Sans"/>
                <a:ea typeface="DM Sans"/>
                <a:cs typeface="DM Sans"/>
                <a:sym typeface="DM Sans"/>
              </a:rPr>
              <a:t>Historia de las DB</a:t>
            </a:r>
            <a:endParaRPr sz="1800" b="0" i="0" u="none" strike="noStrike" cap="none" dirty="0">
              <a:solidFill>
                <a:schemeClr val="lt1"/>
              </a:solidFill>
              <a:latin typeface="DM Sans"/>
              <a:ea typeface="DM Sans"/>
              <a:cs typeface="DM Sans"/>
              <a:sym typeface="DM Sans"/>
            </a:endParaRPr>
          </a:p>
          <a:p>
            <a:pPr marL="457200" marR="0" lvl="0" indent="-314325" algn="l" rtl="0">
              <a:lnSpc>
                <a:spcPct val="100000"/>
              </a:lnSpc>
              <a:spcBef>
                <a:spcPts val="0"/>
              </a:spcBef>
              <a:spcAft>
                <a:spcPts val="0"/>
              </a:spcAft>
              <a:buClr>
                <a:srgbClr val="E0FF00"/>
              </a:buClr>
              <a:buSzPts val="1350"/>
              <a:buFont typeface="Arial"/>
              <a:buChar char="✓"/>
            </a:pPr>
            <a:r>
              <a:rPr lang="es-419" sz="1800" b="0" i="0" u="none" strike="noStrike" cap="none" dirty="0">
                <a:solidFill>
                  <a:schemeClr val="lt1"/>
                </a:solidFill>
                <a:latin typeface="DM Sans"/>
                <a:ea typeface="DM Sans"/>
                <a:cs typeface="DM Sans"/>
                <a:sym typeface="DM Sans"/>
              </a:rPr>
              <a:t>Tipos de DB</a:t>
            </a:r>
            <a:endParaRPr sz="1800" b="0" i="0" u="none" strike="noStrike" cap="none" dirty="0">
              <a:solidFill>
                <a:schemeClr val="lt1"/>
              </a:solidFill>
              <a:latin typeface="DM Sans"/>
              <a:ea typeface="DM Sans"/>
              <a:cs typeface="DM Sans"/>
              <a:sym typeface="DM Sans"/>
            </a:endParaRPr>
          </a:p>
          <a:p>
            <a:pPr marL="457200" marR="0" lvl="0" indent="-314325" algn="l" rtl="0">
              <a:lnSpc>
                <a:spcPct val="100000"/>
              </a:lnSpc>
              <a:spcBef>
                <a:spcPts val="0"/>
              </a:spcBef>
              <a:spcAft>
                <a:spcPts val="0"/>
              </a:spcAft>
              <a:buClr>
                <a:srgbClr val="E0FF00"/>
              </a:buClr>
              <a:buSzPts val="1350"/>
              <a:buFont typeface="Arial"/>
              <a:buChar char="✓"/>
            </a:pPr>
            <a:r>
              <a:rPr lang="es-419" sz="1800" b="0" i="0" u="none" strike="noStrike" cap="none" dirty="0">
                <a:solidFill>
                  <a:schemeClr val="lt1"/>
                </a:solidFill>
                <a:latin typeface="DM Sans"/>
                <a:ea typeface="DM Sans"/>
                <a:cs typeface="DM Sans"/>
                <a:sym typeface="DM Sans"/>
              </a:rPr>
              <a:t>SQL y no SQL</a:t>
            </a:r>
            <a:endParaRPr sz="1800" b="0" i="0" u="none" strike="noStrike" cap="none" dirty="0">
              <a:solidFill>
                <a:schemeClr val="lt1"/>
              </a:solidFill>
              <a:latin typeface="DM Sans"/>
              <a:ea typeface="DM Sans"/>
              <a:cs typeface="DM Sans"/>
              <a:sym typeface="DM Sans"/>
            </a:endParaRPr>
          </a:p>
          <a:p>
            <a:pPr marL="457200" marR="0" lvl="0" indent="-314325" algn="l" rtl="0">
              <a:lnSpc>
                <a:spcPct val="100000"/>
              </a:lnSpc>
              <a:spcBef>
                <a:spcPts val="0"/>
              </a:spcBef>
              <a:spcAft>
                <a:spcPts val="0"/>
              </a:spcAft>
              <a:buClr>
                <a:srgbClr val="E0FF00"/>
              </a:buClr>
              <a:buSzPts val="1350"/>
              <a:buFont typeface="Arial"/>
              <a:buChar char="✓"/>
            </a:pPr>
            <a:r>
              <a:rPr lang="es-419" sz="1800" b="0" i="0" u="none" strike="noStrike" cap="none" dirty="0">
                <a:solidFill>
                  <a:schemeClr val="lt1"/>
                </a:solidFill>
                <a:latin typeface="DM Sans"/>
                <a:ea typeface="DM Sans"/>
                <a:cs typeface="DM Sans"/>
                <a:sym typeface="DM Sans"/>
              </a:rPr>
              <a:t>Bases de datos relacionales</a:t>
            </a:r>
            <a:endParaRPr sz="1800" b="0" i="0" u="none" strike="noStrike" cap="none" dirty="0">
              <a:solidFill>
                <a:schemeClr val="lt1"/>
              </a:solidFill>
              <a:latin typeface="DM Sans"/>
              <a:ea typeface="DM Sans"/>
              <a:cs typeface="DM Sans"/>
              <a:sym typeface="DM Sans"/>
            </a:endParaRPr>
          </a:p>
          <a:p>
            <a:pPr marL="457200" marR="0" lvl="0" indent="-314325" algn="l" rtl="0">
              <a:lnSpc>
                <a:spcPct val="100000"/>
              </a:lnSpc>
              <a:spcBef>
                <a:spcPts val="0"/>
              </a:spcBef>
              <a:spcAft>
                <a:spcPts val="0"/>
              </a:spcAft>
              <a:buClr>
                <a:srgbClr val="E0FF00"/>
              </a:buClr>
              <a:buSzPts val="1350"/>
              <a:buFont typeface="Arial"/>
              <a:buChar char="✓"/>
            </a:pPr>
            <a:r>
              <a:rPr lang="es-419" sz="1800" b="0" i="0" u="none" strike="noStrike" cap="none" dirty="0">
                <a:solidFill>
                  <a:schemeClr val="lt1"/>
                </a:solidFill>
                <a:latin typeface="DM Sans"/>
                <a:ea typeface="DM Sans"/>
                <a:cs typeface="DM Sans"/>
                <a:sym typeface="DM Sans"/>
              </a:rPr>
              <a:t>Modelo de entidad-relación</a:t>
            </a:r>
            <a:endParaRPr sz="1800" b="0" i="0" u="none" strike="noStrike" cap="none" dirty="0">
              <a:solidFill>
                <a:schemeClr val="lt1"/>
              </a:solidFill>
              <a:latin typeface="DM Sans"/>
              <a:ea typeface="DM Sans"/>
              <a:cs typeface="DM Sans"/>
              <a:sym typeface="DM Sans"/>
            </a:endParaRPr>
          </a:p>
          <a:p>
            <a:pPr marL="457200" marR="0" lvl="0" indent="-314325" algn="l" rtl="0">
              <a:lnSpc>
                <a:spcPct val="100000"/>
              </a:lnSpc>
              <a:spcBef>
                <a:spcPts val="0"/>
              </a:spcBef>
              <a:spcAft>
                <a:spcPts val="0"/>
              </a:spcAft>
              <a:buClr>
                <a:srgbClr val="E0FF00"/>
              </a:buClr>
              <a:buSzPts val="1350"/>
              <a:buFont typeface="Arial"/>
              <a:buChar char="✓"/>
            </a:pPr>
            <a:r>
              <a:rPr lang="es-419" sz="1800" b="0" i="0" u="none" strike="noStrike" cap="none" dirty="0">
                <a:solidFill>
                  <a:schemeClr val="lt1"/>
                </a:solidFill>
                <a:latin typeface="DM Sans"/>
                <a:ea typeface="DM Sans"/>
                <a:cs typeface="DM Sans"/>
                <a:sym typeface="DM Sans"/>
              </a:rPr>
              <a:t>Diseño de base de datos</a:t>
            </a:r>
            <a:endParaRPr sz="1800" b="0" i="0" u="none" strike="noStrike" cap="none" dirty="0">
              <a:solidFill>
                <a:schemeClr val="lt1"/>
              </a:solidFill>
              <a:latin typeface="DM Sans"/>
              <a:ea typeface="DM Sans"/>
              <a:cs typeface="DM Sans"/>
              <a:sym typeface="DM Sans"/>
            </a:endParaRPr>
          </a:p>
        </p:txBody>
      </p:sp>
    </p:spTree>
    <p:extLst>
      <p:ext uri="{BB962C8B-B14F-4D97-AF65-F5344CB8AC3E}">
        <p14:creationId xmlns:p14="http://schemas.microsoft.com/office/powerpoint/2010/main" val="34440872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
        <p:nvSpPr>
          <p:cNvPr id="5" name="Google Shape;218;p44"/>
          <p:cNvSpPr txBox="1"/>
          <p:nvPr/>
        </p:nvSpPr>
        <p:spPr>
          <a:xfrm>
            <a:off x="1556994" y="790250"/>
            <a:ext cx="6221400" cy="1985129"/>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endParaRPr sz="5000" dirty="0">
              <a:solidFill>
                <a:srgbClr val="E8E7E3"/>
              </a:solidFill>
            </a:endParaRPr>
          </a:p>
          <a:p>
            <a:pPr marL="0" lvl="0" indent="0" algn="ctr" rtl="0">
              <a:lnSpc>
                <a:spcPct val="90000"/>
              </a:lnSpc>
              <a:spcBef>
                <a:spcPts val="0"/>
              </a:spcBef>
              <a:spcAft>
                <a:spcPts val="0"/>
              </a:spcAft>
              <a:buNone/>
            </a:pPr>
            <a:r>
              <a:rPr lang="es-419" sz="4000" b="1" dirty="0" smtClean="0">
                <a:solidFill>
                  <a:srgbClr val="EAFF6A"/>
                </a:solidFill>
                <a:latin typeface="DM Sans"/>
                <a:ea typeface="DM Sans"/>
                <a:cs typeface="DM Sans"/>
                <a:sym typeface="DM Sans"/>
              </a:rPr>
              <a:t>Llegamos al final de la clase!!!!</a:t>
            </a:r>
            <a:endParaRPr sz="4000" b="1" dirty="0">
              <a:solidFill>
                <a:schemeClr val="lt1"/>
              </a:solidFill>
              <a:latin typeface="DM Sans"/>
              <a:ea typeface="DM Sans"/>
              <a:cs typeface="DM Sans"/>
              <a:sym typeface="DM Sans"/>
            </a:endParaRPr>
          </a:p>
        </p:txBody>
      </p:sp>
      <p:sp>
        <p:nvSpPr>
          <p:cNvPr id="6" name="Google Shape;219;p44"/>
          <p:cNvSpPr txBox="1"/>
          <p:nvPr/>
        </p:nvSpPr>
        <p:spPr>
          <a:xfrm>
            <a:off x="2998200" y="2971950"/>
            <a:ext cx="31476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419" sz="2000" dirty="0" smtClean="0">
                <a:solidFill>
                  <a:schemeClr val="lt1"/>
                </a:solidFill>
                <a:latin typeface="DM Sans"/>
                <a:ea typeface="DM Sans"/>
                <a:cs typeface="DM Sans"/>
                <a:sym typeface="DM Sans"/>
              </a:rPr>
              <a:t>Dudas? Consultas?</a:t>
            </a:r>
            <a:endParaRPr sz="2000" dirty="0">
              <a:solidFill>
                <a:schemeClr val="lt1"/>
              </a:solidFill>
              <a:latin typeface="DM Sans"/>
              <a:ea typeface="DM Sans"/>
              <a:cs typeface="DM Sans"/>
              <a:sym typeface="DM Sans"/>
            </a:endParaRPr>
          </a:p>
        </p:txBody>
      </p:sp>
    </p:spTree>
    <p:extLst>
      <p:ext uri="{BB962C8B-B14F-4D97-AF65-F5344CB8AC3E}">
        <p14:creationId xmlns:p14="http://schemas.microsoft.com/office/powerpoint/2010/main" val="3092262364"/>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der">
  <a:themeElements>
    <a:clrScheme name="Simple Light">
      <a:dk1>
        <a:srgbClr val="000000"/>
      </a:dk1>
      <a:lt1>
        <a:srgbClr val="FFFFFF"/>
      </a:lt1>
      <a:dk2>
        <a:srgbClr val="595959"/>
      </a:dk2>
      <a:lt2>
        <a:srgbClr val="EEEEEE"/>
      </a:lt2>
      <a:accent1>
        <a:srgbClr val="9DF4E2"/>
      </a:accent1>
      <a:accent2>
        <a:srgbClr val="212121"/>
      </a:accent2>
      <a:accent3>
        <a:srgbClr val="78909C"/>
      </a:accent3>
      <a:accent4>
        <a:srgbClr val="EA90FF"/>
      </a:accent4>
      <a:accent5>
        <a:srgbClr val="83AEFB"/>
      </a:accent5>
      <a:accent6>
        <a:srgbClr val="EAFF6A"/>
      </a:accent6>
      <a:hlink>
        <a:srgbClr val="83AEF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174</TotalTime>
  <Words>1652</Words>
  <Application>Microsoft Office PowerPoint</Application>
  <PresentationFormat>Presentación en pantalla (16:9)</PresentationFormat>
  <Paragraphs>191</Paragraphs>
  <Slides>48</Slides>
  <Notes>48</Notes>
  <HiddenSlides>0</HiddenSlides>
  <MMClips>0</MMClips>
  <ScaleCrop>false</ScaleCrop>
  <HeadingPairs>
    <vt:vector size="6" baseType="variant">
      <vt:variant>
        <vt:lpstr>Fuentes usadas</vt:lpstr>
      </vt:variant>
      <vt:variant>
        <vt:i4>7</vt:i4>
      </vt:variant>
      <vt:variant>
        <vt:lpstr>Tema</vt:lpstr>
      </vt:variant>
      <vt:variant>
        <vt:i4>4</vt:i4>
      </vt:variant>
      <vt:variant>
        <vt:lpstr>Títulos de diapositiva</vt:lpstr>
      </vt:variant>
      <vt:variant>
        <vt:i4>48</vt:i4>
      </vt:variant>
    </vt:vector>
  </HeadingPairs>
  <TitlesOfParts>
    <vt:vector size="59" baseType="lpstr">
      <vt:lpstr>Arial</vt:lpstr>
      <vt:lpstr>Calibri</vt:lpstr>
      <vt:lpstr>DM Sans</vt:lpstr>
      <vt:lpstr>Helvetica Neue</vt:lpstr>
      <vt:lpstr>Plus Jakarta Sans</vt:lpstr>
      <vt:lpstr>Plus Jakarta Sans ExtraBold</vt:lpstr>
      <vt:lpstr>Plus Jakarta Sans Light</vt:lpstr>
      <vt:lpstr>Simple Light</vt:lpstr>
      <vt:lpstr>Coder</vt:lpstr>
      <vt:lpstr>Simple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Turi</dc:creator>
  <cp:lastModifiedBy>Turi</cp:lastModifiedBy>
  <cp:revision>15</cp:revision>
  <dcterms:modified xsi:type="dcterms:W3CDTF">2026-02-11T21:07:35Z</dcterms:modified>
</cp:coreProperties>
</file>