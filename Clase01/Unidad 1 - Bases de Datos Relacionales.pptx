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05" r:id="rId1"/>
    <p:sldMasterId id="2147483706" r:id="rId2"/>
    <p:sldMasterId id="2147483707" r:id="rId3"/>
    <p:sldMasterId id="2147483708" r:id="rId4"/>
  </p:sldMasterIdLst>
  <p:notesMasterIdLst>
    <p:notesMasterId r:id="rId51"/>
  </p:notesMasterIdLst>
  <p:sldIdLst>
    <p:sldId id="310" r:id="rId5"/>
    <p:sldId id="286" r:id="rId6"/>
    <p:sldId id="293" r:id="rId7"/>
    <p:sldId id="294" r:id="rId8"/>
    <p:sldId id="295" r:id="rId9"/>
    <p:sldId id="296" r:id="rId10"/>
    <p:sldId id="287" r:id="rId11"/>
    <p:sldId id="288" r:id="rId12"/>
    <p:sldId id="289" r:id="rId13"/>
    <p:sldId id="260" r:id="rId14"/>
    <p:sldId id="261" r:id="rId15"/>
    <p:sldId id="290" r:id="rId16"/>
    <p:sldId id="299" r:id="rId17"/>
    <p:sldId id="291" r:id="rId18"/>
    <p:sldId id="265" r:id="rId19"/>
    <p:sldId id="324" r:id="rId20"/>
    <p:sldId id="325" r:id="rId21"/>
    <p:sldId id="268" r:id="rId22"/>
    <p:sldId id="300" r:id="rId23"/>
    <p:sldId id="271" r:id="rId24"/>
    <p:sldId id="326" r:id="rId25"/>
    <p:sldId id="298" r:id="rId26"/>
    <p:sldId id="301" r:id="rId27"/>
    <p:sldId id="302" r:id="rId28"/>
    <p:sldId id="303" r:id="rId29"/>
    <p:sldId id="305" r:id="rId30"/>
    <p:sldId id="306" r:id="rId31"/>
    <p:sldId id="307" r:id="rId32"/>
    <p:sldId id="308" r:id="rId33"/>
    <p:sldId id="309" r:id="rId34"/>
    <p:sldId id="311" r:id="rId35"/>
    <p:sldId id="312" r:id="rId36"/>
    <p:sldId id="315" r:id="rId37"/>
    <p:sldId id="316" r:id="rId38"/>
    <p:sldId id="317" r:id="rId39"/>
    <p:sldId id="304" r:id="rId40"/>
    <p:sldId id="313" r:id="rId41"/>
    <p:sldId id="314" r:id="rId42"/>
    <p:sldId id="318" r:id="rId43"/>
    <p:sldId id="319" r:id="rId44"/>
    <p:sldId id="320" r:id="rId45"/>
    <p:sldId id="321" r:id="rId46"/>
    <p:sldId id="322" r:id="rId47"/>
    <p:sldId id="323" r:id="rId48"/>
    <p:sldId id="292" r:id="rId49"/>
    <p:sldId id="297"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6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bb91f55cac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bb91f55ca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4070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8462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858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9484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96343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3521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bb91f55cac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bb91f55ca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047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b53643a157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3b53643a157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42200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b53643a157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3b53643a157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25681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b53643a157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b53643a15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35026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8677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b53643a157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3b53643a157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46561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2" name="Google Shape;332;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En los casos donde se da esta situación, el contenido de la información sufre de lo que se denomina como </a:t>
            </a:r>
            <a:r>
              <a:rPr lang="es-419" sz="1300" b="1" i="1">
                <a:solidFill>
                  <a:schemeClr val="dk1"/>
                </a:solidFill>
              </a:rPr>
              <a:t>defecto grave en términos de eficiencia</a:t>
            </a:r>
            <a:r>
              <a:rPr lang="es-419" sz="1300">
                <a:solidFill>
                  <a:schemeClr val="dk1"/>
                </a:solidFill>
              </a:rPr>
              <a:t>. Esto ocurre porque sus datos se tornan repetitivos donde, por ejemplo, se repite el nombre de un proveedor en cada una de las celdas que debe figurar la denominación social de éste.</a:t>
            </a: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Con el tiempo y, sobre todo, en los casos donde la información que se carga es constante, una base de datos plana crecerá de forma significativa por la repetición de caracteres constante que se da cada vez que se registra en la columna </a:t>
            </a:r>
            <a:r>
              <a:rPr lang="es-419" sz="1300" b="1">
                <a:solidFill>
                  <a:schemeClr val="dk1"/>
                </a:solidFill>
              </a:rPr>
              <a:t>PROVEEDOR</a:t>
            </a:r>
            <a:r>
              <a:rPr lang="es-419" sz="1300">
                <a:solidFill>
                  <a:schemeClr val="dk1"/>
                </a:solidFill>
              </a:rPr>
              <a:t>, el nombre de éste. La base de datos se tornará lenta cuando consultemos la información almacenada y está tenga miles o decenas de miles de registros con información repetida.</a:t>
            </a:r>
            <a:endParaRPr>
              <a:solidFill>
                <a:schemeClr val="dk1"/>
              </a:solidFill>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210029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17758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1c196c32c5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5" name="Google Shape;355;g21c196c32c5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Si bien el ejemplo que elaboramos es muy simple, nos alcanza para entender la importancia que implica definir correctamente los datos que debemos almacenar.</a:t>
            </a: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No deberíamos estar guardando datos duplicados ya que esto lleva a tener anomalías en los datos</a:t>
            </a: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No deberíamos borrar datos que nos lleven a perder información</a:t>
            </a: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Optimizamos el espacio de almacenamiento</a:t>
            </a:r>
            <a:endParaRPr sz="13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s-419" sz="1300">
                <a:solidFill>
                  <a:schemeClr val="dk1"/>
                </a:solidFill>
              </a:rPr>
              <a:t>Reducimos el tiempo y complejidad de revisión de las bases de datos cuando es necesario introducir nuevos tipos de datos</a:t>
            </a:r>
            <a:endParaRPr sz="1300">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401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p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6" name="Google Shape;376;p9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s-419"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419">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521303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975628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74382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82389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780872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61617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87905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52563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920145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58692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79524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3831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43178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6772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48349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95110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283327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06297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50120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51609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58645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0537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19194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59234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93720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2975661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1"/>
        <p:cNvGrpSpPr/>
        <p:nvPr/>
      </p:nvGrpSpPr>
      <p:grpSpPr>
        <a:xfrm>
          <a:off x="0" y="0"/>
          <a:ext cx="0" cy="0"/>
          <a:chOff x="0" y="0"/>
          <a:chExt cx="0" cy="0"/>
        </a:xfrm>
      </p:grpSpPr>
      <p:pic>
        <p:nvPicPr>
          <p:cNvPr id="12" name="Google Shape;12;p3" title="logo coderhouse"/>
          <p:cNvPicPr preferRelativeResize="0"/>
          <p:nvPr/>
        </p:nvPicPr>
        <p:blipFill rotWithShape="1">
          <a:blip r:embed="rId3">
            <a:alphaModFix/>
          </a:blip>
          <a:srcRect/>
          <a:stretch/>
        </p:blipFill>
        <p:spPr>
          <a:xfrm>
            <a:off x="7874775" y="4720250"/>
            <a:ext cx="1024025" cy="21162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13"/>
        <p:cNvGrpSpPr/>
        <p:nvPr/>
      </p:nvGrpSpPr>
      <p:grpSpPr>
        <a:xfrm>
          <a:off x="0" y="0"/>
          <a:ext cx="0" cy="0"/>
          <a:chOff x="0" y="0"/>
          <a:chExt cx="0" cy="0"/>
        </a:xfrm>
      </p:grpSpPr>
      <p:pic>
        <p:nvPicPr>
          <p:cNvPr id="14" name="Google Shape;14;p4"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 imagen">
  <p:cSld name="SECTION_HEADER_1_1_1_1_1_1_1_2">
    <p:bg>
      <p:bgPr>
        <a:blipFill>
          <a:blip r:embed="rId2">
            <a:alphaModFix/>
          </a:blip>
          <a:stretch>
            <a:fillRect/>
          </a:stretch>
        </a:blipFill>
        <a:effectLst/>
      </p:bgPr>
    </p:bg>
    <p:spTree>
      <p:nvGrpSpPr>
        <p:cNvPr id="1" name="Shape 17"/>
        <p:cNvGrpSpPr/>
        <p:nvPr/>
      </p:nvGrpSpPr>
      <p:grpSpPr>
        <a:xfrm>
          <a:off x="0" y="0"/>
          <a:ext cx="0" cy="0"/>
          <a:chOff x="0" y="0"/>
          <a:chExt cx="0" cy="0"/>
        </a:xfrm>
      </p:grpSpPr>
      <p:sp>
        <p:nvSpPr>
          <p:cNvPr id="18" name="Google Shape;18;p6"/>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 name="Google Shape;19;p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20"/>
        <p:cNvGrpSpPr/>
        <p:nvPr/>
      </p:nvGrpSpPr>
      <p:grpSpPr>
        <a:xfrm>
          <a:off x="0" y="0"/>
          <a:ext cx="0" cy="0"/>
          <a:chOff x="0" y="0"/>
          <a:chExt cx="0" cy="0"/>
        </a:xfrm>
      </p:grpSpPr>
      <p:pic>
        <p:nvPicPr>
          <p:cNvPr id="21" name="Google Shape;21;p7"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 imagen 1">
  <p:cSld name="SECTION_HEADER_1_1_1_1_1_1_1_3">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8"/>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4" name="Google Shape;24;p8"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7"/>
        <p:cNvGrpSpPr/>
        <p:nvPr/>
      </p:nvGrpSpPr>
      <p:grpSpPr>
        <a:xfrm>
          <a:off x="0" y="0"/>
          <a:ext cx="0" cy="0"/>
          <a:chOff x="0" y="0"/>
          <a:chExt cx="0" cy="0"/>
        </a:xfrm>
      </p:grpSpPr>
      <p:sp>
        <p:nvSpPr>
          <p:cNvPr id="28" name="Google Shape;28;p10"/>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9" name="Google Shape;29;p10"/>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0" name="Google Shape;30;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1"/>
        <p:cNvGrpSpPr/>
        <p:nvPr/>
      </p:nvGrpSpPr>
      <p:grpSpPr>
        <a:xfrm>
          <a:off x="0" y="0"/>
          <a:ext cx="0" cy="0"/>
          <a:chOff x="0" y="0"/>
          <a:chExt cx="0" cy="0"/>
        </a:xfrm>
      </p:grpSpPr>
      <p:sp>
        <p:nvSpPr>
          <p:cNvPr id="32" name="Google Shape;32;p1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3" name="Google Shape;33;p1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4" name="Google Shape;34;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5"/>
        <p:cNvGrpSpPr/>
        <p:nvPr/>
      </p:nvGrpSpPr>
      <p:grpSpPr>
        <a:xfrm>
          <a:off x="0" y="0"/>
          <a:ext cx="0" cy="0"/>
          <a:chOff x="0" y="0"/>
          <a:chExt cx="0" cy="0"/>
        </a:xfrm>
      </p:grpSpPr>
      <p:sp>
        <p:nvSpPr>
          <p:cNvPr id="36" name="Google Shape;36;p12"/>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37" name="Google Shape;37;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8"/>
        <p:cNvGrpSpPr/>
        <p:nvPr/>
      </p:nvGrpSpPr>
      <p:grpSpPr>
        <a:xfrm>
          <a:off x="0" y="0"/>
          <a:ext cx="0" cy="0"/>
          <a:chOff x="0" y="0"/>
          <a:chExt cx="0" cy="0"/>
        </a:xfrm>
      </p:grpSpPr>
      <p:sp>
        <p:nvSpPr>
          <p:cNvPr id="39" name="Google Shape;39;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0" name="Google Shape;40;p13"/>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1" name="Google Shape;41;p13"/>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2" name="Google Shape;42;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3"/>
        <p:cNvGrpSpPr/>
        <p:nvPr/>
      </p:nvGrpSpPr>
      <p:grpSpPr>
        <a:xfrm>
          <a:off x="0" y="0"/>
          <a:ext cx="0" cy="0"/>
          <a:chOff x="0" y="0"/>
          <a:chExt cx="0" cy="0"/>
        </a:xfrm>
      </p:grpSpPr>
      <p:sp>
        <p:nvSpPr>
          <p:cNvPr id="44" name="Google Shape;44;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5" name="Google Shape;45;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6"/>
        <p:cNvGrpSpPr/>
        <p:nvPr/>
      </p:nvGrpSpPr>
      <p:grpSpPr>
        <a:xfrm>
          <a:off x="0" y="0"/>
          <a:ext cx="0" cy="0"/>
          <a:chOff x="0" y="0"/>
          <a:chExt cx="0" cy="0"/>
        </a:xfrm>
      </p:grpSpPr>
      <p:sp>
        <p:nvSpPr>
          <p:cNvPr id="47" name="Google Shape;47;p15"/>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48" name="Google Shape;48;p15"/>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9" name="Google Shape;49;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0"/>
        <p:cNvGrpSpPr/>
        <p:nvPr/>
      </p:nvGrpSpPr>
      <p:grpSpPr>
        <a:xfrm>
          <a:off x="0" y="0"/>
          <a:ext cx="0" cy="0"/>
          <a:chOff x="0" y="0"/>
          <a:chExt cx="0" cy="0"/>
        </a:xfrm>
      </p:grpSpPr>
      <p:sp>
        <p:nvSpPr>
          <p:cNvPr id="51" name="Google Shape;51;p16"/>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2" name="Google Shape;52;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3"/>
        <p:cNvGrpSpPr/>
        <p:nvPr/>
      </p:nvGrpSpPr>
      <p:grpSpPr>
        <a:xfrm>
          <a:off x="0" y="0"/>
          <a:ext cx="0" cy="0"/>
          <a:chOff x="0" y="0"/>
          <a:chExt cx="0" cy="0"/>
        </a:xfrm>
      </p:grpSpPr>
      <p:sp>
        <p:nvSpPr>
          <p:cNvPr id="54" name="Google Shape;54;p17"/>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7"/>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6" name="Google Shape;56;p17"/>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7" name="Google Shape;57;p17"/>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8" name="Google Shape;58;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9"/>
        <p:cNvGrpSpPr/>
        <p:nvPr/>
      </p:nvGrpSpPr>
      <p:grpSpPr>
        <a:xfrm>
          <a:off x="0" y="0"/>
          <a:ext cx="0" cy="0"/>
          <a:chOff x="0" y="0"/>
          <a:chExt cx="0" cy="0"/>
        </a:xfrm>
      </p:grpSpPr>
      <p:sp>
        <p:nvSpPr>
          <p:cNvPr id="60" name="Google Shape;60;p18"/>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1" name="Google Shape;61;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2"/>
        <p:cNvGrpSpPr/>
        <p:nvPr/>
      </p:nvGrpSpPr>
      <p:grpSpPr>
        <a:xfrm>
          <a:off x="0" y="0"/>
          <a:ext cx="0" cy="0"/>
          <a:chOff x="0" y="0"/>
          <a:chExt cx="0" cy="0"/>
        </a:xfrm>
      </p:grpSpPr>
      <p:sp>
        <p:nvSpPr>
          <p:cNvPr id="63" name="Google Shape;63;p19"/>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4" name="Google Shape;64;p19"/>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5" name="Google Shape;65;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6"/>
        <p:cNvGrpSpPr/>
        <p:nvPr/>
      </p:nvGrpSpPr>
      <p:grpSpPr>
        <a:xfrm>
          <a:off x="0" y="0"/>
          <a:ext cx="0" cy="0"/>
          <a:chOff x="0" y="0"/>
          <a:chExt cx="0" cy="0"/>
        </a:xfrm>
      </p:grpSpPr>
      <p:sp>
        <p:nvSpPr>
          <p:cNvPr id="67" name="Google Shape;6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Gradiente">
  <p:cSld name="Gradiente">
    <p:spTree>
      <p:nvGrpSpPr>
        <p:cNvPr id="1" name="Shape 85"/>
        <p:cNvGrpSpPr/>
        <p:nvPr/>
      </p:nvGrpSpPr>
      <p:grpSpPr>
        <a:xfrm>
          <a:off x="0" y="0"/>
          <a:ext cx="0" cy="0"/>
          <a:chOff x="0" y="0"/>
          <a:chExt cx="0" cy="0"/>
        </a:xfrm>
      </p:grpSpPr>
      <p:pic>
        <p:nvPicPr>
          <p:cNvPr id="86" name="Google Shape;86;p22" title="Coder Facebook (6).png"/>
          <p:cNvPicPr preferRelativeResize="0"/>
          <p:nvPr/>
        </p:nvPicPr>
        <p:blipFill>
          <a:blip r:embed="rId2">
            <a:alphaModFix/>
          </a:blip>
          <a:stretch>
            <a:fillRect/>
          </a:stretch>
        </p:blipFill>
        <p:spPr>
          <a:xfrm>
            <a:off x="-111725" y="0"/>
            <a:ext cx="9255725" cy="5206351"/>
          </a:xfrm>
          <a:prstGeom prst="rect">
            <a:avLst/>
          </a:prstGeom>
          <a:noFill/>
          <a:ln>
            <a:noFill/>
          </a:ln>
        </p:spPr>
      </p:pic>
    </p:spTree>
    <p:extLst>
      <p:ext uri="{BB962C8B-B14F-4D97-AF65-F5344CB8AC3E}">
        <p14:creationId xmlns:p14="http://schemas.microsoft.com/office/powerpoint/2010/main" val="26931979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rrón">
  <p:cSld name="Marrón">
    <p:bg>
      <p:bgPr>
        <a:solidFill>
          <a:srgbClr val="260700"/>
        </a:solidFill>
        <a:effectLst/>
      </p:bgPr>
    </p:bg>
    <p:spTree>
      <p:nvGrpSpPr>
        <p:cNvPr id="1" name="Shape 79"/>
        <p:cNvGrpSpPr/>
        <p:nvPr/>
      </p:nvGrpSpPr>
      <p:grpSpPr>
        <a:xfrm>
          <a:off x="0" y="0"/>
          <a:ext cx="0" cy="0"/>
          <a:chOff x="0" y="0"/>
          <a:chExt cx="0" cy="0"/>
        </a:xfrm>
      </p:grpSpPr>
      <p:sp>
        <p:nvSpPr>
          <p:cNvPr id="80" name="Google Shape;80;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extLst>
      <p:ext uri="{BB962C8B-B14F-4D97-AF65-F5344CB8AC3E}">
        <p14:creationId xmlns:p14="http://schemas.microsoft.com/office/powerpoint/2010/main" val="34804628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co 1">
  <p:cSld name="Blanco 1">
    <p:bg>
      <p:bgPr>
        <a:solidFill>
          <a:schemeClr val="lt1"/>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
        <p:nvSpPr>
          <p:cNvPr id="55" name="Google Shape;55;p14"/>
          <p:cNvSpPr txBox="1"/>
          <p:nvPr/>
        </p:nvSpPr>
        <p:spPr>
          <a:xfrm>
            <a:off x="476125" y="165026"/>
            <a:ext cx="6444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Coderhouse</a:t>
            </a:r>
            <a:endParaRPr sz="500">
              <a:solidFill>
                <a:srgbClr val="222224"/>
              </a:solidFill>
              <a:latin typeface="Plus Jakarta Sans"/>
              <a:ea typeface="Plus Jakarta Sans"/>
              <a:cs typeface="Plus Jakarta Sans"/>
              <a:sym typeface="Plus Jakarta Sans"/>
            </a:endParaRPr>
          </a:p>
        </p:txBody>
      </p:sp>
      <p:sp>
        <p:nvSpPr>
          <p:cNvPr id="56" name="Google Shape;56;p14"/>
          <p:cNvSpPr txBox="1"/>
          <p:nvPr/>
        </p:nvSpPr>
        <p:spPr>
          <a:xfrm>
            <a:off x="6923014" y="165026"/>
            <a:ext cx="1188600" cy="188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Internal  Presentation</a:t>
            </a:r>
            <a:endParaRPr sz="500">
              <a:solidFill>
                <a:srgbClr val="222224"/>
              </a:solidFill>
              <a:latin typeface="Plus Jakarta Sans"/>
              <a:ea typeface="Plus Jakarta Sans"/>
              <a:cs typeface="Plus Jakarta Sans"/>
              <a:sym typeface="Plus Jakarta Sans"/>
            </a:endParaRPr>
          </a:p>
        </p:txBody>
      </p:sp>
      <p:sp>
        <p:nvSpPr>
          <p:cNvPr id="57" name="Google Shape;57;p14"/>
          <p:cNvSpPr txBox="1"/>
          <p:nvPr/>
        </p:nvSpPr>
        <p:spPr>
          <a:xfrm>
            <a:off x="2196557" y="165026"/>
            <a:ext cx="12420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2026</a:t>
            </a:r>
            <a:endParaRPr sz="500">
              <a:solidFill>
                <a:srgbClr val="222224"/>
              </a:solidFill>
              <a:latin typeface="Plus Jakarta Sans"/>
              <a:ea typeface="Plus Jakarta Sans"/>
              <a:cs typeface="Plus Jakarta Sans"/>
              <a:sym typeface="Plus Jakarta Sans"/>
            </a:endParaRPr>
          </a:p>
        </p:txBody>
      </p:sp>
      <p:sp>
        <p:nvSpPr>
          <p:cNvPr id="58" name="Google Shape;58;p14"/>
          <p:cNvSpPr txBox="1"/>
          <p:nvPr/>
        </p:nvSpPr>
        <p:spPr>
          <a:xfrm>
            <a:off x="8373525" y="90649"/>
            <a:ext cx="369600" cy="337200"/>
          </a:xfrm>
          <a:prstGeom prst="rect">
            <a:avLst/>
          </a:prstGeom>
          <a:noFill/>
          <a:ln>
            <a:noFill/>
          </a:ln>
        </p:spPr>
        <p:txBody>
          <a:bodyPr spcFirstLastPara="1" wrap="square" lIns="88475" tIns="88475" rIns="88475" bIns="88475" anchor="ctr" anchorCtr="0">
            <a:noAutofit/>
          </a:bodyPr>
          <a:lstStyle/>
          <a:p>
            <a:pPr marL="0" lvl="0" indent="0" algn="ctr" rtl="0">
              <a:lnSpc>
                <a:spcPct val="100000"/>
              </a:lnSpc>
              <a:spcBef>
                <a:spcPts val="0"/>
              </a:spcBef>
              <a:spcAft>
                <a:spcPts val="0"/>
              </a:spcAft>
              <a:buNone/>
            </a:pPr>
            <a:fld id="{00000000-1234-1234-1234-123412341234}" type="slidenum">
              <a:rPr lang="es" sz="500">
                <a:solidFill>
                  <a:srgbClr val="222224"/>
                </a:solidFill>
                <a:latin typeface="Plus Jakarta Sans"/>
                <a:ea typeface="Plus Jakarta Sans"/>
                <a:cs typeface="Plus Jakarta Sans"/>
                <a:sym typeface="Plus Jakarta Sans"/>
              </a:rPr>
              <a:t>‹Nº›</a:t>
            </a:fld>
            <a:endParaRPr sz="500">
              <a:solidFill>
                <a:srgbClr val="222224"/>
              </a:solidFill>
              <a:latin typeface="Plus Jakarta Sans"/>
              <a:ea typeface="Plus Jakarta Sans"/>
              <a:cs typeface="Plus Jakarta Sans"/>
              <a:sym typeface="Plus Jakarta Sans"/>
            </a:endParaRPr>
          </a:p>
        </p:txBody>
      </p:sp>
    </p:spTree>
    <p:extLst>
      <p:ext uri="{BB962C8B-B14F-4D97-AF65-F5344CB8AC3E}">
        <p14:creationId xmlns:p14="http://schemas.microsoft.com/office/powerpoint/2010/main" val="28920829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72"/>
        <p:cNvGrpSpPr/>
        <p:nvPr/>
      </p:nvGrpSpPr>
      <p:grpSpPr>
        <a:xfrm>
          <a:off x="0" y="0"/>
          <a:ext cx="0" cy="0"/>
          <a:chOff x="0" y="0"/>
          <a:chExt cx="0" cy="0"/>
        </a:xfrm>
      </p:grpSpPr>
      <p:pic>
        <p:nvPicPr>
          <p:cNvPr id="73" name="Google Shape;73;p2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76"/>
        <p:cNvGrpSpPr/>
        <p:nvPr/>
      </p:nvGrpSpPr>
      <p:grpSpPr>
        <a:xfrm>
          <a:off x="0" y="0"/>
          <a:ext cx="0" cy="0"/>
          <a:chOff x="0" y="0"/>
          <a:chExt cx="0" cy="0"/>
        </a:xfrm>
      </p:grpSpPr>
      <p:pic>
        <p:nvPicPr>
          <p:cNvPr id="77" name="Google Shape;77;p24"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81"/>
        <p:cNvGrpSpPr/>
        <p:nvPr/>
      </p:nvGrpSpPr>
      <p:grpSpPr>
        <a:xfrm>
          <a:off x="0" y="0"/>
          <a:ext cx="0" cy="0"/>
          <a:chOff x="0" y="0"/>
          <a:chExt cx="0" cy="0"/>
        </a:xfrm>
      </p:grpSpPr>
      <p:pic>
        <p:nvPicPr>
          <p:cNvPr id="82" name="Google Shape;82;p26"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93"/>
        <p:cNvGrpSpPr/>
        <p:nvPr/>
      </p:nvGrpSpPr>
      <p:grpSpPr>
        <a:xfrm>
          <a:off x="0" y="0"/>
          <a:ext cx="0" cy="0"/>
          <a:chOff x="0" y="0"/>
          <a:chExt cx="0" cy="0"/>
        </a:xfrm>
      </p:grpSpPr>
      <p:pic>
        <p:nvPicPr>
          <p:cNvPr id="94" name="Google Shape;94;p31"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95"/>
        <p:cNvGrpSpPr/>
        <p:nvPr/>
      </p:nvGrpSpPr>
      <p:grpSpPr>
        <a:xfrm>
          <a:off x="0" y="0"/>
          <a:ext cx="0" cy="0"/>
          <a:chOff x="0" y="0"/>
          <a:chExt cx="0" cy="0"/>
        </a:xfrm>
      </p:grpSpPr>
      <p:pic>
        <p:nvPicPr>
          <p:cNvPr id="96" name="Google Shape;96;p32"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Gradiente">
  <p:cSld name="Gradiente">
    <p:spTree>
      <p:nvGrpSpPr>
        <p:cNvPr id="1" name="Shape 85"/>
        <p:cNvGrpSpPr/>
        <p:nvPr/>
      </p:nvGrpSpPr>
      <p:grpSpPr>
        <a:xfrm>
          <a:off x="0" y="0"/>
          <a:ext cx="0" cy="0"/>
          <a:chOff x="0" y="0"/>
          <a:chExt cx="0" cy="0"/>
        </a:xfrm>
      </p:grpSpPr>
      <p:pic>
        <p:nvPicPr>
          <p:cNvPr id="86" name="Google Shape;86;p22" title="Coder Facebook (6).png"/>
          <p:cNvPicPr preferRelativeResize="0"/>
          <p:nvPr/>
        </p:nvPicPr>
        <p:blipFill>
          <a:blip r:embed="rId2">
            <a:alphaModFix/>
          </a:blip>
          <a:stretch>
            <a:fillRect/>
          </a:stretch>
        </p:blipFill>
        <p:spPr>
          <a:xfrm>
            <a:off x="-111725" y="0"/>
            <a:ext cx="9255725" cy="5206351"/>
          </a:xfrm>
          <a:prstGeom prst="rect">
            <a:avLst/>
          </a:prstGeom>
          <a:noFill/>
          <a:ln>
            <a:noFill/>
          </a:ln>
        </p:spPr>
      </p:pic>
    </p:spTree>
    <p:extLst>
      <p:ext uri="{BB962C8B-B14F-4D97-AF65-F5344CB8AC3E}">
        <p14:creationId xmlns:p14="http://schemas.microsoft.com/office/powerpoint/2010/main" val="12951605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1"/>
        <p:cNvGrpSpPr/>
        <p:nvPr/>
      </p:nvGrpSpPr>
      <p:grpSpPr>
        <a:xfrm>
          <a:off x="0" y="0"/>
          <a:ext cx="0" cy="0"/>
          <a:chOff x="0" y="0"/>
          <a:chExt cx="0" cy="0"/>
        </a:xfrm>
      </p:grpSpPr>
      <p:sp>
        <p:nvSpPr>
          <p:cNvPr id="102" name="Google Shape;102;p3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03" name="Google Shape;103;p3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04" name="Google Shape;104;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5"/>
        <p:cNvGrpSpPr/>
        <p:nvPr/>
      </p:nvGrpSpPr>
      <p:grpSpPr>
        <a:xfrm>
          <a:off x="0" y="0"/>
          <a:ext cx="0" cy="0"/>
          <a:chOff x="0" y="0"/>
          <a:chExt cx="0" cy="0"/>
        </a:xfrm>
      </p:grpSpPr>
      <p:sp>
        <p:nvSpPr>
          <p:cNvPr id="106" name="Google Shape;106;p3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07" name="Google Shape;107;p3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08" name="Google Shape;108;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09"/>
        <p:cNvGrpSpPr/>
        <p:nvPr/>
      </p:nvGrpSpPr>
      <p:grpSpPr>
        <a:xfrm>
          <a:off x="0" y="0"/>
          <a:ext cx="0" cy="0"/>
          <a:chOff x="0" y="0"/>
          <a:chExt cx="0" cy="0"/>
        </a:xfrm>
      </p:grpSpPr>
      <p:sp>
        <p:nvSpPr>
          <p:cNvPr id="110" name="Google Shape;110;p3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11" name="Google Shape;111;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2"/>
        <p:cNvGrpSpPr/>
        <p:nvPr/>
      </p:nvGrpSpPr>
      <p:grpSpPr>
        <a:xfrm>
          <a:off x="0" y="0"/>
          <a:ext cx="0" cy="0"/>
          <a:chOff x="0" y="0"/>
          <a:chExt cx="0" cy="0"/>
        </a:xfrm>
      </p:grpSpPr>
      <p:sp>
        <p:nvSpPr>
          <p:cNvPr id="113" name="Google Shape;113;p3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4" name="Google Shape;114;p3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15" name="Google Shape;115;p3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16" name="Google Shape;116;p3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7"/>
        <p:cNvGrpSpPr/>
        <p:nvPr/>
      </p:nvGrpSpPr>
      <p:grpSpPr>
        <a:xfrm>
          <a:off x="0" y="0"/>
          <a:ext cx="0" cy="0"/>
          <a:chOff x="0" y="0"/>
          <a:chExt cx="0" cy="0"/>
        </a:xfrm>
      </p:grpSpPr>
      <p:sp>
        <p:nvSpPr>
          <p:cNvPr id="118" name="Google Shape;118;p3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9" name="Google Shape;119;p3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20"/>
        <p:cNvGrpSpPr/>
        <p:nvPr/>
      </p:nvGrpSpPr>
      <p:grpSpPr>
        <a:xfrm>
          <a:off x="0" y="0"/>
          <a:ext cx="0" cy="0"/>
          <a:chOff x="0" y="0"/>
          <a:chExt cx="0" cy="0"/>
        </a:xfrm>
      </p:grpSpPr>
      <p:sp>
        <p:nvSpPr>
          <p:cNvPr id="121" name="Google Shape;121;p3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122" name="Google Shape;122;p3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23" name="Google Shape;123;p3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4"/>
        <p:cNvGrpSpPr/>
        <p:nvPr/>
      </p:nvGrpSpPr>
      <p:grpSpPr>
        <a:xfrm>
          <a:off x="0" y="0"/>
          <a:ext cx="0" cy="0"/>
          <a:chOff x="0" y="0"/>
          <a:chExt cx="0" cy="0"/>
        </a:xfrm>
      </p:grpSpPr>
      <p:sp>
        <p:nvSpPr>
          <p:cNvPr id="125" name="Google Shape;125;p4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26" name="Google Shape;126;p4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sp>
        <p:nvSpPr>
          <p:cNvPr id="128" name="Google Shape;128;p4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4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30" name="Google Shape;130;p4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31" name="Google Shape;131;p4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32" name="Google Shape;132;p4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3"/>
        <p:cNvGrpSpPr/>
        <p:nvPr/>
      </p:nvGrpSpPr>
      <p:grpSpPr>
        <a:xfrm>
          <a:off x="0" y="0"/>
          <a:ext cx="0" cy="0"/>
          <a:chOff x="0" y="0"/>
          <a:chExt cx="0" cy="0"/>
        </a:xfrm>
      </p:grpSpPr>
      <p:sp>
        <p:nvSpPr>
          <p:cNvPr id="134" name="Google Shape;134;p4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135" name="Google Shape;135;p4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36"/>
        <p:cNvGrpSpPr/>
        <p:nvPr/>
      </p:nvGrpSpPr>
      <p:grpSpPr>
        <a:xfrm>
          <a:off x="0" y="0"/>
          <a:ext cx="0" cy="0"/>
          <a:chOff x="0" y="0"/>
          <a:chExt cx="0" cy="0"/>
        </a:xfrm>
      </p:grpSpPr>
      <p:sp>
        <p:nvSpPr>
          <p:cNvPr id="137" name="Google Shape;137;p4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38" name="Google Shape;138;p4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39" name="Google Shape;139;p4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4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142"/>
        <p:cNvGrpSpPr/>
        <p:nvPr/>
      </p:nvGrpSpPr>
      <p:grpSpPr>
        <a:xfrm>
          <a:off x="0" y="0"/>
          <a:ext cx="0" cy="0"/>
          <a:chOff x="0" y="0"/>
          <a:chExt cx="0" cy="0"/>
        </a:xfrm>
      </p:grpSpPr>
      <p:pic>
        <p:nvPicPr>
          <p:cNvPr id="143" name="Google Shape;143;p4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50"/>
        <p:cNvGrpSpPr/>
        <p:nvPr/>
      </p:nvGrpSpPr>
      <p:grpSpPr>
        <a:xfrm>
          <a:off x="0" y="0"/>
          <a:ext cx="0" cy="0"/>
          <a:chOff x="0" y="0"/>
          <a:chExt cx="0" cy="0"/>
        </a:xfrm>
      </p:grpSpPr>
      <p:sp>
        <p:nvSpPr>
          <p:cNvPr id="151" name="Google Shape;151;p47"/>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47"/>
          <p:cNvSpPr txBox="1">
            <a:spLocks noGrp="1"/>
          </p:cNvSpPr>
          <p:nvPr>
            <p:ph type="subTitle" idx="1"/>
          </p:nvPr>
        </p:nvSpPr>
        <p:spPr>
          <a:xfrm>
            <a:off x="1143000" y="2701528"/>
            <a:ext cx="6858000" cy="1241700"/>
          </a:xfrm>
          <a:prstGeom prst="rect">
            <a:avLst/>
          </a:prstGeom>
          <a:noFill/>
          <a:ln>
            <a:noFill/>
          </a:ln>
        </p:spPr>
        <p:txBody>
          <a:bodyPr spcFirstLastPara="1" wrap="square" lIns="91425" tIns="45700" rIns="91425" bIns="45700" anchor="t" anchorCtr="0">
            <a:no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53" name="Google Shape;153;p4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4" name="Google Shape;154;p4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5" name="Google Shape;155;p4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158"/>
        <p:cNvGrpSpPr/>
        <p:nvPr/>
      </p:nvGrpSpPr>
      <p:grpSpPr>
        <a:xfrm>
          <a:off x="0" y="0"/>
          <a:ext cx="0" cy="0"/>
          <a:chOff x="0" y="0"/>
          <a:chExt cx="0" cy="0"/>
        </a:xfrm>
      </p:grpSpPr>
      <p:pic>
        <p:nvPicPr>
          <p:cNvPr id="159" name="Google Shape;159;p49" title="logo coderhouse"/>
          <p:cNvPicPr preferRelativeResize="0"/>
          <p:nvPr/>
        </p:nvPicPr>
        <p:blipFill rotWithShape="1">
          <a:blip r:embed="rId2">
            <a:alphaModFix/>
          </a:blip>
          <a:srcRect/>
          <a:stretch/>
        </p:blipFill>
        <p:spPr>
          <a:xfrm>
            <a:off x="7811413" y="4692275"/>
            <a:ext cx="1150750" cy="2675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2"/>
        <p:cNvGrpSpPr/>
        <p:nvPr/>
      </p:nvGrpSpPr>
      <p:grpSpPr>
        <a:xfrm>
          <a:off x="0" y="0"/>
          <a:ext cx="0" cy="0"/>
          <a:chOff x="0" y="0"/>
          <a:chExt cx="0" cy="0"/>
        </a:xfrm>
      </p:grpSpPr>
      <p:sp>
        <p:nvSpPr>
          <p:cNvPr id="163" name="Google Shape;163;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l">
              <a:lnSpc>
                <a:spcPct val="90000"/>
              </a:lnSpc>
              <a:spcBef>
                <a:spcPts val="0"/>
              </a:spcBef>
              <a:spcAft>
                <a:spcPts val="0"/>
              </a:spcAft>
              <a:buClr>
                <a:schemeClr val="dk1"/>
              </a:buClr>
              <a:buSzPts val="2800"/>
              <a:buFont typeface="Calibri"/>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64" name="Google Shape;164;p5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gn="l">
              <a:lnSpc>
                <a:spcPct val="90000"/>
              </a:lnSpc>
              <a:spcBef>
                <a:spcPts val="0"/>
              </a:spcBef>
              <a:spcAft>
                <a:spcPts val="0"/>
              </a:spcAft>
              <a:buClr>
                <a:schemeClr val="dk1"/>
              </a:buClr>
              <a:buSzPts val="1800"/>
              <a:buChar char="●"/>
              <a:defRPr/>
            </a:lvl1pPr>
            <a:lvl2pPr marL="914400" lvl="1" indent="-317500" algn="l">
              <a:lnSpc>
                <a:spcPct val="90000"/>
              </a:lnSpc>
              <a:spcBef>
                <a:spcPts val="1600"/>
              </a:spcBef>
              <a:spcAft>
                <a:spcPts val="0"/>
              </a:spcAft>
              <a:buClr>
                <a:schemeClr val="dk1"/>
              </a:buClr>
              <a:buSzPts val="1400"/>
              <a:buChar char="○"/>
              <a:defRPr/>
            </a:lvl2pPr>
            <a:lvl3pPr marL="1371600" lvl="2" indent="-317500" algn="l">
              <a:lnSpc>
                <a:spcPct val="90000"/>
              </a:lnSpc>
              <a:spcBef>
                <a:spcPts val="1600"/>
              </a:spcBef>
              <a:spcAft>
                <a:spcPts val="0"/>
              </a:spcAft>
              <a:buClr>
                <a:schemeClr val="dk1"/>
              </a:buClr>
              <a:buSzPts val="1400"/>
              <a:buChar char="■"/>
              <a:defRPr/>
            </a:lvl3pPr>
            <a:lvl4pPr marL="1828800" lvl="3" indent="-317500" algn="l">
              <a:lnSpc>
                <a:spcPct val="90000"/>
              </a:lnSpc>
              <a:spcBef>
                <a:spcPts val="1600"/>
              </a:spcBef>
              <a:spcAft>
                <a:spcPts val="0"/>
              </a:spcAft>
              <a:buClr>
                <a:schemeClr val="dk1"/>
              </a:buClr>
              <a:buSzPts val="1400"/>
              <a:buChar char="●"/>
              <a:defRPr/>
            </a:lvl4pPr>
            <a:lvl5pPr marL="2286000" lvl="4" indent="-317500" algn="l">
              <a:lnSpc>
                <a:spcPct val="90000"/>
              </a:lnSpc>
              <a:spcBef>
                <a:spcPts val="1600"/>
              </a:spcBef>
              <a:spcAft>
                <a:spcPts val="0"/>
              </a:spcAft>
              <a:buClr>
                <a:schemeClr val="dk1"/>
              </a:buClr>
              <a:buSzPts val="1400"/>
              <a:buChar char="○"/>
              <a:defRPr/>
            </a:lvl5pPr>
            <a:lvl6pPr marL="2743200" lvl="5" indent="-317500" algn="l">
              <a:lnSpc>
                <a:spcPct val="90000"/>
              </a:lnSpc>
              <a:spcBef>
                <a:spcPts val="1600"/>
              </a:spcBef>
              <a:spcAft>
                <a:spcPts val="0"/>
              </a:spcAft>
              <a:buClr>
                <a:schemeClr val="dk1"/>
              </a:buClr>
              <a:buSzPts val="1400"/>
              <a:buChar char="■"/>
              <a:defRPr/>
            </a:lvl6pPr>
            <a:lvl7pPr marL="3200400" lvl="6" indent="-317500" algn="l">
              <a:lnSpc>
                <a:spcPct val="90000"/>
              </a:lnSpc>
              <a:spcBef>
                <a:spcPts val="1600"/>
              </a:spcBef>
              <a:spcAft>
                <a:spcPts val="0"/>
              </a:spcAft>
              <a:buClr>
                <a:schemeClr val="dk1"/>
              </a:buClr>
              <a:buSzPts val="1400"/>
              <a:buChar char="●"/>
              <a:defRPr/>
            </a:lvl7pPr>
            <a:lvl8pPr marL="3657600" lvl="7" indent="-317500" algn="l">
              <a:lnSpc>
                <a:spcPct val="90000"/>
              </a:lnSpc>
              <a:spcBef>
                <a:spcPts val="1600"/>
              </a:spcBef>
              <a:spcAft>
                <a:spcPts val="0"/>
              </a:spcAft>
              <a:buClr>
                <a:schemeClr val="dk1"/>
              </a:buClr>
              <a:buSzPts val="1400"/>
              <a:buChar char="○"/>
              <a:defRPr/>
            </a:lvl8pPr>
            <a:lvl9pPr marL="4114800" lvl="8" indent="-317500" algn="l">
              <a:lnSpc>
                <a:spcPct val="90000"/>
              </a:lnSpc>
              <a:spcBef>
                <a:spcPts val="1600"/>
              </a:spcBef>
              <a:spcAft>
                <a:spcPts val="1600"/>
              </a:spcAft>
              <a:buClr>
                <a:schemeClr val="dk1"/>
              </a:buClr>
              <a:buSzPts val="1400"/>
              <a:buChar char="■"/>
              <a:defRPr/>
            </a:lvl9pPr>
          </a:lstStyle>
          <a:p>
            <a:endParaRPr/>
          </a:p>
        </p:txBody>
      </p:sp>
      <p:sp>
        <p:nvSpPr>
          <p:cNvPr id="165" name="Google Shape;16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166"/>
        <p:cNvGrpSpPr/>
        <p:nvPr/>
      </p:nvGrpSpPr>
      <p:grpSpPr>
        <a:xfrm>
          <a:off x="0" y="0"/>
          <a:ext cx="0" cy="0"/>
          <a:chOff x="0" y="0"/>
          <a:chExt cx="0" cy="0"/>
        </a:xfrm>
      </p:grpSpPr>
      <p:sp>
        <p:nvSpPr>
          <p:cNvPr id="167" name="Google Shape;167;p52"/>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8" name="Google Shape;168;p52"/>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9" name="Google Shape;169;p52"/>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0" name="Google Shape;170;p52"/>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52"/>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172"/>
        <p:cNvGrpSpPr/>
        <p:nvPr/>
      </p:nvGrpSpPr>
      <p:grpSpPr>
        <a:xfrm>
          <a:off x="0" y="0"/>
          <a:ext cx="0" cy="0"/>
          <a:chOff x="0" y="0"/>
          <a:chExt cx="0" cy="0"/>
        </a:xfrm>
      </p:grpSpPr>
      <p:sp>
        <p:nvSpPr>
          <p:cNvPr id="173" name="Google Shape;173;p53"/>
          <p:cNvSpPr txBox="1">
            <a:spLocks noGrp="1"/>
          </p:cNvSpPr>
          <p:nvPr>
            <p:ph type="title"/>
          </p:nvPr>
        </p:nvSpPr>
        <p:spPr>
          <a:xfrm>
            <a:off x="623888" y="1282304"/>
            <a:ext cx="7886700" cy="2139600"/>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4" name="Google Shape;174;p53"/>
          <p:cNvSpPr txBox="1">
            <a:spLocks noGrp="1"/>
          </p:cNvSpPr>
          <p:nvPr>
            <p:ph type="body" idx="1"/>
          </p:nvPr>
        </p:nvSpPr>
        <p:spPr>
          <a:xfrm>
            <a:off x="623888" y="3442098"/>
            <a:ext cx="7886700" cy="1125000"/>
          </a:xfrm>
          <a:prstGeom prst="rect">
            <a:avLst/>
          </a:prstGeom>
          <a:noFill/>
          <a:ln>
            <a:noFill/>
          </a:ln>
        </p:spPr>
        <p:txBody>
          <a:bodyPr spcFirstLastPara="1" wrap="square" lIns="91425" tIns="45700" rIns="91425" bIns="45700" anchor="t" anchorCtr="0">
            <a:noAutofit/>
          </a:bodyPr>
          <a:lstStyle>
            <a:lvl1pPr marL="457200" lvl="0" indent="-228600" algn="l">
              <a:lnSpc>
                <a:spcPct val="90000"/>
              </a:lnSpc>
              <a:spcBef>
                <a:spcPts val="750"/>
              </a:spcBef>
              <a:spcAft>
                <a:spcPts val="0"/>
              </a:spcAft>
              <a:buClr>
                <a:srgbClr val="888888"/>
              </a:buClr>
              <a:buSzPts val="1800"/>
              <a:buNone/>
              <a:defRPr sz="1800">
                <a:solidFill>
                  <a:srgbClr val="888888"/>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75" name="Google Shape;175;p53"/>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6" name="Google Shape;176;p53"/>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53"/>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178"/>
        <p:cNvGrpSpPr/>
        <p:nvPr/>
      </p:nvGrpSpPr>
      <p:grpSpPr>
        <a:xfrm>
          <a:off x="0" y="0"/>
          <a:ext cx="0" cy="0"/>
          <a:chOff x="0" y="0"/>
          <a:chExt cx="0" cy="0"/>
        </a:xfrm>
      </p:grpSpPr>
      <p:sp>
        <p:nvSpPr>
          <p:cNvPr id="179" name="Google Shape;179;p54"/>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0" name="Google Shape;180;p54"/>
          <p:cNvSpPr txBox="1">
            <a:spLocks noGrp="1"/>
          </p:cNvSpPr>
          <p:nvPr>
            <p:ph type="body" idx="1"/>
          </p:nvPr>
        </p:nvSpPr>
        <p:spPr>
          <a:xfrm>
            <a:off x="628650" y="1369219"/>
            <a:ext cx="38862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81" name="Google Shape;181;p54"/>
          <p:cNvSpPr txBox="1">
            <a:spLocks noGrp="1"/>
          </p:cNvSpPr>
          <p:nvPr>
            <p:ph type="body" idx="2"/>
          </p:nvPr>
        </p:nvSpPr>
        <p:spPr>
          <a:xfrm>
            <a:off x="4629150" y="1369219"/>
            <a:ext cx="38862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82" name="Google Shape;182;p54"/>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3" name="Google Shape;183;p54"/>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4" name="Google Shape;184;p54"/>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185"/>
        <p:cNvGrpSpPr/>
        <p:nvPr/>
      </p:nvGrpSpPr>
      <p:grpSpPr>
        <a:xfrm>
          <a:off x="0" y="0"/>
          <a:ext cx="0" cy="0"/>
          <a:chOff x="0" y="0"/>
          <a:chExt cx="0" cy="0"/>
        </a:xfrm>
      </p:grpSpPr>
      <p:sp>
        <p:nvSpPr>
          <p:cNvPr id="186" name="Google Shape;186;p55"/>
          <p:cNvSpPr txBox="1">
            <a:spLocks noGrp="1"/>
          </p:cNvSpPr>
          <p:nvPr>
            <p:ph type="title"/>
          </p:nvPr>
        </p:nvSpPr>
        <p:spPr>
          <a:xfrm>
            <a:off x="629841"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7" name="Google Shape;187;p55"/>
          <p:cNvSpPr txBox="1">
            <a:spLocks noGrp="1"/>
          </p:cNvSpPr>
          <p:nvPr>
            <p:ph type="body" idx="1"/>
          </p:nvPr>
        </p:nvSpPr>
        <p:spPr>
          <a:xfrm>
            <a:off x="629842" y="1260872"/>
            <a:ext cx="3868200" cy="618000"/>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88" name="Google Shape;188;p55"/>
          <p:cNvSpPr txBox="1">
            <a:spLocks noGrp="1"/>
          </p:cNvSpPr>
          <p:nvPr>
            <p:ph type="body" idx="2"/>
          </p:nvPr>
        </p:nvSpPr>
        <p:spPr>
          <a:xfrm>
            <a:off x="629842" y="1878806"/>
            <a:ext cx="3868200" cy="27633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89" name="Google Shape;189;p55"/>
          <p:cNvSpPr txBox="1">
            <a:spLocks noGrp="1"/>
          </p:cNvSpPr>
          <p:nvPr>
            <p:ph type="body" idx="3"/>
          </p:nvPr>
        </p:nvSpPr>
        <p:spPr>
          <a:xfrm>
            <a:off x="4629150" y="1260872"/>
            <a:ext cx="3887400" cy="618000"/>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90" name="Google Shape;190;p55"/>
          <p:cNvSpPr txBox="1">
            <a:spLocks noGrp="1"/>
          </p:cNvSpPr>
          <p:nvPr>
            <p:ph type="body" idx="4"/>
          </p:nvPr>
        </p:nvSpPr>
        <p:spPr>
          <a:xfrm>
            <a:off x="4629150" y="1878806"/>
            <a:ext cx="3887400" cy="27633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91" name="Google Shape;191;p55"/>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2" name="Google Shape;192;p55"/>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55"/>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194"/>
        <p:cNvGrpSpPr/>
        <p:nvPr/>
      </p:nvGrpSpPr>
      <p:grpSpPr>
        <a:xfrm>
          <a:off x="0" y="0"/>
          <a:ext cx="0" cy="0"/>
          <a:chOff x="0" y="0"/>
          <a:chExt cx="0" cy="0"/>
        </a:xfrm>
      </p:grpSpPr>
      <p:sp>
        <p:nvSpPr>
          <p:cNvPr id="195" name="Google Shape;195;p56"/>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6" name="Google Shape;196;p56"/>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7" name="Google Shape;197;p56"/>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8" name="Google Shape;198;p56"/>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199"/>
        <p:cNvGrpSpPr/>
        <p:nvPr/>
      </p:nvGrpSpPr>
      <p:grpSpPr>
        <a:xfrm>
          <a:off x="0" y="0"/>
          <a:ext cx="0" cy="0"/>
          <a:chOff x="0" y="0"/>
          <a:chExt cx="0" cy="0"/>
        </a:xfrm>
      </p:grpSpPr>
      <p:sp>
        <p:nvSpPr>
          <p:cNvPr id="200" name="Google Shape;200;p5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1" name="Google Shape;201;p5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2" name="Google Shape;202;p5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03"/>
        <p:cNvGrpSpPr/>
        <p:nvPr/>
      </p:nvGrpSpPr>
      <p:grpSpPr>
        <a:xfrm>
          <a:off x="0" y="0"/>
          <a:ext cx="0" cy="0"/>
          <a:chOff x="0" y="0"/>
          <a:chExt cx="0" cy="0"/>
        </a:xfrm>
      </p:grpSpPr>
      <p:sp>
        <p:nvSpPr>
          <p:cNvPr id="204" name="Google Shape;204;p58"/>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5" name="Google Shape;205;p58"/>
          <p:cNvSpPr txBox="1">
            <a:spLocks noGrp="1"/>
          </p:cNvSpPr>
          <p:nvPr>
            <p:ph type="body" idx="1"/>
          </p:nvPr>
        </p:nvSpPr>
        <p:spPr>
          <a:xfrm>
            <a:off x="3887391" y="740569"/>
            <a:ext cx="4629300" cy="3655200"/>
          </a:xfrm>
          <a:prstGeom prst="rect">
            <a:avLst/>
          </a:prstGeom>
          <a:noFill/>
          <a:ln>
            <a:noFill/>
          </a:ln>
        </p:spPr>
        <p:txBody>
          <a:bodyPr spcFirstLastPara="1" wrap="square" lIns="91425" tIns="45700" rIns="91425" bIns="45700" anchor="t" anchorCtr="0">
            <a:no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206" name="Google Shape;206;p58"/>
          <p:cNvSpPr txBox="1">
            <a:spLocks noGrp="1"/>
          </p:cNvSpPr>
          <p:nvPr>
            <p:ph type="body" idx="2"/>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207" name="Google Shape;207;p58"/>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8" name="Google Shape;208;p58"/>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9" name="Google Shape;209;p58"/>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210"/>
        <p:cNvGrpSpPr/>
        <p:nvPr/>
      </p:nvGrpSpPr>
      <p:grpSpPr>
        <a:xfrm>
          <a:off x="0" y="0"/>
          <a:ext cx="0" cy="0"/>
          <a:chOff x="0" y="0"/>
          <a:chExt cx="0" cy="0"/>
        </a:xfrm>
      </p:grpSpPr>
      <p:sp>
        <p:nvSpPr>
          <p:cNvPr id="211" name="Google Shape;211;p59"/>
          <p:cNvSpPr txBox="1">
            <a:spLocks noGrp="1"/>
          </p:cNvSpPr>
          <p:nvPr>
            <p:ph type="title"/>
          </p:nvPr>
        </p:nvSpPr>
        <p:spPr>
          <a:xfrm>
            <a:off x="629841" y="342900"/>
            <a:ext cx="2949300" cy="1200300"/>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2" name="Google Shape;212;p59"/>
          <p:cNvSpPr>
            <a:spLocks noGrp="1"/>
          </p:cNvSpPr>
          <p:nvPr>
            <p:ph type="pic" idx="2"/>
          </p:nvPr>
        </p:nvSpPr>
        <p:spPr>
          <a:xfrm>
            <a:off x="3887391" y="740569"/>
            <a:ext cx="4629300" cy="3655200"/>
          </a:xfrm>
          <a:prstGeom prst="rect">
            <a:avLst/>
          </a:prstGeom>
          <a:noFill/>
          <a:ln>
            <a:noFill/>
          </a:ln>
        </p:spPr>
      </p:sp>
      <p:sp>
        <p:nvSpPr>
          <p:cNvPr id="213" name="Google Shape;213;p59"/>
          <p:cNvSpPr txBox="1">
            <a:spLocks noGrp="1"/>
          </p:cNvSpPr>
          <p:nvPr>
            <p:ph type="body" idx="1"/>
          </p:nvPr>
        </p:nvSpPr>
        <p:spPr>
          <a:xfrm>
            <a:off x="629841" y="1543050"/>
            <a:ext cx="2949300" cy="2858700"/>
          </a:xfrm>
          <a:prstGeom prst="rect">
            <a:avLst/>
          </a:prstGeom>
          <a:noFill/>
          <a:ln>
            <a:noFill/>
          </a:ln>
        </p:spPr>
        <p:txBody>
          <a:bodyPr spcFirstLastPara="1" wrap="square" lIns="91425" tIns="45700" rIns="91425" bIns="45700" anchor="t" anchorCtr="0">
            <a:no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214" name="Google Shape;214;p59"/>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5" name="Google Shape;215;p59"/>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6" name="Google Shape;216;p59"/>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217"/>
        <p:cNvGrpSpPr/>
        <p:nvPr/>
      </p:nvGrpSpPr>
      <p:grpSpPr>
        <a:xfrm>
          <a:off x="0" y="0"/>
          <a:ext cx="0" cy="0"/>
          <a:chOff x="0" y="0"/>
          <a:chExt cx="0" cy="0"/>
        </a:xfrm>
      </p:grpSpPr>
      <p:sp>
        <p:nvSpPr>
          <p:cNvPr id="218" name="Google Shape;218;p60"/>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9" name="Google Shape;219;p60"/>
          <p:cNvSpPr txBox="1">
            <a:spLocks noGrp="1"/>
          </p:cNvSpPr>
          <p:nvPr>
            <p:ph type="body" idx="1"/>
          </p:nvPr>
        </p:nvSpPr>
        <p:spPr>
          <a:xfrm rot="5400000">
            <a:off x="2940300" y="-942431"/>
            <a:ext cx="3263400" cy="78867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0" name="Google Shape;220;p60"/>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1" name="Google Shape;221;p60"/>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2" name="Google Shape;222;p60"/>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223"/>
        <p:cNvGrpSpPr/>
        <p:nvPr/>
      </p:nvGrpSpPr>
      <p:grpSpPr>
        <a:xfrm>
          <a:off x="0" y="0"/>
          <a:ext cx="0" cy="0"/>
          <a:chOff x="0" y="0"/>
          <a:chExt cx="0" cy="0"/>
        </a:xfrm>
      </p:grpSpPr>
      <p:sp>
        <p:nvSpPr>
          <p:cNvPr id="224" name="Google Shape;224;p61"/>
          <p:cNvSpPr txBox="1">
            <a:spLocks noGrp="1"/>
          </p:cNvSpPr>
          <p:nvPr>
            <p:ph type="title"/>
          </p:nvPr>
        </p:nvSpPr>
        <p:spPr>
          <a:xfrm rot="5400000">
            <a:off x="5350050" y="1467544"/>
            <a:ext cx="4359000" cy="19716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5" name="Google Shape;225;p61"/>
          <p:cNvSpPr txBox="1">
            <a:spLocks noGrp="1"/>
          </p:cNvSpPr>
          <p:nvPr>
            <p:ph type="body" idx="1"/>
          </p:nvPr>
        </p:nvSpPr>
        <p:spPr>
          <a:xfrm rot="5400000">
            <a:off x="1349475" y="-447056"/>
            <a:ext cx="4359000" cy="58008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6" name="Google Shape;226;p61"/>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7" name="Google Shape;227;p61"/>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8" name="Google Shape;228;p61"/>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Blanco 1">
  <p:cSld name="Blanco 1">
    <p:bg>
      <p:bgPr>
        <a:solidFill>
          <a:schemeClr val="lt1"/>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
        <p:nvSpPr>
          <p:cNvPr id="55" name="Google Shape;55;p14"/>
          <p:cNvSpPr txBox="1"/>
          <p:nvPr/>
        </p:nvSpPr>
        <p:spPr>
          <a:xfrm>
            <a:off x="476125" y="165026"/>
            <a:ext cx="6444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Coderhouse</a:t>
            </a:r>
            <a:endParaRPr sz="500">
              <a:solidFill>
                <a:srgbClr val="222224"/>
              </a:solidFill>
              <a:latin typeface="Plus Jakarta Sans"/>
              <a:ea typeface="Plus Jakarta Sans"/>
              <a:cs typeface="Plus Jakarta Sans"/>
              <a:sym typeface="Plus Jakarta Sans"/>
            </a:endParaRPr>
          </a:p>
        </p:txBody>
      </p:sp>
      <p:sp>
        <p:nvSpPr>
          <p:cNvPr id="56" name="Google Shape;56;p14"/>
          <p:cNvSpPr txBox="1"/>
          <p:nvPr/>
        </p:nvSpPr>
        <p:spPr>
          <a:xfrm>
            <a:off x="6923014" y="165026"/>
            <a:ext cx="1188600" cy="188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Internal  Presentation</a:t>
            </a:r>
            <a:endParaRPr sz="500">
              <a:solidFill>
                <a:srgbClr val="222224"/>
              </a:solidFill>
              <a:latin typeface="Plus Jakarta Sans"/>
              <a:ea typeface="Plus Jakarta Sans"/>
              <a:cs typeface="Plus Jakarta Sans"/>
              <a:sym typeface="Plus Jakarta Sans"/>
            </a:endParaRPr>
          </a:p>
        </p:txBody>
      </p:sp>
      <p:sp>
        <p:nvSpPr>
          <p:cNvPr id="57" name="Google Shape;57;p14"/>
          <p:cNvSpPr txBox="1"/>
          <p:nvPr/>
        </p:nvSpPr>
        <p:spPr>
          <a:xfrm>
            <a:off x="2196557" y="165026"/>
            <a:ext cx="12420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222224"/>
                </a:solidFill>
                <a:latin typeface="Plus Jakarta Sans"/>
                <a:ea typeface="Plus Jakarta Sans"/>
                <a:cs typeface="Plus Jakarta Sans"/>
                <a:sym typeface="Plus Jakarta Sans"/>
              </a:rPr>
              <a:t>2026</a:t>
            </a:r>
            <a:endParaRPr sz="500">
              <a:solidFill>
                <a:srgbClr val="222224"/>
              </a:solidFill>
              <a:latin typeface="Plus Jakarta Sans"/>
              <a:ea typeface="Plus Jakarta Sans"/>
              <a:cs typeface="Plus Jakarta Sans"/>
              <a:sym typeface="Plus Jakarta Sans"/>
            </a:endParaRPr>
          </a:p>
        </p:txBody>
      </p:sp>
      <p:sp>
        <p:nvSpPr>
          <p:cNvPr id="58" name="Google Shape;58;p14"/>
          <p:cNvSpPr txBox="1"/>
          <p:nvPr/>
        </p:nvSpPr>
        <p:spPr>
          <a:xfrm>
            <a:off x="8373525" y="90649"/>
            <a:ext cx="369600" cy="337200"/>
          </a:xfrm>
          <a:prstGeom prst="rect">
            <a:avLst/>
          </a:prstGeom>
          <a:noFill/>
          <a:ln>
            <a:noFill/>
          </a:ln>
        </p:spPr>
        <p:txBody>
          <a:bodyPr spcFirstLastPara="1" wrap="square" lIns="88475" tIns="88475" rIns="88475" bIns="88475" anchor="ctr" anchorCtr="0">
            <a:noAutofit/>
          </a:bodyPr>
          <a:lstStyle/>
          <a:p>
            <a:pPr marL="0" lvl="0" indent="0" algn="ctr" rtl="0">
              <a:lnSpc>
                <a:spcPct val="100000"/>
              </a:lnSpc>
              <a:spcBef>
                <a:spcPts val="0"/>
              </a:spcBef>
              <a:spcAft>
                <a:spcPts val="0"/>
              </a:spcAft>
              <a:buNone/>
            </a:pPr>
            <a:fld id="{00000000-1234-1234-1234-123412341234}" type="slidenum">
              <a:rPr lang="es" sz="500">
                <a:solidFill>
                  <a:srgbClr val="222224"/>
                </a:solidFill>
                <a:latin typeface="Plus Jakarta Sans"/>
                <a:ea typeface="Plus Jakarta Sans"/>
                <a:cs typeface="Plus Jakarta Sans"/>
                <a:sym typeface="Plus Jakarta Sans"/>
              </a:rPr>
              <a:t>‹Nº›</a:t>
            </a:fld>
            <a:endParaRPr sz="500">
              <a:solidFill>
                <a:srgbClr val="222224"/>
              </a:solidFill>
              <a:latin typeface="Plus Jakarta Sans"/>
              <a:ea typeface="Plus Jakarta Sans"/>
              <a:cs typeface="Plus Jakarta Sans"/>
              <a:sym typeface="Plus Jakarta Sans"/>
            </a:endParaRPr>
          </a:p>
        </p:txBody>
      </p:sp>
    </p:spTree>
    <p:extLst>
      <p:ext uri="{BB962C8B-B14F-4D97-AF65-F5344CB8AC3E}">
        <p14:creationId xmlns:p14="http://schemas.microsoft.com/office/powerpoint/2010/main" val="39612130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Imagen">
  <p:cSld name="Imagen">
    <p:bg>
      <p:bgPr>
        <a:solidFill>
          <a:schemeClr val="lt1"/>
        </a:solidFill>
        <a:effectLst/>
      </p:bgPr>
    </p:bg>
    <p:spTree>
      <p:nvGrpSpPr>
        <p:cNvPr id="1" name="Shape 59"/>
        <p:cNvGrpSpPr/>
        <p:nvPr/>
      </p:nvGrpSpPr>
      <p:grpSpPr>
        <a:xfrm>
          <a:off x="0" y="0"/>
          <a:ext cx="0" cy="0"/>
          <a:chOff x="0" y="0"/>
          <a:chExt cx="0" cy="0"/>
        </a:xfrm>
      </p:grpSpPr>
      <p:pic>
        <p:nvPicPr>
          <p:cNvPr id="60" name="Google Shape;60;p15" title="27800720-6c2b-4e33-a6ed-849e08f57757.png"/>
          <p:cNvPicPr preferRelativeResize="0"/>
          <p:nvPr/>
        </p:nvPicPr>
        <p:blipFill rotWithShape="1">
          <a:blip r:embed="rId2">
            <a:alphaModFix/>
          </a:blip>
          <a:srcRect t="15047" b="53399"/>
          <a:stretch/>
        </p:blipFill>
        <p:spPr>
          <a:xfrm>
            <a:off x="-45875" y="-37100"/>
            <a:ext cx="9235751" cy="5180600"/>
          </a:xfrm>
          <a:prstGeom prst="rect">
            <a:avLst/>
          </a:prstGeom>
          <a:noFill/>
          <a:ln>
            <a:noFill/>
          </a:ln>
        </p:spPr>
      </p:pic>
      <p:sp>
        <p:nvSpPr>
          <p:cNvPr id="61" name="Google Shape;61;p15"/>
          <p:cNvSpPr txBox="1"/>
          <p:nvPr/>
        </p:nvSpPr>
        <p:spPr>
          <a:xfrm>
            <a:off x="476125" y="165026"/>
            <a:ext cx="6444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F8F2E8"/>
                </a:solidFill>
                <a:latin typeface="Plus Jakarta Sans"/>
                <a:ea typeface="Plus Jakarta Sans"/>
                <a:cs typeface="Plus Jakarta Sans"/>
                <a:sym typeface="Plus Jakarta Sans"/>
              </a:rPr>
              <a:t>Coderhouse</a:t>
            </a:r>
            <a:endParaRPr sz="500">
              <a:solidFill>
                <a:srgbClr val="F8F2E8"/>
              </a:solidFill>
              <a:latin typeface="Plus Jakarta Sans"/>
              <a:ea typeface="Plus Jakarta Sans"/>
              <a:cs typeface="Plus Jakarta Sans"/>
              <a:sym typeface="Plus Jakarta Sans"/>
            </a:endParaRPr>
          </a:p>
        </p:txBody>
      </p:sp>
      <p:sp>
        <p:nvSpPr>
          <p:cNvPr id="62" name="Google Shape;62;p15"/>
          <p:cNvSpPr txBox="1"/>
          <p:nvPr/>
        </p:nvSpPr>
        <p:spPr>
          <a:xfrm>
            <a:off x="6923014" y="165026"/>
            <a:ext cx="1188600" cy="188400"/>
          </a:xfrm>
          <a:prstGeom prst="rect">
            <a:avLst/>
          </a:prstGeom>
          <a:noFill/>
          <a:ln>
            <a:noFill/>
          </a:ln>
        </p:spPr>
        <p:txBody>
          <a:bodyPr spcFirstLastPara="1" wrap="square" lIns="91425" tIns="91425" rIns="91425" bIns="91425" anchor="ctr" anchorCtr="0">
            <a:noAutofit/>
          </a:bodyPr>
          <a:lstStyle/>
          <a:p>
            <a:pPr marL="0" lvl="0" indent="0" algn="r" rtl="0">
              <a:lnSpc>
                <a:spcPct val="100000"/>
              </a:lnSpc>
              <a:spcBef>
                <a:spcPts val="0"/>
              </a:spcBef>
              <a:spcAft>
                <a:spcPts val="0"/>
              </a:spcAft>
              <a:buNone/>
            </a:pPr>
            <a:r>
              <a:rPr lang="es" sz="500">
                <a:solidFill>
                  <a:srgbClr val="F8F2E8"/>
                </a:solidFill>
                <a:latin typeface="Plus Jakarta Sans"/>
                <a:ea typeface="Plus Jakarta Sans"/>
                <a:cs typeface="Plus Jakarta Sans"/>
                <a:sym typeface="Plus Jakarta Sans"/>
              </a:rPr>
              <a:t>Internal  Presentation</a:t>
            </a:r>
            <a:endParaRPr sz="500">
              <a:solidFill>
                <a:srgbClr val="F8F2E8"/>
              </a:solidFill>
              <a:latin typeface="Plus Jakarta Sans"/>
              <a:ea typeface="Plus Jakarta Sans"/>
              <a:cs typeface="Plus Jakarta Sans"/>
              <a:sym typeface="Plus Jakarta Sans"/>
            </a:endParaRPr>
          </a:p>
        </p:txBody>
      </p:sp>
      <p:sp>
        <p:nvSpPr>
          <p:cNvPr id="63" name="Google Shape;63;p15"/>
          <p:cNvSpPr txBox="1"/>
          <p:nvPr/>
        </p:nvSpPr>
        <p:spPr>
          <a:xfrm>
            <a:off x="2196557" y="165026"/>
            <a:ext cx="1242000" cy="188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s" sz="500">
                <a:solidFill>
                  <a:srgbClr val="F8F2E8"/>
                </a:solidFill>
                <a:latin typeface="Plus Jakarta Sans"/>
                <a:ea typeface="Plus Jakarta Sans"/>
                <a:cs typeface="Plus Jakarta Sans"/>
                <a:sym typeface="Plus Jakarta Sans"/>
              </a:rPr>
              <a:t>2026</a:t>
            </a:r>
            <a:endParaRPr sz="500">
              <a:solidFill>
                <a:srgbClr val="F8F2E8"/>
              </a:solidFill>
              <a:latin typeface="Plus Jakarta Sans"/>
              <a:ea typeface="Plus Jakarta Sans"/>
              <a:cs typeface="Plus Jakarta Sans"/>
              <a:sym typeface="Plus Jakarta Sans"/>
            </a:endParaRPr>
          </a:p>
        </p:txBody>
      </p:sp>
      <p:sp>
        <p:nvSpPr>
          <p:cNvPr id="64" name="Google Shape;64;p15"/>
          <p:cNvSpPr txBox="1"/>
          <p:nvPr/>
        </p:nvSpPr>
        <p:spPr>
          <a:xfrm>
            <a:off x="8373525" y="90649"/>
            <a:ext cx="369600" cy="337200"/>
          </a:xfrm>
          <a:prstGeom prst="rect">
            <a:avLst/>
          </a:prstGeom>
          <a:noFill/>
          <a:ln>
            <a:noFill/>
          </a:ln>
        </p:spPr>
        <p:txBody>
          <a:bodyPr spcFirstLastPara="1" wrap="square" lIns="88475" tIns="88475" rIns="88475" bIns="88475" anchor="ctr" anchorCtr="0">
            <a:noAutofit/>
          </a:bodyPr>
          <a:lstStyle/>
          <a:p>
            <a:pPr marL="0" lvl="0" indent="0" algn="ctr" rtl="0">
              <a:lnSpc>
                <a:spcPct val="100000"/>
              </a:lnSpc>
              <a:spcBef>
                <a:spcPts val="0"/>
              </a:spcBef>
              <a:spcAft>
                <a:spcPts val="0"/>
              </a:spcAft>
              <a:buNone/>
            </a:pPr>
            <a:fld id="{00000000-1234-1234-1234-123412341234}" type="slidenum">
              <a:rPr lang="es" sz="500">
                <a:solidFill>
                  <a:srgbClr val="F8F2E8"/>
                </a:solidFill>
                <a:latin typeface="Plus Jakarta Sans"/>
                <a:ea typeface="Plus Jakarta Sans"/>
                <a:cs typeface="Plus Jakarta Sans"/>
                <a:sym typeface="Plus Jakarta Sans"/>
              </a:rPr>
              <a:t>‹Nº›</a:t>
            </a:fld>
            <a:endParaRPr sz="500">
              <a:solidFill>
                <a:srgbClr val="F8F2E8"/>
              </a:solidFill>
              <a:latin typeface="Plus Jakarta Sans"/>
              <a:ea typeface="Plus Jakarta Sans"/>
              <a:cs typeface="Plus Jakarta Sans"/>
              <a:sym typeface="Plus Jakarta Sans"/>
            </a:endParaRPr>
          </a:p>
        </p:txBody>
      </p:sp>
    </p:spTree>
    <p:extLst>
      <p:ext uri="{BB962C8B-B14F-4D97-AF65-F5344CB8AC3E}">
        <p14:creationId xmlns:p14="http://schemas.microsoft.com/office/powerpoint/2010/main" val="1981881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Gradiente">
  <p:cSld name="Gradiente">
    <p:spTree>
      <p:nvGrpSpPr>
        <p:cNvPr id="1" name="Shape 85"/>
        <p:cNvGrpSpPr/>
        <p:nvPr/>
      </p:nvGrpSpPr>
      <p:grpSpPr>
        <a:xfrm>
          <a:off x="0" y="0"/>
          <a:ext cx="0" cy="0"/>
          <a:chOff x="0" y="0"/>
          <a:chExt cx="0" cy="0"/>
        </a:xfrm>
      </p:grpSpPr>
      <p:pic>
        <p:nvPicPr>
          <p:cNvPr id="86" name="Google Shape;86;p22" title="Coder Facebook (6).png"/>
          <p:cNvPicPr preferRelativeResize="0"/>
          <p:nvPr/>
        </p:nvPicPr>
        <p:blipFill>
          <a:blip r:embed="rId2">
            <a:alphaModFix/>
          </a:blip>
          <a:stretch>
            <a:fillRect/>
          </a:stretch>
        </p:blipFill>
        <p:spPr>
          <a:xfrm>
            <a:off x="-111725" y="0"/>
            <a:ext cx="9255725" cy="5206351"/>
          </a:xfrm>
          <a:prstGeom prst="rect">
            <a:avLst/>
          </a:prstGeom>
          <a:noFill/>
          <a:ln>
            <a:noFill/>
          </a:ln>
        </p:spPr>
      </p:pic>
    </p:spTree>
    <p:extLst>
      <p:ext uri="{BB962C8B-B14F-4D97-AF65-F5344CB8AC3E}">
        <p14:creationId xmlns:p14="http://schemas.microsoft.com/office/powerpoint/2010/main" val="4571019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theme" Target="../theme/theme2.xml"/><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5" Type="http://schemas.openxmlformats.org/officeDocument/2006/relationships/slideLayout" Target="../slideLayouts/slideLayout25.xml"/><Relationship Id="rId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theme" Target="../theme/theme3.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theme" Target="../theme/theme4.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709" r:id="rId18"/>
    <p:sldLayoutId id="2147483710" r:id="rId19"/>
    <p:sldLayoutId id="2147483711"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68"/>
        <p:cNvGrpSpPr/>
        <p:nvPr/>
      </p:nvGrpSpPr>
      <p:grpSpPr>
        <a:xfrm>
          <a:off x="0" y="0"/>
          <a:ext cx="0" cy="0"/>
          <a:chOff x="0" y="0"/>
          <a:chExt cx="0" cy="0"/>
        </a:xfrm>
      </p:grpSpPr>
      <p:sp>
        <p:nvSpPr>
          <p:cNvPr id="69" name="Google Shape;69;p2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0" name="Google Shape;70;p2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71" name="Google Shape;71;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67" r:id="rId1"/>
    <p:sldLayoutId id="2147483669" r:id="rId2"/>
    <p:sldLayoutId id="2147483671" r:id="rId3"/>
    <p:sldLayoutId id="2147483676" r:id="rId4"/>
    <p:sldLayoutId id="2147483677" r:id="rId5"/>
    <p:sldLayoutId id="2147483714"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7"/>
        <p:cNvGrpSpPr/>
        <p:nvPr/>
      </p:nvGrpSpPr>
      <p:grpSpPr>
        <a:xfrm>
          <a:off x="0" y="0"/>
          <a:ext cx="0" cy="0"/>
          <a:chOff x="0" y="0"/>
          <a:chExt cx="0" cy="0"/>
        </a:xfrm>
      </p:grpSpPr>
      <p:sp>
        <p:nvSpPr>
          <p:cNvPr id="98" name="Google Shape;98;p3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99" name="Google Shape;99;p3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00" name="Google Shape;100;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4"/>
        <p:cNvGrpSpPr/>
        <p:nvPr/>
      </p:nvGrpSpPr>
      <p:grpSpPr>
        <a:xfrm>
          <a:off x="0" y="0"/>
          <a:ext cx="0" cy="0"/>
          <a:chOff x="0" y="0"/>
          <a:chExt cx="0" cy="0"/>
        </a:xfrm>
      </p:grpSpPr>
      <p:sp>
        <p:nvSpPr>
          <p:cNvPr id="145" name="Google Shape;145;p46"/>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46" name="Google Shape;146;p46"/>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47" name="Google Shape;147;p46"/>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48" name="Google Shape;148;p46"/>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49" name="Google Shape;149;p46"/>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419"/>
              <a:t>‹Nº›</a:t>
            </a:fld>
            <a:endParaRPr/>
          </a:p>
        </p:txBody>
      </p:sp>
    </p:spTree>
  </p:cSld>
  <p:clrMap bg1="lt1" tx1="dk1" bg2="dk2" tx2="lt2" accent1="accent1" accent2="accent2" accent3="accent3" accent4="accent4" accent5="accent5" accent6="accent6" hlink="hlink" folHlink="folHlink"/>
  <p:sldLayoutIdLst>
    <p:sldLayoutId id="2147483690" r:id="rId1"/>
    <p:sldLayoutId id="2147483692"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12" r:id="rId14"/>
    <p:sldLayoutId id="2147483713" r:id="rId15"/>
    <p:sldLayoutId id="214748371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7.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9.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5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54.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5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0.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5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54.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0.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6.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6.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6.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26.xm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6.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6.xml"/><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6.xml"/><Relationship Id="rId5" Type="http://schemas.openxmlformats.org/officeDocument/2006/relationships/image" Target="../media/image24.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6.xml"/><Relationship Id="rId5" Type="http://schemas.openxmlformats.org/officeDocument/2006/relationships/image" Target="../media/image26.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6.xml"/><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26.xml"/><Relationship Id="rId5" Type="http://schemas.openxmlformats.org/officeDocument/2006/relationships/image" Target="../media/image28.pn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26.xml"/><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6.xml"/><Relationship Id="rId5" Type="http://schemas.openxmlformats.org/officeDocument/2006/relationships/image" Target="../media/image32.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26.xml"/><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6.xml"/><Relationship Id="rId1" Type="http://schemas.openxmlformats.org/officeDocument/2006/relationships/slideLayout" Target="../slideLayouts/slideLayout26.xml"/></Relationships>
</file>

<file path=ppt/slides/_rels/slide3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6.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2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6.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26.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6.xml"/><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2.xml"/><Relationship Id="rId1" Type="http://schemas.openxmlformats.org/officeDocument/2006/relationships/slideLayout" Target="../slideLayouts/slideLayout26.xm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3.xml"/><Relationship Id="rId1" Type="http://schemas.openxmlformats.org/officeDocument/2006/relationships/slideLayout" Target="../slideLayouts/slideLayout26.xml"/><Relationship Id="rId4" Type="http://schemas.openxmlformats.org/officeDocument/2006/relationships/image" Target="../media/image42.png"/></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4.xml"/><Relationship Id="rId1" Type="http://schemas.openxmlformats.org/officeDocument/2006/relationships/slideLayout" Target="../slideLayouts/slideLayout26.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5.xml"/><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6.xml"/><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6"/>
          <p:cNvSpPr txBox="1"/>
          <p:nvPr/>
        </p:nvSpPr>
        <p:spPr>
          <a:xfrm>
            <a:off x="1212112" y="2546912"/>
            <a:ext cx="5142492" cy="1719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 sz="5000" dirty="0" smtClean="0">
                <a:solidFill>
                  <a:srgbClr val="FF632B"/>
                </a:solidFill>
                <a:latin typeface="Plus Jakarta Sans ExtraBold"/>
                <a:ea typeface="Plus Jakarta Sans ExtraBold"/>
                <a:cs typeface="Plus Jakarta Sans ExtraBold"/>
                <a:sym typeface="Plus Jakarta Sans ExtraBold"/>
              </a:rPr>
              <a:t>Bienvenidos!</a:t>
            </a:r>
            <a:endParaRPr sz="5000" dirty="0">
              <a:solidFill>
                <a:srgbClr val="FF632B"/>
              </a:solidFill>
              <a:latin typeface="Plus Jakarta Sans ExtraBold"/>
              <a:ea typeface="Plus Jakarta Sans ExtraBold"/>
              <a:cs typeface="Plus Jakarta Sans ExtraBold"/>
              <a:sym typeface="Plus Jakarta Sans ExtraBold"/>
            </a:endParaRPr>
          </a:p>
        </p:txBody>
      </p:sp>
      <p:sp>
        <p:nvSpPr>
          <p:cNvPr id="230" name="Google Shape;230;p36"/>
          <p:cNvSpPr txBox="1"/>
          <p:nvPr/>
        </p:nvSpPr>
        <p:spPr>
          <a:xfrm>
            <a:off x="3219832" y="728378"/>
            <a:ext cx="8169075" cy="279544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8800" b="1" dirty="0" smtClean="0">
                <a:solidFill>
                  <a:srgbClr val="F8F2E8"/>
                </a:solidFill>
                <a:latin typeface="Plus Jakarta Sans ExtraBold"/>
                <a:ea typeface="Plus Jakarta Sans ExtraBold"/>
                <a:cs typeface="Plus Jakarta Sans ExtraBold"/>
                <a:sym typeface="Plus Jakarta Sans ExtraBold"/>
              </a:rPr>
              <a:t>SQL</a:t>
            </a:r>
            <a:endParaRPr sz="8800" b="1" dirty="0">
              <a:solidFill>
                <a:srgbClr val="F8F2E8"/>
              </a:solidFill>
              <a:latin typeface="Plus Jakarta Sans ExtraBold"/>
              <a:ea typeface="Plus Jakarta Sans ExtraBold"/>
              <a:cs typeface="Plus Jakarta Sans ExtraBold"/>
              <a:sym typeface="Plus Jakarta Sans ExtraBold"/>
            </a:endParaRPr>
          </a:p>
        </p:txBody>
      </p:sp>
      <p:pic>
        <p:nvPicPr>
          <p:cNvPr id="6" name="Google Shape;93;p23" title="logo gradient 1.png"/>
          <p:cNvPicPr preferRelativeResize="0"/>
          <p:nvPr/>
        </p:nvPicPr>
        <p:blipFill>
          <a:blip r:embed="rId3">
            <a:alphaModFix/>
          </a:blip>
          <a:stretch>
            <a:fillRect/>
          </a:stretch>
        </p:blipFill>
        <p:spPr>
          <a:xfrm>
            <a:off x="2713303" y="4037844"/>
            <a:ext cx="3283459" cy="74680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4184831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3"/>
          <p:cNvSpPr txBox="1"/>
          <p:nvPr/>
        </p:nvSpPr>
        <p:spPr>
          <a:xfrm>
            <a:off x="382772" y="2088264"/>
            <a:ext cx="8346558" cy="1416059"/>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5000" dirty="0" smtClean="0">
                <a:solidFill>
                  <a:srgbClr val="F8F2E8"/>
                </a:solidFill>
                <a:latin typeface="Plus Jakarta Sans ExtraBold"/>
                <a:ea typeface="Plus Jakarta Sans ExtraBold"/>
                <a:cs typeface="Plus Jakarta Sans ExtraBold"/>
                <a:sym typeface="Plus Jakarta Sans ExtraBold"/>
              </a:rPr>
              <a:t>¡Les </a:t>
            </a:r>
            <a:r>
              <a:rPr lang="es" sz="5000" dirty="0">
                <a:solidFill>
                  <a:srgbClr val="F8F2E8"/>
                </a:solidFill>
                <a:latin typeface="Plus Jakarta Sans ExtraBold"/>
                <a:ea typeface="Plus Jakarta Sans ExtraBold"/>
                <a:cs typeface="Plus Jakarta Sans ExtraBold"/>
                <a:sym typeface="Plus Jakarta Sans ExtraBold"/>
              </a:rPr>
              <a:t>damos la </a:t>
            </a:r>
            <a:r>
              <a:rPr lang="es" sz="5000" dirty="0" smtClean="0">
                <a:solidFill>
                  <a:srgbClr val="F8F2E8"/>
                </a:solidFill>
                <a:latin typeface="Plus Jakarta Sans ExtraBold"/>
                <a:ea typeface="Plus Jakarta Sans ExtraBold"/>
                <a:cs typeface="Plus Jakarta Sans ExtraBold"/>
                <a:sym typeface="Plus Jakarta Sans ExtraBold"/>
              </a:rPr>
              <a:t>bienvenida!</a:t>
            </a:r>
            <a:endParaRPr sz="2000" dirty="0">
              <a:solidFill>
                <a:srgbClr val="F8F2E8"/>
              </a:solidFill>
              <a:latin typeface="Plus Jakarta Sans ExtraBold"/>
              <a:ea typeface="Plus Jakarta Sans ExtraBold"/>
              <a:cs typeface="Plus Jakarta Sans ExtraBold"/>
              <a:sym typeface="Plus Jakarta Sans ExtraBold"/>
            </a:endParaRPr>
          </a:p>
        </p:txBody>
      </p:sp>
      <p:sp>
        <p:nvSpPr>
          <p:cNvPr id="92" name="Google Shape;92;p23"/>
          <p:cNvSpPr txBox="1"/>
          <p:nvPr/>
        </p:nvSpPr>
        <p:spPr>
          <a:xfrm>
            <a:off x="1244857" y="465750"/>
            <a:ext cx="6462900" cy="465903"/>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3000" dirty="0">
                <a:solidFill>
                  <a:srgbClr val="F8F2E8"/>
                </a:solidFill>
                <a:latin typeface="Plus Jakarta Sans Light"/>
                <a:ea typeface="Plus Jakarta Sans Light"/>
                <a:cs typeface="Plus Jakarta Sans Light"/>
                <a:sym typeface="Plus Jakarta Sans Light"/>
              </a:rPr>
              <a:t>¿Comenzamos?</a:t>
            </a:r>
            <a:endParaRPr sz="3000" dirty="0">
              <a:solidFill>
                <a:srgbClr val="F8F2E8"/>
              </a:solidFill>
              <a:latin typeface="Plus Jakarta Sans Light"/>
              <a:ea typeface="Plus Jakarta Sans Light"/>
              <a:cs typeface="Plus Jakarta Sans Light"/>
              <a:sym typeface="Plus Jakarta Sans Light"/>
            </a:endParaRPr>
          </a:p>
        </p:txBody>
      </p:sp>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94" name="Google Shape;94;p23"/>
          <p:cNvSpPr txBox="1"/>
          <p:nvPr/>
        </p:nvSpPr>
        <p:spPr>
          <a:xfrm>
            <a:off x="1373325" y="3219550"/>
            <a:ext cx="6462900" cy="318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dirty="0" smtClean="0">
                <a:solidFill>
                  <a:srgbClr val="F8F2E8"/>
                </a:solidFill>
                <a:latin typeface="Plus Jakarta Sans Light"/>
                <a:ea typeface="Plus Jakarta Sans Light"/>
                <a:cs typeface="Plus Jakarta Sans Light"/>
                <a:sym typeface="Plus Jakarta Sans Light"/>
              </a:rPr>
              <a:t>Esta guía contiene los lineamientos básicos</a:t>
            </a:r>
            <a:endParaRPr sz="2000" dirty="0" smtClean="0">
              <a:solidFill>
                <a:srgbClr val="F8F2E8"/>
              </a:solidFill>
              <a:latin typeface="Plus Jakarta Sans Light"/>
              <a:ea typeface="Plus Jakarta Sans Light"/>
              <a:cs typeface="Plus Jakarta Sans Light"/>
              <a:sym typeface="Plus Jakarta Sans Light"/>
            </a:endParaRPr>
          </a:p>
          <a:p>
            <a:pPr marL="0" lvl="0" indent="0" algn="ctr" rtl="0">
              <a:spcBef>
                <a:spcPts val="0"/>
              </a:spcBef>
              <a:spcAft>
                <a:spcPts val="0"/>
              </a:spcAft>
              <a:buNone/>
            </a:pPr>
            <a:r>
              <a:rPr lang="es" sz="2000" dirty="0" smtClean="0">
                <a:solidFill>
                  <a:srgbClr val="F8F2E8"/>
                </a:solidFill>
                <a:latin typeface="Plus Jakarta Sans Light"/>
                <a:ea typeface="Plus Jakarta Sans Light"/>
                <a:cs typeface="Plus Jakarta Sans Light"/>
                <a:sym typeface="Plus Jakarta Sans Light"/>
              </a:rPr>
              <a:t>que orientan el uso de las slides en la creación del material de clase.</a:t>
            </a:r>
            <a:endParaRPr sz="2000" dirty="0">
              <a:solidFill>
                <a:srgbClr val="F8F2E8"/>
              </a:solidFill>
              <a:latin typeface="Plus Jakarta Sans Light"/>
              <a:ea typeface="Plus Jakarta Sans Light"/>
              <a:cs typeface="Plus Jakarta Sans Light"/>
              <a:sym typeface="Plus Jakarta Sans Light"/>
            </a:endParaRPr>
          </a:p>
        </p:txBody>
      </p:sp>
      <p:pic>
        <p:nvPicPr>
          <p:cNvPr id="6" name="Google Shape;235;p62" descr="Man Dancing on Apple iOS 12.2"/>
          <p:cNvPicPr preferRelativeResize="0"/>
          <p:nvPr/>
        </p:nvPicPr>
        <p:blipFill rotWithShape="1">
          <a:blip r:embed="rId4">
            <a:alphaModFix/>
          </a:blip>
          <a:srcRect/>
          <a:stretch/>
        </p:blipFill>
        <p:spPr>
          <a:xfrm>
            <a:off x="4038207" y="1180424"/>
            <a:ext cx="876200" cy="876200"/>
          </a:xfrm>
          <a:prstGeom prst="rect">
            <a:avLst/>
          </a:prstGeom>
          <a:noFill/>
          <a:ln>
            <a:noFill/>
          </a:ln>
        </p:spPr>
      </p:pic>
    </p:spTree>
    <p:extLst>
      <p:ext uri="{BB962C8B-B14F-4D97-AF65-F5344CB8AC3E}">
        <p14:creationId xmlns:p14="http://schemas.microsoft.com/office/powerpoint/2010/main" val="27126818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3"/>
          <p:cNvSpPr txBox="1"/>
          <p:nvPr/>
        </p:nvSpPr>
        <p:spPr>
          <a:xfrm>
            <a:off x="431496" y="908050"/>
            <a:ext cx="8346558" cy="1416059"/>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5000" dirty="0" smtClean="0">
                <a:solidFill>
                  <a:srgbClr val="F8F2E8"/>
                </a:solidFill>
                <a:latin typeface="Plus Jakarta Sans ExtraBold"/>
                <a:ea typeface="Plus Jakarta Sans ExtraBold"/>
                <a:cs typeface="Plus Jakarta Sans ExtraBold"/>
                <a:sym typeface="Plus Jakarta Sans ExtraBold"/>
              </a:rPr>
              <a:t>Estoy grabando?</a:t>
            </a:r>
            <a:endParaRPr sz="2000" dirty="0">
              <a:solidFill>
                <a:srgbClr val="F8F2E8"/>
              </a:solidFill>
              <a:latin typeface="Plus Jakarta Sans ExtraBold"/>
              <a:ea typeface="Plus Jakarta Sans ExtraBold"/>
              <a:cs typeface="Plus Jakarta Sans ExtraBold"/>
              <a:sym typeface="Plus Jakarta Sans ExtraBold"/>
            </a:endParaRPr>
          </a:p>
        </p:txBody>
      </p:sp>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94" name="Google Shape;94;p23"/>
          <p:cNvSpPr txBox="1"/>
          <p:nvPr/>
        </p:nvSpPr>
        <p:spPr>
          <a:xfrm>
            <a:off x="1373325" y="2324109"/>
            <a:ext cx="6462900" cy="318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MX" sz="2000" dirty="0" smtClean="0">
                <a:solidFill>
                  <a:srgbClr val="F8F2E8"/>
                </a:solidFill>
                <a:latin typeface="Plus Jakarta Sans Light"/>
                <a:ea typeface="Plus Jakarta Sans Light"/>
                <a:cs typeface="Plus Jakarta Sans Light"/>
                <a:sym typeface="Plus Jakarta Sans Light"/>
              </a:rPr>
              <a:t>Por favor que no se nos pase esto así queda </a:t>
            </a:r>
            <a:r>
              <a:rPr lang="es-MX" sz="2000" dirty="0" smtClean="0">
                <a:solidFill>
                  <a:srgbClr val="F8F2E8"/>
                </a:solidFill>
                <a:latin typeface="Plus Jakarta Sans Light"/>
                <a:ea typeface="Plus Jakarta Sans Light"/>
                <a:cs typeface="Plus Jakarta Sans Light"/>
                <a:sym typeface="Plus Jakarta Sans Light"/>
              </a:rPr>
              <a:t>la </a:t>
            </a:r>
            <a:r>
              <a:rPr lang="es-MX" sz="2000" dirty="0" smtClean="0">
                <a:solidFill>
                  <a:srgbClr val="F8F2E8"/>
                </a:solidFill>
                <a:latin typeface="Plus Jakarta Sans Light"/>
                <a:ea typeface="Plus Jakarta Sans Light"/>
                <a:cs typeface="Plus Jakarta Sans Light"/>
                <a:sym typeface="Plus Jakarta Sans Light"/>
              </a:rPr>
              <a:t>clase </a:t>
            </a:r>
            <a:r>
              <a:rPr lang="es-MX" sz="2000" dirty="0" smtClean="0">
                <a:solidFill>
                  <a:srgbClr val="F8F2E8"/>
                </a:solidFill>
                <a:latin typeface="Plus Jakarta Sans Light"/>
                <a:ea typeface="Plus Jakarta Sans Light"/>
                <a:cs typeface="Plus Jakarta Sans Light"/>
                <a:sym typeface="Plus Jakarta Sans Light"/>
              </a:rPr>
              <a:t>asincrónica online y </a:t>
            </a:r>
            <a:r>
              <a:rPr lang="es-MX" sz="2000" dirty="0" smtClean="0">
                <a:solidFill>
                  <a:srgbClr val="F8F2E8"/>
                </a:solidFill>
                <a:latin typeface="Plus Jakarta Sans Light"/>
                <a:ea typeface="Plus Jakarta Sans Light"/>
                <a:cs typeface="Plus Jakarta Sans Light"/>
                <a:sym typeface="Plus Jakarta Sans Light"/>
              </a:rPr>
              <a:t>la pueden ver todas las veces que quieran!</a:t>
            </a:r>
            <a:br>
              <a:rPr lang="es-MX" sz="2000" dirty="0" smtClean="0">
                <a:solidFill>
                  <a:srgbClr val="F8F2E8"/>
                </a:solidFill>
                <a:latin typeface="Plus Jakarta Sans Light"/>
                <a:ea typeface="Plus Jakarta Sans Light"/>
                <a:cs typeface="Plus Jakarta Sans Light"/>
                <a:sym typeface="Plus Jakarta Sans Light"/>
              </a:rPr>
            </a:br>
            <a:r>
              <a:rPr lang="es-MX" sz="2000" dirty="0" smtClean="0">
                <a:solidFill>
                  <a:srgbClr val="F8F2E8"/>
                </a:solidFill>
                <a:latin typeface="Plus Jakarta Sans Light"/>
                <a:ea typeface="Plus Jakarta Sans Light"/>
                <a:cs typeface="Plus Jakarta Sans Light"/>
                <a:sym typeface="Plus Jakarta Sans Light"/>
              </a:rPr>
              <a:t/>
            </a:r>
            <a:br>
              <a:rPr lang="es-MX" sz="2000" dirty="0" smtClean="0">
                <a:solidFill>
                  <a:srgbClr val="F8F2E8"/>
                </a:solidFill>
                <a:latin typeface="Plus Jakarta Sans Light"/>
                <a:ea typeface="Plus Jakarta Sans Light"/>
                <a:cs typeface="Plus Jakarta Sans Light"/>
                <a:sym typeface="Plus Jakarta Sans Light"/>
              </a:rPr>
            </a:br>
            <a:r>
              <a:rPr lang="es-MX" sz="2000" dirty="0" smtClean="0">
                <a:solidFill>
                  <a:srgbClr val="F8F2E8"/>
                </a:solidFill>
                <a:latin typeface="Plus Jakarta Sans Light"/>
                <a:ea typeface="Plus Jakarta Sans Light"/>
                <a:cs typeface="Plus Jakarta Sans Light"/>
                <a:sym typeface="Plus Jakarta Sans Light"/>
              </a:rPr>
              <a:t>Arrancamos?</a:t>
            </a:r>
            <a:endParaRPr sz="2000" dirty="0">
              <a:solidFill>
                <a:srgbClr val="F8F2E8"/>
              </a:solidFill>
              <a:latin typeface="Plus Jakarta Sans Light"/>
              <a:ea typeface="Plus Jakarta Sans Light"/>
              <a:cs typeface="Plus Jakarta Sans Light"/>
              <a:sym typeface="Plus Jakarta Sans Light"/>
            </a:endParaRPr>
          </a:p>
        </p:txBody>
      </p:sp>
    </p:spTree>
    <p:extLst>
      <p:ext uri="{BB962C8B-B14F-4D97-AF65-F5344CB8AC3E}">
        <p14:creationId xmlns:p14="http://schemas.microsoft.com/office/powerpoint/2010/main" val="376222146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6"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a:t>
            </a:r>
            <a:r>
              <a:rPr lang="es" sz="1350" dirty="0" smtClean="0">
                <a:solidFill>
                  <a:srgbClr val="B7B7B7"/>
                </a:solidFill>
                <a:latin typeface="DM Sans"/>
                <a:ea typeface="DM Sans"/>
                <a:cs typeface="DM Sans"/>
                <a:sym typeface="DM Sans"/>
              </a:rPr>
              <a:t>N° 89225 </a:t>
            </a:r>
            <a:endParaRPr sz="1350" dirty="0">
              <a:solidFill>
                <a:srgbClr val="B7B7B7"/>
              </a:solidFill>
              <a:latin typeface="DM Sans"/>
              <a:ea typeface="DM Sans"/>
              <a:cs typeface="DM Sans"/>
              <a:sym typeface="DM Sans"/>
            </a:endParaRPr>
          </a:p>
        </p:txBody>
      </p:sp>
      <p:sp>
        <p:nvSpPr>
          <p:cNvPr id="7" name="Google Shape;52;p17"/>
          <p:cNvSpPr txBox="1"/>
          <p:nvPr/>
        </p:nvSpPr>
        <p:spPr>
          <a:xfrm>
            <a:off x="297851" y="2531357"/>
            <a:ext cx="6889758" cy="1549112"/>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Emilio D </a:t>
            </a:r>
            <a:r>
              <a:rPr lang="es-MX" sz="2400" dirty="0" err="1" smtClean="0">
                <a:solidFill>
                  <a:schemeClr val="lt1"/>
                </a:solidFill>
                <a:latin typeface="DM Sans"/>
                <a:ea typeface="DM Sans"/>
                <a:cs typeface="DM Sans"/>
                <a:sym typeface="DM Sans"/>
              </a:rPr>
              <a:t>Augero</a:t>
            </a:r>
            <a:endParaRPr sz="2400" b="1" dirty="0">
              <a:solidFill>
                <a:schemeClr val="lt1"/>
              </a:solidFill>
              <a:latin typeface="DM Sans"/>
              <a:ea typeface="DM Sans"/>
              <a:cs typeface="DM Sans"/>
              <a:sym typeface="DM Sans"/>
            </a:endParaRPr>
          </a:p>
          <a:p>
            <a:pPr marL="45720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r>
              <a:rPr lang="es-MX" sz="2400" dirty="0" smtClean="0">
                <a:solidFill>
                  <a:schemeClr val="lt1"/>
                </a:solidFill>
                <a:latin typeface="DM Sans"/>
                <a:ea typeface="DM Sans"/>
                <a:cs typeface="DM Sans"/>
                <a:sym typeface="DM Sans"/>
              </a:rPr>
              <a:t> (Voy a ser el profe hoy!)</a:t>
            </a:r>
            <a:endParaRPr lang="es-MX" sz="2400" b="1"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97197567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8" name="Google Shape;59;p18"/>
          <p:cNvSpPr txBox="1"/>
          <p:nvPr/>
        </p:nvSpPr>
        <p:spPr>
          <a:xfrm>
            <a:off x="651674" y="201182"/>
            <a:ext cx="7152623"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9" name="Google Shape;60;p18"/>
          <p:cNvSpPr txBox="1"/>
          <p:nvPr/>
        </p:nvSpPr>
        <p:spPr>
          <a:xfrm>
            <a:off x="380481" y="1447979"/>
            <a:ext cx="7423816" cy="3075171"/>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flex ya </a:t>
            </a:r>
            <a:r>
              <a:rPr lang="es" sz="1450" b="1" dirty="0" smtClean="0">
                <a:solidFill>
                  <a:schemeClr val="accent6"/>
                </a:solidFill>
                <a:latin typeface="DM Sans"/>
                <a:ea typeface="DM Sans"/>
                <a:cs typeface="DM Sans"/>
                <a:sym typeface="DM Sans"/>
              </a:rPr>
              <a:t>visto para reforzarlo en clase y hacer practica e indagar al respecto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con moderación, recuerden que estan aprendiendo</a:t>
            </a:r>
            <a:r>
              <a:rPr lang="es" sz="1450" dirty="0" smtClean="0">
                <a:solidFill>
                  <a:schemeClr val="lt1"/>
                </a:solidFill>
                <a:latin typeface="DM Sans"/>
                <a:ea typeface="DM Sans"/>
                <a:cs typeface="DM Sans"/>
                <a:sym typeface="DM Sans"/>
              </a:rPr>
              <a:t>. (Se nota mucho si hacen las entregas con eso)</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Puedo crear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33458802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extLst>
      <p:ext uri="{BB962C8B-B14F-4D97-AF65-F5344CB8AC3E}">
        <p14:creationId xmlns:p14="http://schemas.microsoft.com/office/powerpoint/2010/main" val="145803512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6"/>
          <p:cNvSpPr txBox="1"/>
          <p:nvPr/>
        </p:nvSpPr>
        <p:spPr>
          <a:xfrm>
            <a:off x="6180025" y="314075"/>
            <a:ext cx="2630700" cy="1719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 sz="13000">
                <a:solidFill>
                  <a:srgbClr val="FF632B"/>
                </a:solidFill>
                <a:latin typeface="Plus Jakarta Sans ExtraBold"/>
                <a:ea typeface="Plus Jakarta Sans ExtraBold"/>
                <a:cs typeface="Plus Jakarta Sans ExtraBold"/>
                <a:sym typeface="Plus Jakarta Sans ExtraBold"/>
              </a:rPr>
              <a:t>01</a:t>
            </a:r>
            <a:endParaRPr sz="13000">
              <a:solidFill>
                <a:srgbClr val="FF632B"/>
              </a:solidFill>
              <a:latin typeface="Plus Jakarta Sans ExtraBold"/>
              <a:ea typeface="Plus Jakarta Sans ExtraBold"/>
              <a:cs typeface="Plus Jakarta Sans ExtraBold"/>
              <a:sym typeface="Plus Jakarta Sans ExtraBold"/>
            </a:endParaRPr>
          </a:p>
        </p:txBody>
      </p:sp>
      <p:sp>
        <p:nvSpPr>
          <p:cNvPr id="230" name="Google Shape;230;p36"/>
          <p:cNvSpPr txBox="1"/>
          <p:nvPr/>
        </p:nvSpPr>
        <p:spPr>
          <a:xfrm>
            <a:off x="641650" y="3337375"/>
            <a:ext cx="6462900" cy="84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4800">
                <a:solidFill>
                  <a:srgbClr val="F8F2E8"/>
                </a:solidFill>
                <a:latin typeface="Plus Jakarta Sans ExtraBold"/>
                <a:ea typeface="Plus Jakarta Sans ExtraBold"/>
                <a:cs typeface="Plus Jakarta Sans ExtraBold"/>
                <a:sym typeface="Plus Jakarta Sans ExtraBold"/>
              </a:rPr>
              <a:t>Bases de Datos Relacionales</a:t>
            </a:r>
            <a:endParaRPr sz="4800">
              <a:solidFill>
                <a:srgbClr val="F8F2E8"/>
              </a:solidFill>
              <a:latin typeface="Plus Jakarta Sans ExtraBold"/>
              <a:ea typeface="Plus Jakarta Sans ExtraBold"/>
              <a:cs typeface="Plus Jakarta Sans ExtraBold"/>
              <a:sym typeface="Plus Jakarta Sans ExtraBold"/>
            </a:endParaRPr>
          </a:p>
        </p:txBody>
      </p:sp>
      <p:pic>
        <p:nvPicPr>
          <p:cNvPr id="4" name="Google Shape;93;p23" title="logo gradient 1.png"/>
          <p:cNvPicPr preferRelativeResize="0"/>
          <p:nvPr/>
        </p:nvPicPr>
        <p:blipFill>
          <a:blip r:embed="rId3">
            <a:alphaModFix/>
          </a:blip>
          <a:stretch>
            <a:fillRect/>
          </a:stretch>
        </p:blipFill>
        <p:spPr>
          <a:xfrm>
            <a:off x="7104550" y="4278600"/>
            <a:ext cx="1547950" cy="4522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68052479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4"/>
          <p:cNvSpPr txBox="1"/>
          <p:nvPr/>
        </p:nvSpPr>
        <p:spPr>
          <a:xfrm>
            <a:off x="496075" y="393786"/>
            <a:ext cx="6462900" cy="84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4800" dirty="0">
                <a:solidFill>
                  <a:srgbClr val="FF632B"/>
                </a:solidFill>
                <a:latin typeface="Plus Jakarta Sans ExtraBold"/>
                <a:ea typeface="Plus Jakarta Sans ExtraBold"/>
                <a:cs typeface="Plus Jakarta Sans ExtraBold"/>
                <a:sym typeface="Plus Jakarta Sans ExtraBold"/>
              </a:rPr>
              <a:t>Objetivos de la clase</a:t>
            </a:r>
            <a:endParaRPr sz="2400" dirty="0">
              <a:solidFill>
                <a:srgbClr val="260700"/>
              </a:solidFill>
              <a:latin typeface="Plus Jakarta Sans"/>
              <a:ea typeface="Plus Jakarta Sans"/>
              <a:cs typeface="Plus Jakarta Sans"/>
              <a:sym typeface="Plus Jakarta Sans"/>
            </a:endParaRPr>
          </a:p>
        </p:txBody>
      </p:sp>
      <p:sp>
        <p:nvSpPr>
          <p:cNvPr id="290" name="Google Shape;290;p44"/>
          <p:cNvSpPr/>
          <p:nvPr/>
        </p:nvSpPr>
        <p:spPr>
          <a:xfrm>
            <a:off x="369760" y="1361531"/>
            <a:ext cx="8157549" cy="978600"/>
          </a:xfrm>
          <a:prstGeom prst="roundRect">
            <a:avLst>
              <a:gd name="adj" fmla="val 16667"/>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 dirty="0">
                <a:latin typeface="Plus Jakarta Sans"/>
                <a:ea typeface="Plus Jakarta Sans"/>
                <a:cs typeface="Plus Jakarta Sans"/>
                <a:sym typeface="Plus Jakarta Sans"/>
              </a:rPr>
              <a:t>Definir Base de Datos (DB data base)</a:t>
            </a:r>
            <a:endParaRPr dirty="0">
              <a:latin typeface="Plus Jakarta Sans"/>
              <a:ea typeface="Plus Jakarta Sans"/>
              <a:cs typeface="Plus Jakarta Sans"/>
              <a:sym typeface="Plus Jakarta Sans"/>
            </a:endParaRPr>
          </a:p>
        </p:txBody>
      </p:sp>
      <p:sp>
        <p:nvSpPr>
          <p:cNvPr id="291" name="Google Shape;291;p44"/>
          <p:cNvSpPr/>
          <p:nvPr/>
        </p:nvSpPr>
        <p:spPr>
          <a:xfrm>
            <a:off x="369760" y="2547583"/>
            <a:ext cx="8157549" cy="960837"/>
          </a:xfrm>
          <a:prstGeom prst="roundRect">
            <a:avLst>
              <a:gd name="adj" fmla="val 16667"/>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
                <a:solidFill>
                  <a:schemeClr val="dk1"/>
                </a:solidFill>
                <a:latin typeface="Plus Jakarta Sans"/>
                <a:ea typeface="Plus Jakarta Sans"/>
                <a:cs typeface="Plus Jakarta Sans"/>
                <a:sym typeface="Plus Jakarta Sans"/>
              </a:rPr>
              <a:t>Identificar sus componentes</a:t>
            </a:r>
            <a:endParaRPr>
              <a:latin typeface="Plus Jakarta Sans"/>
              <a:ea typeface="Plus Jakarta Sans"/>
              <a:cs typeface="Plus Jakarta Sans"/>
              <a:sym typeface="Plus Jakarta Sans"/>
            </a:endParaRPr>
          </a:p>
        </p:txBody>
      </p:sp>
      <p:sp>
        <p:nvSpPr>
          <p:cNvPr id="292" name="Google Shape;292;p44"/>
          <p:cNvSpPr/>
          <p:nvPr/>
        </p:nvSpPr>
        <p:spPr>
          <a:xfrm>
            <a:off x="369761" y="3712650"/>
            <a:ext cx="8157548" cy="840300"/>
          </a:xfrm>
          <a:prstGeom prst="roundRect">
            <a:avLst>
              <a:gd name="adj" fmla="val 30840"/>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
                <a:solidFill>
                  <a:schemeClr val="dk1"/>
                </a:solidFill>
                <a:latin typeface="Plus Jakarta Sans"/>
                <a:ea typeface="Plus Jakarta Sans"/>
                <a:cs typeface="Plus Jakarta Sans"/>
                <a:sym typeface="Plus Jakarta Sans"/>
              </a:rPr>
              <a:t>Presentar los tipos de DB y su importancia</a:t>
            </a:r>
            <a:endParaRPr>
              <a:latin typeface="Plus Jakarta Sans"/>
              <a:ea typeface="Plus Jakarta Sans"/>
              <a:cs typeface="Plus Jakarta Sans"/>
              <a:sym typeface="Plus Jakarta Sans"/>
            </a:endParaRPr>
          </a:p>
        </p:txBody>
      </p:sp>
      <p:pic>
        <p:nvPicPr>
          <p:cNvPr id="7" name="Google Shape;93;p23" title="logo gradient 1.png"/>
          <p:cNvPicPr preferRelativeResize="0"/>
          <p:nvPr/>
        </p:nvPicPr>
        <p:blipFill>
          <a:blip r:embed="rId3">
            <a:alphaModFix/>
          </a:blip>
          <a:stretch>
            <a:fillRect/>
          </a:stretch>
        </p:blipFill>
        <p:spPr>
          <a:xfrm>
            <a:off x="7467137" y="4691250"/>
            <a:ext cx="1547950" cy="452250"/>
          </a:xfrm>
          <a:prstGeom prst="rect">
            <a:avLst/>
          </a:prstGeom>
          <a:noFill/>
          <a:ln>
            <a:noFill/>
          </a:ln>
        </p:spPr>
      </p:pic>
    </p:spTree>
    <p:extLst>
      <p:ext uri="{BB962C8B-B14F-4D97-AF65-F5344CB8AC3E}">
        <p14:creationId xmlns:p14="http://schemas.microsoft.com/office/powerpoint/2010/main" val="16770119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4"/>
          <p:cNvSpPr txBox="1"/>
          <p:nvPr/>
        </p:nvSpPr>
        <p:spPr>
          <a:xfrm>
            <a:off x="496075" y="393786"/>
            <a:ext cx="6462900" cy="84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4800" dirty="0">
                <a:solidFill>
                  <a:srgbClr val="FF632B"/>
                </a:solidFill>
                <a:latin typeface="Plus Jakarta Sans ExtraBold"/>
                <a:ea typeface="Plus Jakarta Sans ExtraBold"/>
                <a:cs typeface="Plus Jakarta Sans ExtraBold"/>
                <a:sym typeface="Plus Jakarta Sans ExtraBold"/>
              </a:rPr>
              <a:t>Objetivos de la clase</a:t>
            </a:r>
            <a:endParaRPr sz="2400" dirty="0">
              <a:solidFill>
                <a:srgbClr val="260700"/>
              </a:solidFill>
              <a:latin typeface="Plus Jakarta Sans"/>
              <a:ea typeface="Plus Jakarta Sans"/>
              <a:cs typeface="Plus Jakarta Sans"/>
              <a:sym typeface="Plus Jakarta Sans"/>
            </a:endParaRPr>
          </a:p>
        </p:txBody>
      </p:sp>
      <p:sp>
        <p:nvSpPr>
          <p:cNvPr id="291" name="Google Shape;291;p44"/>
          <p:cNvSpPr/>
          <p:nvPr/>
        </p:nvSpPr>
        <p:spPr>
          <a:xfrm>
            <a:off x="369762" y="2404335"/>
            <a:ext cx="8157549" cy="960837"/>
          </a:xfrm>
          <a:prstGeom prst="roundRect">
            <a:avLst>
              <a:gd name="adj" fmla="val 16667"/>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lgn="ctr">
              <a:lnSpc>
                <a:spcPct val="115000"/>
              </a:lnSpc>
              <a:buSzPts val="1350"/>
            </a:pPr>
            <a:r>
              <a:rPr lang="es-MX" dirty="0">
                <a:solidFill>
                  <a:schemeClr val="dk1"/>
                </a:solidFill>
                <a:latin typeface="Plus Jakarta Sans"/>
                <a:ea typeface="Plus Jakarta Sans"/>
                <a:cs typeface="Plus Jakarta Sans"/>
                <a:sym typeface="DM Sans"/>
              </a:rPr>
              <a:t>Definir base de datos relacional y sus aspectos generales</a:t>
            </a:r>
          </a:p>
        </p:txBody>
      </p:sp>
      <p:sp>
        <p:nvSpPr>
          <p:cNvPr id="292" name="Google Shape;292;p44"/>
          <p:cNvSpPr/>
          <p:nvPr/>
        </p:nvSpPr>
        <p:spPr>
          <a:xfrm>
            <a:off x="369762" y="3608061"/>
            <a:ext cx="8157548" cy="840300"/>
          </a:xfrm>
          <a:prstGeom prst="roundRect">
            <a:avLst>
              <a:gd name="adj" fmla="val 30840"/>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lvl="0" algn="ctr">
              <a:lnSpc>
                <a:spcPct val="115000"/>
              </a:lnSpc>
              <a:buSzPts val="1350"/>
            </a:pPr>
            <a:r>
              <a:rPr lang="es-MX" dirty="0">
                <a:solidFill>
                  <a:schemeClr val="dk1"/>
                </a:solidFill>
                <a:latin typeface="Plus Jakarta Sans"/>
                <a:ea typeface="Plus Jakarta Sans"/>
                <a:cs typeface="Plus Jakarta Sans"/>
                <a:sym typeface="DM Sans"/>
              </a:rPr>
              <a:t>Identificar los componentes de una base de datos relacional</a:t>
            </a:r>
          </a:p>
        </p:txBody>
      </p:sp>
      <p:sp>
        <p:nvSpPr>
          <p:cNvPr id="293" name="Google Shape;293;p44"/>
          <p:cNvSpPr/>
          <p:nvPr/>
        </p:nvSpPr>
        <p:spPr>
          <a:xfrm>
            <a:off x="369762" y="1375580"/>
            <a:ext cx="8157548" cy="840300"/>
          </a:xfrm>
          <a:prstGeom prst="roundRect">
            <a:avLst>
              <a:gd name="adj" fmla="val 30840"/>
            </a:avLst>
          </a:prstGeom>
          <a:solidFill>
            <a:srgbClr val="F8F2E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 dirty="0">
                <a:solidFill>
                  <a:schemeClr val="dk1"/>
                </a:solidFill>
                <a:latin typeface="Plus Jakarta Sans"/>
                <a:ea typeface="Plus Jakarta Sans"/>
                <a:cs typeface="Plus Jakarta Sans"/>
                <a:sym typeface="Plus Jakarta Sans"/>
              </a:rPr>
              <a:t>Manejar el glosario técnico</a:t>
            </a:r>
            <a:endParaRPr dirty="0">
              <a:latin typeface="Plus Jakarta Sans"/>
              <a:ea typeface="Plus Jakarta Sans"/>
              <a:cs typeface="Plus Jakarta Sans"/>
              <a:sym typeface="Plus Jakarta Sans"/>
            </a:endParaRPr>
          </a:p>
        </p:txBody>
      </p:sp>
      <p:pic>
        <p:nvPicPr>
          <p:cNvPr id="7" name="Google Shape;93;p23" title="logo gradient 1.png"/>
          <p:cNvPicPr preferRelativeResize="0"/>
          <p:nvPr/>
        </p:nvPicPr>
        <p:blipFill>
          <a:blip r:embed="rId3">
            <a:alphaModFix/>
          </a:blip>
          <a:stretch>
            <a:fillRect/>
          </a:stretch>
        </p:blipFill>
        <p:spPr>
          <a:xfrm>
            <a:off x="7467137" y="4691250"/>
            <a:ext cx="1547950" cy="452250"/>
          </a:xfrm>
          <a:prstGeom prst="rect">
            <a:avLst/>
          </a:prstGeom>
          <a:noFill/>
          <a:ln>
            <a:noFill/>
          </a:ln>
        </p:spPr>
      </p:pic>
    </p:spTree>
    <p:extLst>
      <p:ext uri="{BB962C8B-B14F-4D97-AF65-F5344CB8AC3E}">
        <p14:creationId xmlns:p14="http://schemas.microsoft.com/office/powerpoint/2010/main" val="283663159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1"/>
        <p:cNvGrpSpPr/>
        <p:nvPr/>
      </p:nvGrpSpPr>
      <p:grpSpPr>
        <a:xfrm>
          <a:off x="0" y="0"/>
          <a:ext cx="0" cy="0"/>
          <a:chOff x="0" y="0"/>
          <a:chExt cx="0" cy="0"/>
        </a:xfrm>
      </p:grpSpPr>
      <p:cxnSp>
        <p:nvCxnSpPr>
          <p:cNvPr id="272" name="Google Shape;272;p66"/>
          <p:cNvCxnSpPr/>
          <p:nvPr/>
        </p:nvCxnSpPr>
        <p:spPr>
          <a:xfrm>
            <a:off x="2775715" y="2240960"/>
            <a:ext cx="2376900" cy="1941600"/>
          </a:xfrm>
          <a:prstGeom prst="bentConnector3">
            <a:avLst>
              <a:gd name="adj1" fmla="val 50000"/>
            </a:avLst>
          </a:prstGeom>
          <a:noFill/>
          <a:ln w="9525" cap="flat" cmpd="sng">
            <a:solidFill>
              <a:srgbClr val="CCCCCC"/>
            </a:solidFill>
            <a:prstDash val="solid"/>
            <a:round/>
            <a:headEnd type="none" w="sm" len="sm"/>
            <a:tailEnd type="oval" w="med" len="med"/>
          </a:ln>
        </p:spPr>
      </p:cxnSp>
      <p:sp>
        <p:nvSpPr>
          <p:cNvPr id="273" name="Google Shape;273;p66"/>
          <p:cNvSpPr/>
          <p:nvPr/>
        </p:nvSpPr>
        <p:spPr>
          <a:xfrm>
            <a:off x="5152625" y="1538678"/>
            <a:ext cx="3070200" cy="663600"/>
          </a:xfrm>
          <a:prstGeom prst="rect">
            <a:avLst/>
          </a:prstGeom>
          <a:solidFill>
            <a:schemeClr val="lt1"/>
          </a:solid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Historia de las DB</a:t>
            </a:r>
            <a:endParaRPr sz="1200" b="0" i="0" u="none" strike="noStrike" cap="none">
              <a:solidFill>
                <a:srgbClr val="222222"/>
              </a:solidFill>
              <a:latin typeface="DM Sans"/>
              <a:ea typeface="DM Sans"/>
              <a:cs typeface="DM Sans"/>
              <a:sym typeface="DM Sans"/>
            </a:endParaRPr>
          </a:p>
        </p:txBody>
      </p:sp>
      <p:sp>
        <p:nvSpPr>
          <p:cNvPr id="274" name="Google Shape;274;p66"/>
          <p:cNvSpPr/>
          <p:nvPr/>
        </p:nvSpPr>
        <p:spPr>
          <a:xfrm>
            <a:off x="5152625" y="730425"/>
            <a:ext cx="3070200" cy="663600"/>
          </a:xfrm>
          <a:prstGeom prst="rect">
            <a:avLst/>
          </a:prstGeom>
          <a:solidFill>
            <a:schemeClr val="lt1"/>
          </a:solid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¿Qué son?</a:t>
            </a:r>
            <a:endParaRPr sz="1200" b="0" i="0" u="none" strike="noStrike" cap="none">
              <a:solidFill>
                <a:srgbClr val="222222"/>
              </a:solidFill>
              <a:latin typeface="DM Sans"/>
              <a:ea typeface="DM Sans"/>
              <a:cs typeface="DM Sans"/>
              <a:sym typeface="DM Sans"/>
            </a:endParaRPr>
          </a:p>
        </p:txBody>
      </p:sp>
      <p:sp>
        <p:nvSpPr>
          <p:cNvPr id="275" name="Google Shape;275;p66"/>
          <p:cNvSpPr/>
          <p:nvPr/>
        </p:nvSpPr>
        <p:spPr>
          <a:xfrm>
            <a:off x="5152625" y="2346926"/>
            <a:ext cx="3070200" cy="663600"/>
          </a:xfrm>
          <a:prstGeom prst="rect">
            <a:avLst/>
          </a:prstGeom>
          <a:solidFill>
            <a:schemeClr val="lt1"/>
          </a:solid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Tipos de DB</a:t>
            </a:r>
            <a:endParaRPr sz="1200" b="0" i="0" u="none" strike="noStrike" cap="none">
              <a:solidFill>
                <a:srgbClr val="222222"/>
              </a:solidFill>
              <a:latin typeface="DM Sans"/>
              <a:ea typeface="DM Sans"/>
              <a:cs typeface="DM Sans"/>
              <a:sym typeface="DM Sans"/>
            </a:endParaRPr>
          </a:p>
        </p:txBody>
      </p:sp>
      <p:cxnSp>
        <p:nvCxnSpPr>
          <p:cNvPr id="276" name="Google Shape;276;p66"/>
          <p:cNvCxnSpPr/>
          <p:nvPr/>
        </p:nvCxnSpPr>
        <p:spPr>
          <a:xfrm rot="10800000" flipH="1">
            <a:off x="2775715" y="1218001"/>
            <a:ext cx="2376900" cy="1023000"/>
          </a:xfrm>
          <a:prstGeom prst="bentConnector3">
            <a:avLst>
              <a:gd name="adj1" fmla="val 50000"/>
            </a:avLst>
          </a:prstGeom>
          <a:noFill/>
          <a:ln w="9525" cap="flat" cmpd="sng">
            <a:solidFill>
              <a:srgbClr val="CCCCCC"/>
            </a:solidFill>
            <a:prstDash val="solid"/>
            <a:round/>
            <a:headEnd type="none" w="sm" len="sm"/>
            <a:tailEnd type="oval" w="med" len="med"/>
          </a:ln>
        </p:spPr>
      </p:cxnSp>
      <p:cxnSp>
        <p:nvCxnSpPr>
          <p:cNvPr id="277" name="Google Shape;277;p66"/>
          <p:cNvCxnSpPr>
            <a:stCxn id="278" idx="3"/>
            <a:endCxn id="273" idx="1"/>
          </p:cNvCxnSpPr>
          <p:nvPr/>
        </p:nvCxnSpPr>
        <p:spPr>
          <a:xfrm rot="10800000" flipH="1">
            <a:off x="3102304" y="1870349"/>
            <a:ext cx="2050200" cy="370200"/>
          </a:xfrm>
          <a:prstGeom prst="bentConnector3">
            <a:avLst>
              <a:gd name="adj1" fmla="val 41997"/>
            </a:avLst>
          </a:prstGeom>
          <a:noFill/>
          <a:ln w="9525" cap="flat" cmpd="sng">
            <a:solidFill>
              <a:srgbClr val="CCCCCC"/>
            </a:solidFill>
            <a:prstDash val="solid"/>
            <a:round/>
            <a:headEnd type="none" w="sm" len="sm"/>
            <a:tailEnd type="oval" w="med" len="med"/>
          </a:ln>
        </p:spPr>
      </p:cxnSp>
      <p:cxnSp>
        <p:nvCxnSpPr>
          <p:cNvPr id="279" name="Google Shape;279;p66"/>
          <p:cNvCxnSpPr/>
          <p:nvPr/>
        </p:nvCxnSpPr>
        <p:spPr>
          <a:xfrm>
            <a:off x="2775715" y="2241162"/>
            <a:ext cx="2376900" cy="444300"/>
          </a:xfrm>
          <a:prstGeom prst="bentConnector3">
            <a:avLst>
              <a:gd name="adj1" fmla="val 50000"/>
            </a:avLst>
          </a:prstGeom>
          <a:noFill/>
          <a:ln w="9525" cap="flat" cmpd="sng">
            <a:solidFill>
              <a:srgbClr val="CCCCCC"/>
            </a:solidFill>
            <a:prstDash val="solid"/>
            <a:round/>
            <a:headEnd type="none" w="sm" len="sm"/>
            <a:tailEnd type="oval" w="med" len="med"/>
          </a:ln>
        </p:spPr>
      </p:cxnSp>
      <p:sp>
        <p:nvSpPr>
          <p:cNvPr id="280" name="Google Shape;280;p66"/>
          <p:cNvSpPr/>
          <p:nvPr/>
        </p:nvSpPr>
        <p:spPr>
          <a:xfrm>
            <a:off x="5152625" y="3171499"/>
            <a:ext cx="3070200" cy="663600"/>
          </a:xfrm>
          <a:prstGeom prst="rect">
            <a:avLst/>
          </a:prstGeom>
          <a:solidFill>
            <a:schemeClr val="lt1"/>
          </a:solid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¿Qué podemos hacer?</a:t>
            </a:r>
            <a:endParaRPr sz="1200" b="0" i="0" u="none" strike="noStrike" cap="none">
              <a:solidFill>
                <a:srgbClr val="222222"/>
              </a:solidFill>
              <a:latin typeface="DM Sans"/>
              <a:ea typeface="DM Sans"/>
              <a:cs typeface="DM Sans"/>
              <a:sym typeface="DM Sans"/>
            </a:endParaRPr>
          </a:p>
        </p:txBody>
      </p:sp>
      <p:cxnSp>
        <p:nvCxnSpPr>
          <p:cNvPr id="281" name="Google Shape;281;p66"/>
          <p:cNvCxnSpPr/>
          <p:nvPr/>
        </p:nvCxnSpPr>
        <p:spPr>
          <a:xfrm>
            <a:off x="2775715" y="2240910"/>
            <a:ext cx="2376900" cy="1193100"/>
          </a:xfrm>
          <a:prstGeom prst="bentConnector3">
            <a:avLst>
              <a:gd name="adj1" fmla="val 50000"/>
            </a:avLst>
          </a:prstGeom>
          <a:noFill/>
          <a:ln w="9525" cap="flat" cmpd="sng">
            <a:solidFill>
              <a:srgbClr val="CCCCCC"/>
            </a:solidFill>
            <a:prstDash val="solid"/>
            <a:round/>
            <a:headEnd type="none" w="sm" len="sm"/>
            <a:tailEnd type="oval" w="med" len="med"/>
          </a:ln>
        </p:spPr>
      </p:cxnSp>
      <p:sp>
        <p:nvSpPr>
          <p:cNvPr id="282" name="Google Shape;282;p66"/>
          <p:cNvSpPr/>
          <p:nvPr/>
        </p:nvSpPr>
        <p:spPr>
          <a:xfrm>
            <a:off x="5152625" y="3996075"/>
            <a:ext cx="3070200" cy="663600"/>
          </a:xfrm>
          <a:prstGeom prst="rect">
            <a:avLst/>
          </a:prstGeom>
          <a:solidFill>
            <a:schemeClr val="lt1"/>
          </a:solid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dirty="0" smtClean="0">
                <a:solidFill>
                  <a:srgbClr val="222222"/>
                </a:solidFill>
                <a:latin typeface="DM Sans"/>
                <a:ea typeface="DM Sans"/>
                <a:cs typeface="DM Sans"/>
                <a:sym typeface="DM Sans"/>
              </a:rPr>
              <a:t>SQL vs. No-SQL</a:t>
            </a:r>
            <a:endParaRPr sz="1200" b="0" i="0" u="none" strike="noStrike" cap="none" dirty="0">
              <a:solidFill>
                <a:srgbClr val="222222"/>
              </a:solidFill>
              <a:latin typeface="DM Sans"/>
              <a:ea typeface="DM Sans"/>
              <a:cs typeface="DM Sans"/>
              <a:sym typeface="DM Sans"/>
            </a:endParaRPr>
          </a:p>
        </p:txBody>
      </p:sp>
      <p:sp>
        <p:nvSpPr>
          <p:cNvPr id="278" name="Google Shape;278;p66"/>
          <p:cNvSpPr/>
          <p:nvPr/>
        </p:nvSpPr>
        <p:spPr>
          <a:xfrm>
            <a:off x="1136704" y="1795649"/>
            <a:ext cx="1965600" cy="889800"/>
          </a:xfrm>
          <a:prstGeom prst="rect">
            <a:avLst/>
          </a:prstGeom>
          <a:solidFill>
            <a:srgbClr val="27282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FFFFFF"/>
                </a:solidFill>
                <a:latin typeface="DM Sans"/>
                <a:ea typeface="DM Sans"/>
                <a:cs typeface="DM Sans"/>
                <a:sym typeface="DM Sans"/>
              </a:rPr>
              <a:t>Bases de Datos</a:t>
            </a:r>
            <a:endParaRPr sz="1200" b="0" i="0" u="none" strike="noStrike" cap="none">
              <a:solidFill>
                <a:srgbClr val="FFFFFF"/>
              </a:solidFill>
              <a:latin typeface="DM Sans"/>
              <a:ea typeface="DM Sans"/>
              <a:cs typeface="DM Sans"/>
              <a:sym typeface="DM Sans"/>
            </a:endParaRPr>
          </a:p>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FFFFFF"/>
                </a:solidFill>
                <a:latin typeface="DM Sans"/>
                <a:ea typeface="DM Sans"/>
                <a:cs typeface="DM Sans"/>
                <a:sym typeface="DM Sans"/>
              </a:rPr>
              <a:t>(DB data base) </a:t>
            </a:r>
            <a:endParaRPr sz="1200" b="0" i="0" u="none" strike="noStrike" cap="none">
              <a:solidFill>
                <a:srgbClr val="FFFFFF"/>
              </a:solidFill>
              <a:latin typeface="DM Sans"/>
              <a:ea typeface="DM Sans"/>
              <a:cs typeface="DM Sans"/>
              <a:sym typeface="DM Sans"/>
            </a:endParaRPr>
          </a:p>
        </p:txBody>
      </p:sp>
      <p:sp>
        <p:nvSpPr>
          <p:cNvPr id="283" name="Google Shape;283;p66"/>
          <p:cNvSpPr/>
          <p:nvPr/>
        </p:nvSpPr>
        <p:spPr>
          <a:xfrm>
            <a:off x="588525" y="701375"/>
            <a:ext cx="296100" cy="1209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4" name="Google Shape;284;p66"/>
          <p:cNvSpPr txBox="1"/>
          <p:nvPr/>
        </p:nvSpPr>
        <p:spPr>
          <a:xfrm>
            <a:off x="884625" y="468275"/>
            <a:ext cx="24612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s-419" sz="1600" b="0" i="0" u="none" strike="noStrike" cap="none">
                <a:solidFill>
                  <a:schemeClr val="dk1"/>
                </a:solidFill>
                <a:latin typeface="DM Sans"/>
                <a:ea typeface="DM Sans"/>
                <a:cs typeface="DM Sans"/>
                <a:sym typeface="DM Sans"/>
              </a:rPr>
              <a:t>MAPA DE CONCEPTOS</a:t>
            </a:r>
            <a:endParaRPr sz="1400" b="0" i="0" u="none" strike="noStrike" cap="none">
              <a:solidFill>
                <a:srgbClr val="000000"/>
              </a:solidFill>
              <a:latin typeface="DM Sans"/>
              <a:ea typeface="DM Sans"/>
              <a:cs typeface="DM Sans"/>
              <a:sym typeface="DM Sans"/>
            </a:endParaRPr>
          </a:p>
        </p:txBody>
      </p:sp>
      <p:pic>
        <p:nvPicPr>
          <p:cNvPr id="285" name="Google Shape;285;p66" title="ícono de mapa de contenidos"/>
          <p:cNvPicPr preferRelativeResize="0"/>
          <p:nvPr/>
        </p:nvPicPr>
        <p:blipFill rotWithShape="1">
          <a:blip r:embed="rId3">
            <a:alphaModFix/>
          </a:blip>
          <a:srcRect/>
          <a:stretch/>
        </p:blipFill>
        <p:spPr>
          <a:xfrm>
            <a:off x="586275" y="533519"/>
            <a:ext cx="300599" cy="300618"/>
          </a:xfrm>
          <a:prstGeom prst="rect">
            <a:avLst/>
          </a:prstGeom>
          <a:noFill/>
          <a:ln>
            <a:noFill/>
          </a:ln>
        </p:spPr>
      </p:pic>
      <p:pic>
        <p:nvPicPr>
          <p:cNvPr id="16" name="Google Shape;93;p23" title="logo gradient 1.png"/>
          <p:cNvPicPr preferRelativeResize="0"/>
          <p:nvPr/>
        </p:nvPicPr>
        <p:blipFill>
          <a:blip r:embed="rId4">
            <a:alphaModFix/>
          </a:blip>
          <a:stretch>
            <a:fillRect/>
          </a:stretch>
        </p:blipFill>
        <p:spPr>
          <a:xfrm>
            <a:off x="7467137" y="4691250"/>
            <a:ext cx="1547950" cy="452250"/>
          </a:xfrm>
          <a:prstGeom prst="rect">
            <a:avLst/>
          </a:prstGeom>
          <a:noFill/>
          <a:ln>
            <a:noFill/>
          </a:ln>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9"/>
        <p:cNvGrpSpPr/>
        <p:nvPr/>
      </p:nvGrpSpPr>
      <p:grpSpPr>
        <a:xfrm>
          <a:off x="0" y="0"/>
          <a:ext cx="0" cy="0"/>
          <a:chOff x="0" y="0"/>
          <a:chExt cx="0" cy="0"/>
        </a:xfrm>
      </p:grpSpPr>
      <p:sp>
        <p:nvSpPr>
          <p:cNvPr id="290" name="Google Shape;290;p67"/>
          <p:cNvSpPr/>
          <p:nvPr/>
        </p:nvSpPr>
        <p:spPr>
          <a:xfrm>
            <a:off x="4238813" y="1650533"/>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Modelo Relacional</a:t>
            </a:r>
            <a:endParaRPr sz="1200" b="0" i="0" u="none" strike="noStrike" cap="none">
              <a:solidFill>
                <a:srgbClr val="222222"/>
              </a:solidFill>
              <a:latin typeface="DM Sans"/>
              <a:ea typeface="DM Sans"/>
              <a:cs typeface="DM Sans"/>
              <a:sym typeface="DM Sans"/>
            </a:endParaRPr>
          </a:p>
        </p:txBody>
      </p:sp>
      <p:sp>
        <p:nvSpPr>
          <p:cNvPr id="291" name="Google Shape;291;p67"/>
          <p:cNvSpPr/>
          <p:nvPr/>
        </p:nvSpPr>
        <p:spPr>
          <a:xfrm>
            <a:off x="295973" y="2252850"/>
            <a:ext cx="1807500" cy="733800"/>
          </a:xfrm>
          <a:prstGeom prst="rect">
            <a:avLst/>
          </a:prstGeom>
          <a:solidFill>
            <a:srgbClr val="27282D"/>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FFFFFF"/>
                </a:solidFill>
                <a:latin typeface="DM Sans"/>
                <a:ea typeface="DM Sans"/>
                <a:cs typeface="DM Sans"/>
                <a:sym typeface="DM Sans"/>
              </a:rPr>
              <a:t>BASES DE DATOS</a:t>
            </a:r>
            <a:endParaRPr sz="1200" b="0" i="0" u="none" strike="noStrike" cap="none">
              <a:solidFill>
                <a:srgbClr val="FFFFFF"/>
              </a:solidFill>
              <a:latin typeface="DM Sans"/>
              <a:ea typeface="DM Sans"/>
              <a:cs typeface="DM Sans"/>
              <a:sym typeface="DM Sans"/>
            </a:endParaRPr>
          </a:p>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FFFFFF"/>
                </a:solidFill>
                <a:latin typeface="DM Sans"/>
                <a:ea typeface="DM Sans"/>
                <a:cs typeface="DM Sans"/>
                <a:sym typeface="DM Sans"/>
              </a:rPr>
              <a:t>RELACIONALES</a:t>
            </a:r>
            <a:endParaRPr sz="1200" b="0" i="0" u="none" strike="noStrike" cap="none">
              <a:solidFill>
                <a:srgbClr val="FFFFFF"/>
              </a:solidFill>
              <a:latin typeface="DM Sans"/>
              <a:ea typeface="DM Sans"/>
              <a:cs typeface="DM Sans"/>
              <a:sym typeface="DM Sans"/>
            </a:endParaRPr>
          </a:p>
        </p:txBody>
      </p:sp>
      <p:sp>
        <p:nvSpPr>
          <p:cNvPr id="292" name="Google Shape;292;p67"/>
          <p:cNvSpPr/>
          <p:nvPr/>
        </p:nvSpPr>
        <p:spPr>
          <a:xfrm>
            <a:off x="4238813" y="916800"/>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Conceptos básicos</a:t>
            </a:r>
            <a:endParaRPr sz="1200" b="0" i="0" u="none" strike="noStrike" cap="none">
              <a:solidFill>
                <a:srgbClr val="222222"/>
              </a:solidFill>
              <a:latin typeface="DM Sans"/>
              <a:ea typeface="DM Sans"/>
              <a:cs typeface="DM Sans"/>
              <a:sym typeface="DM Sans"/>
            </a:endParaRPr>
          </a:p>
        </p:txBody>
      </p:sp>
      <p:sp>
        <p:nvSpPr>
          <p:cNvPr id="293" name="Google Shape;293;p67"/>
          <p:cNvSpPr/>
          <p:nvPr/>
        </p:nvSpPr>
        <p:spPr>
          <a:xfrm>
            <a:off x="4238813" y="2384261"/>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Modelo Entidad Relación</a:t>
            </a:r>
            <a:endParaRPr sz="1200" b="0" i="0" u="none" strike="noStrike" cap="none">
              <a:solidFill>
                <a:srgbClr val="222222"/>
              </a:solidFill>
              <a:latin typeface="DM Sans"/>
              <a:ea typeface="DM Sans"/>
              <a:cs typeface="DM Sans"/>
              <a:sym typeface="DM Sans"/>
            </a:endParaRPr>
          </a:p>
        </p:txBody>
      </p:sp>
      <p:cxnSp>
        <p:nvCxnSpPr>
          <p:cNvPr id="294" name="Google Shape;294;p67"/>
          <p:cNvCxnSpPr>
            <a:stCxn id="291" idx="3"/>
            <a:endCxn id="292" idx="1"/>
          </p:cNvCxnSpPr>
          <p:nvPr/>
        </p:nvCxnSpPr>
        <p:spPr>
          <a:xfrm rot="10800000" flipH="1">
            <a:off x="2103473" y="1218150"/>
            <a:ext cx="2135400" cy="1401600"/>
          </a:xfrm>
          <a:prstGeom prst="bentConnector3">
            <a:avLst>
              <a:gd name="adj1" fmla="val 49999"/>
            </a:avLst>
          </a:prstGeom>
          <a:noFill/>
          <a:ln w="9525" cap="flat" cmpd="sng">
            <a:solidFill>
              <a:srgbClr val="CCCCCC"/>
            </a:solidFill>
            <a:prstDash val="solid"/>
            <a:round/>
            <a:headEnd type="none" w="sm" len="sm"/>
            <a:tailEnd type="oval" w="med" len="med"/>
          </a:ln>
        </p:spPr>
      </p:cxnSp>
      <p:cxnSp>
        <p:nvCxnSpPr>
          <p:cNvPr id="295" name="Google Shape;295;p67"/>
          <p:cNvCxnSpPr>
            <a:stCxn id="291" idx="3"/>
            <a:endCxn id="290" idx="1"/>
          </p:cNvCxnSpPr>
          <p:nvPr/>
        </p:nvCxnSpPr>
        <p:spPr>
          <a:xfrm rot="10800000" flipH="1">
            <a:off x="2103473" y="1951650"/>
            <a:ext cx="2135400" cy="668100"/>
          </a:xfrm>
          <a:prstGeom prst="bentConnector3">
            <a:avLst>
              <a:gd name="adj1" fmla="val 49999"/>
            </a:avLst>
          </a:prstGeom>
          <a:noFill/>
          <a:ln w="9525" cap="flat" cmpd="sng">
            <a:solidFill>
              <a:srgbClr val="CCCCCC"/>
            </a:solidFill>
            <a:prstDash val="solid"/>
            <a:round/>
            <a:headEnd type="none" w="sm" len="sm"/>
            <a:tailEnd type="oval" w="med" len="med"/>
          </a:ln>
        </p:spPr>
      </p:cxnSp>
      <p:cxnSp>
        <p:nvCxnSpPr>
          <p:cNvPr id="296" name="Google Shape;296;p67"/>
          <p:cNvCxnSpPr>
            <a:stCxn id="291" idx="3"/>
            <a:endCxn id="293" idx="1"/>
          </p:cNvCxnSpPr>
          <p:nvPr/>
        </p:nvCxnSpPr>
        <p:spPr>
          <a:xfrm>
            <a:off x="2103473" y="2619750"/>
            <a:ext cx="2135400" cy="65700"/>
          </a:xfrm>
          <a:prstGeom prst="bentConnector3">
            <a:avLst>
              <a:gd name="adj1" fmla="val 49999"/>
            </a:avLst>
          </a:prstGeom>
          <a:noFill/>
          <a:ln w="9525" cap="flat" cmpd="sng">
            <a:solidFill>
              <a:srgbClr val="CCCCCC"/>
            </a:solidFill>
            <a:prstDash val="solid"/>
            <a:round/>
            <a:headEnd type="none" w="sm" len="sm"/>
            <a:tailEnd type="oval" w="med" len="med"/>
          </a:ln>
        </p:spPr>
      </p:cxnSp>
      <p:sp>
        <p:nvSpPr>
          <p:cNvPr id="297" name="Google Shape;297;p67"/>
          <p:cNvSpPr/>
          <p:nvPr/>
        </p:nvSpPr>
        <p:spPr>
          <a:xfrm>
            <a:off x="4238813" y="3132809"/>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dirty="0">
                <a:solidFill>
                  <a:srgbClr val="222222"/>
                </a:solidFill>
                <a:latin typeface="DM Sans"/>
                <a:ea typeface="DM Sans"/>
                <a:cs typeface="DM Sans"/>
                <a:sym typeface="DM Sans"/>
              </a:rPr>
              <a:t>SGBD</a:t>
            </a:r>
            <a:endParaRPr sz="1200" b="0" i="0" u="none" strike="noStrike" cap="none" dirty="0">
              <a:solidFill>
                <a:srgbClr val="222222"/>
              </a:solidFill>
              <a:latin typeface="DM Sans"/>
              <a:ea typeface="DM Sans"/>
              <a:cs typeface="DM Sans"/>
              <a:sym typeface="DM Sans"/>
            </a:endParaRPr>
          </a:p>
        </p:txBody>
      </p:sp>
      <p:cxnSp>
        <p:nvCxnSpPr>
          <p:cNvPr id="298" name="Google Shape;298;p67"/>
          <p:cNvCxnSpPr>
            <a:stCxn id="291" idx="3"/>
            <a:endCxn id="297" idx="1"/>
          </p:cNvCxnSpPr>
          <p:nvPr/>
        </p:nvCxnSpPr>
        <p:spPr>
          <a:xfrm>
            <a:off x="2103473" y="2619750"/>
            <a:ext cx="2135400" cy="814200"/>
          </a:xfrm>
          <a:prstGeom prst="bentConnector3">
            <a:avLst>
              <a:gd name="adj1" fmla="val 49999"/>
            </a:avLst>
          </a:prstGeom>
          <a:noFill/>
          <a:ln w="9525" cap="flat" cmpd="sng">
            <a:solidFill>
              <a:srgbClr val="CCCCCC"/>
            </a:solidFill>
            <a:prstDash val="solid"/>
            <a:round/>
            <a:headEnd type="none" w="sm" len="sm"/>
            <a:tailEnd type="oval" w="med" len="med"/>
          </a:ln>
        </p:spPr>
      </p:cxnSp>
      <p:sp>
        <p:nvSpPr>
          <p:cNvPr id="299" name="Google Shape;299;p67"/>
          <p:cNvSpPr/>
          <p:nvPr/>
        </p:nvSpPr>
        <p:spPr>
          <a:xfrm>
            <a:off x="4238813" y="3881359"/>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MySQL</a:t>
            </a:r>
            <a:endParaRPr sz="1200" b="0" i="0" u="none" strike="noStrike" cap="none">
              <a:solidFill>
                <a:srgbClr val="222222"/>
              </a:solidFill>
              <a:latin typeface="DM Sans"/>
              <a:ea typeface="DM Sans"/>
              <a:cs typeface="DM Sans"/>
              <a:sym typeface="DM Sans"/>
            </a:endParaRPr>
          </a:p>
        </p:txBody>
      </p:sp>
      <p:cxnSp>
        <p:nvCxnSpPr>
          <p:cNvPr id="300" name="Google Shape;300;p67"/>
          <p:cNvCxnSpPr>
            <a:stCxn id="291" idx="3"/>
            <a:endCxn id="299" idx="1"/>
          </p:cNvCxnSpPr>
          <p:nvPr/>
        </p:nvCxnSpPr>
        <p:spPr>
          <a:xfrm>
            <a:off x="2103473" y="2619750"/>
            <a:ext cx="2135400" cy="1562700"/>
          </a:xfrm>
          <a:prstGeom prst="bentConnector3">
            <a:avLst>
              <a:gd name="adj1" fmla="val 49999"/>
            </a:avLst>
          </a:prstGeom>
          <a:noFill/>
          <a:ln w="9525" cap="flat" cmpd="sng">
            <a:solidFill>
              <a:srgbClr val="CCCCCC"/>
            </a:solidFill>
            <a:prstDash val="solid"/>
            <a:round/>
            <a:headEnd type="none" w="sm" len="sm"/>
            <a:tailEnd type="oval" w="med" len="med"/>
          </a:ln>
        </p:spPr>
      </p:cxnSp>
      <p:sp>
        <p:nvSpPr>
          <p:cNvPr id="301" name="Google Shape;301;p67"/>
          <p:cNvSpPr/>
          <p:nvPr/>
        </p:nvSpPr>
        <p:spPr>
          <a:xfrm>
            <a:off x="6855988" y="2393836"/>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Cómo se compone e implementa</a:t>
            </a:r>
            <a:endParaRPr sz="1200" b="0" i="0" u="none" strike="noStrike" cap="none">
              <a:solidFill>
                <a:srgbClr val="222222"/>
              </a:solidFill>
              <a:latin typeface="DM Sans"/>
              <a:ea typeface="DM Sans"/>
              <a:cs typeface="DM Sans"/>
              <a:sym typeface="DM Sans"/>
            </a:endParaRPr>
          </a:p>
        </p:txBody>
      </p:sp>
      <p:sp>
        <p:nvSpPr>
          <p:cNvPr id="302" name="Google Shape;302;p67"/>
          <p:cNvSpPr/>
          <p:nvPr/>
        </p:nvSpPr>
        <p:spPr>
          <a:xfrm>
            <a:off x="6855988" y="3132811"/>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Conceptos básicos</a:t>
            </a:r>
            <a:endParaRPr sz="1200" b="0" i="0" u="none" strike="noStrike" cap="none">
              <a:solidFill>
                <a:srgbClr val="222222"/>
              </a:solidFill>
              <a:latin typeface="DM Sans"/>
              <a:ea typeface="DM Sans"/>
              <a:cs typeface="DM Sans"/>
              <a:sym typeface="DM Sans"/>
            </a:endParaRPr>
          </a:p>
        </p:txBody>
      </p:sp>
      <p:sp>
        <p:nvSpPr>
          <p:cNvPr id="303" name="Google Shape;303;p67"/>
          <p:cNvSpPr/>
          <p:nvPr/>
        </p:nvSpPr>
        <p:spPr>
          <a:xfrm>
            <a:off x="6855988" y="3875817"/>
            <a:ext cx="1657800" cy="602400"/>
          </a:xfrm>
          <a:prstGeom prst="rect">
            <a:avLst/>
          </a:prstGeom>
          <a:noFill/>
          <a:ln w="9525" cap="flat" cmpd="sng">
            <a:solidFill>
              <a:srgbClr val="393B4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s-419" sz="1200" b="0" i="0" u="none" strike="noStrike" cap="none">
                <a:solidFill>
                  <a:srgbClr val="222222"/>
                </a:solidFill>
                <a:latin typeface="DM Sans"/>
                <a:ea typeface="DM Sans"/>
                <a:cs typeface="DM Sans"/>
                <a:sym typeface="DM Sans"/>
              </a:rPr>
              <a:t>Componentes</a:t>
            </a:r>
            <a:endParaRPr sz="1200" b="0" i="0" u="none" strike="noStrike" cap="none">
              <a:solidFill>
                <a:srgbClr val="222222"/>
              </a:solidFill>
              <a:latin typeface="DM Sans"/>
              <a:ea typeface="DM Sans"/>
              <a:cs typeface="DM Sans"/>
              <a:sym typeface="DM Sans"/>
            </a:endParaRPr>
          </a:p>
        </p:txBody>
      </p:sp>
      <p:cxnSp>
        <p:nvCxnSpPr>
          <p:cNvPr id="304" name="Google Shape;304;p67"/>
          <p:cNvCxnSpPr>
            <a:stCxn id="299" idx="3"/>
            <a:endCxn id="303" idx="1"/>
          </p:cNvCxnSpPr>
          <p:nvPr/>
        </p:nvCxnSpPr>
        <p:spPr>
          <a:xfrm rot="10800000" flipH="1">
            <a:off x="5896613" y="4177159"/>
            <a:ext cx="959400" cy="5400"/>
          </a:xfrm>
          <a:prstGeom prst="straightConnector1">
            <a:avLst/>
          </a:prstGeom>
          <a:noFill/>
          <a:ln w="9525" cap="flat" cmpd="sng">
            <a:solidFill>
              <a:srgbClr val="CCCCCC"/>
            </a:solidFill>
            <a:prstDash val="solid"/>
            <a:round/>
            <a:headEnd type="none" w="sm" len="sm"/>
            <a:tailEnd type="oval" w="med" len="med"/>
          </a:ln>
        </p:spPr>
      </p:cxnSp>
      <p:cxnSp>
        <p:nvCxnSpPr>
          <p:cNvPr id="305" name="Google Shape;305;p67"/>
          <p:cNvCxnSpPr>
            <a:stCxn id="297" idx="3"/>
            <a:endCxn id="302" idx="1"/>
          </p:cNvCxnSpPr>
          <p:nvPr/>
        </p:nvCxnSpPr>
        <p:spPr>
          <a:xfrm>
            <a:off x="5896613" y="3434009"/>
            <a:ext cx="959400" cy="0"/>
          </a:xfrm>
          <a:prstGeom prst="straightConnector1">
            <a:avLst/>
          </a:prstGeom>
          <a:noFill/>
          <a:ln w="9525" cap="flat" cmpd="sng">
            <a:solidFill>
              <a:srgbClr val="CCCCCC"/>
            </a:solidFill>
            <a:prstDash val="solid"/>
            <a:round/>
            <a:headEnd type="none" w="sm" len="sm"/>
            <a:tailEnd type="oval" w="med" len="med"/>
          </a:ln>
        </p:spPr>
      </p:cxnSp>
      <p:cxnSp>
        <p:nvCxnSpPr>
          <p:cNvPr id="306" name="Google Shape;306;p67"/>
          <p:cNvCxnSpPr>
            <a:stCxn id="293" idx="3"/>
            <a:endCxn id="301" idx="1"/>
          </p:cNvCxnSpPr>
          <p:nvPr/>
        </p:nvCxnSpPr>
        <p:spPr>
          <a:xfrm>
            <a:off x="5896613" y="2685461"/>
            <a:ext cx="959400" cy="9600"/>
          </a:xfrm>
          <a:prstGeom prst="straightConnector1">
            <a:avLst/>
          </a:prstGeom>
          <a:noFill/>
          <a:ln w="9525" cap="flat" cmpd="sng">
            <a:solidFill>
              <a:srgbClr val="CCCCCC"/>
            </a:solidFill>
            <a:prstDash val="solid"/>
            <a:round/>
            <a:headEnd type="none" w="sm" len="sm"/>
            <a:tailEnd type="oval" w="med" len="med"/>
          </a:ln>
        </p:spPr>
      </p:cxnSp>
      <p:sp>
        <p:nvSpPr>
          <p:cNvPr id="307" name="Google Shape;307;p67"/>
          <p:cNvSpPr/>
          <p:nvPr/>
        </p:nvSpPr>
        <p:spPr>
          <a:xfrm>
            <a:off x="588525" y="701375"/>
            <a:ext cx="296100" cy="120900"/>
          </a:xfrm>
          <a:prstGeom prst="rect">
            <a:avLst/>
          </a:prstGeom>
          <a:solidFill>
            <a:srgbClr val="EAFF6A"/>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8" name="Google Shape;308;p67"/>
          <p:cNvSpPr txBox="1"/>
          <p:nvPr/>
        </p:nvSpPr>
        <p:spPr>
          <a:xfrm>
            <a:off x="884625" y="468275"/>
            <a:ext cx="24612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s-419" sz="1600" b="0" i="0" u="none" strike="noStrike" cap="none">
                <a:solidFill>
                  <a:schemeClr val="dk1"/>
                </a:solidFill>
                <a:latin typeface="DM Sans"/>
                <a:ea typeface="DM Sans"/>
                <a:cs typeface="DM Sans"/>
                <a:sym typeface="DM Sans"/>
              </a:rPr>
              <a:t>MAPA DE CONCEPTOS</a:t>
            </a:r>
            <a:endParaRPr sz="1400" b="0" i="0" u="none" strike="noStrike" cap="none">
              <a:solidFill>
                <a:srgbClr val="000000"/>
              </a:solidFill>
              <a:latin typeface="DM Sans"/>
              <a:ea typeface="DM Sans"/>
              <a:cs typeface="DM Sans"/>
              <a:sym typeface="DM Sans"/>
            </a:endParaRPr>
          </a:p>
        </p:txBody>
      </p:sp>
      <p:pic>
        <p:nvPicPr>
          <p:cNvPr id="309" name="Google Shape;309;p67" title="ícono de mapa de contenidos"/>
          <p:cNvPicPr preferRelativeResize="0"/>
          <p:nvPr/>
        </p:nvPicPr>
        <p:blipFill rotWithShape="1">
          <a:blip r:embed="rId3">
            <a:alphaModFix/>
          </a:blip>
          <a:srcRect/>
          <a:stretch/>
        </p:blipFill>
        <p:spPr>
          <a:xfrm>
            <a:off x="586275" y="533519"/>
            <a:ext cx="300599" cy="300618"/>
          </a:xfrm>
          <a:prstGeom prst="rect">
            <a:avLst/>
          </a:prstGeom>
          <a:noFill/>
          <a:ln>
            <a:noFill/>
          </a:ln>
        </p:spPr>
      </p:pic>
      <p:pic>
        <p:nvPicPr>
          <p:cNvPr id="22" name="Google Shape;93;p23" title="logo gradient 1.png"/>
          <p:cNvPicPr preferRelativeResize="0"/>
          <p:nvPr/>
        </p:nvPicPr>
        <p:blipFill>
          <a:blip r:embed="rId4">
            <a:alphaModFix/>
          </a:blip>
          <a:stretch>
            <a:fillRect/>
          </a:stretch>
        </p:blipFill>
        <p:spPr>
          <a:xfrm>
            <a:off x="7467137" y="4691250"/>
            <a:ext cx="1547950" cy="452250"/>
          </a:xfrm>
          <a:prstGeom prst="rect">
            <a:avLst/>
          </a:prstGeom>
          <a:noFill/>
          <a:ln>
            <a:noFill/>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8"/>
          <p:cNvSpPr txBox="1"/>
          <p:nvPr/>
        </p:nvSpPr>
        <p:spPr>
          <a:xfrm>
            <a:off x="739075" y="2481425"/>
            <a:ext cx="7815600" cy="2269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s" sz="3000" dirty="0">
                <a:solidFill>
                  <a:srgbClr val="171717"/>
                </a:solidFill>
                <a:latin typeface="Plus Jakarta Sans Light"/>
                <a:ea typeface="Plus Jakarta Sans Light"/>
                <a:cs typeface="Plus Jakarta Sans Light"/>
                <a:sym typeface="Plus Jakarta Sans Light"/>
              </a:rPr>
              <a:t>Una base de datos es un conjunto organizado de información estructurada, almacenada electrónicamente en un sistema informático.</a:t>
            </a:r>
            <a:endParaRPr sz="3000" dirty="0">
              <a:solidFill>
                <a:srgbClr val="171717"/>
              </a:solidFill>
              <a:latin typeface="Plus Jakarta Sans Light"/>
              <a:ea typeface="Plus Jakarta Sans Light"/>
              <a:cs typeface="Plus Jakarta Sans Light"/>
              <a:sym typeface="Plus Jakarta Sans Light"/>
            </a:endParaRPr>
          </a:p>
        </p:txBody>
      </p:sp>
      <p:sp>
        <p:nvSpPr>
          <p:cNvPr id="242" name="Google Shape;242;p38"/>
          <p:cNvSpPr txBox="1"/>
          <p:nvPr/>
        </p:nvSpPr>
        <p:spPr>
          <a:xfrm>
            <a:off x="602400" y="659600"/>
            <a:ext cx="6462900" cy="84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4800">
                <a:solidFill>
                  <a:srgbClr val="FF632B"/>
                </a:solidFill>
                <a:latin typeface="Plus Jakarta Sans ExtraBold"/>
                <a:ea typeface="Plus Jakarta Sans ExtraBold"/>
                <a:cs typeface="Plus Jakarta Sans ExtraBold"/>
                <a:sym typeface="Plus Jakarta Sans ExtraBold"/>
              </a:rPr>
              <a:t>Base de datos</a:t>
            </a:r>
            <a:endParaRPr sz="4800">
              <a:solidFill>
                <a:srgbClr val="FF632B"/>
              </a:solidFill>
              <a:latin typeface="Plus Jakarta Sans ExtraBold"/>
              <a:ea typeface="Plus Jakarta Sans ExtraBold"/>
              <a:cs typeface="Plus Jakarta Sans ExtraBold"/>
              <a:sym typeface="Plus Jakarta Sans ExtraBold"/>
            </a:endParaRPr>
          </a:p>
        </p:txBody>
      </p:sp>
      <p:sp>
        <p:nvSpPr>
          <p:cNvPr id="243" name="Google Shape;243;p38"/>
          <p:cNvSpPr txBox="1"/>
          <p:nvPr/>
        </p:nvSpPr>
        <p:spPr>
          <a:xfrm>
            <a:off x="739075" y="1432375"/>
            <a:ext cx="6462900" cy="84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2500">
                <a:solidFill>
                  <a:srgbClr val="171717"/>
                </a:solidFill>
                <a:latin typeface="Plus Jakarta Sans"/>
                <a:ea typeface="Plus Jakarta Sans"/>
                <a:cs typeface="Plus Jakarta Sans"/>
                <a:sym typeface="Plus Jakarta Sans"/>
              </a:rPr>
              <a:t>¿Qué son?</a:t>
            </a:r>
            <a:endParaRPr sz="2500">
              <a:solidFill>
                <a:srgbClr val="171717"/>
              </a:solidFill>
              <a:latin typeface="Plus Jakarta Sans"/>
              <a:ea typeface="Plus Jakarta Sans"/>
              <a:cs typeface="Plus Jakarta Sans"/>
              <a:sym typeface="Plus Jakarta Sans"/>
            </a:endParaRPr>
          </a:p>
        </p:txBody>
      </p:sp>
      <p:pic>
        <p:nvPicPr>
          <p:cNvPr id="5" name="Google Shape;93;p23" title="logo gradient 1.png"/>
          <p:cNvPicPr preferRelativeResize="0"/>
          <p:nvPr/>
        </p:nvPicPr>
        <p:blipFill>
          <a:blip r:embed="rId3">
            <a:alphaModFix/>
          </a:blip>
          <a:stretch>
            <a:fillRect/>
          </a:stretch>
        </p:blipFill>
        <p:spPr>
          <a:xfrm>
            <a:off x="7467137" y="4691250"/>
            <a:ext cx="1547950" cy="452250"/>
          </a:xfrm>
          <a:prstGeom prst="rect">
            <a:avLst/>
          </a:prstGeom>
          <a:noFill/>
          <a:ln>
            <a:noFill/>
          </a:ln>
        </p:spPr>
      </p:pic>
    </p:spTree>
    <p:extLst>
      <p:ext uri="{BB962C8B-B14F-4D97-AF65-F5344CB8AC3E}">
        <p14:creationId xmlns:p14="http://schemas.microsoft.com/office/powerpoint/2010/main" val="288157818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329;p70"/>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chemeClr val="lt1"/>
                </a:solidFill>
                <a:latin typeface="DM Sans"/>
                <a:ea typeface="DM Sans"/>
                <a:cs typeface="DM Sans"/>
                <a:sym typeface="DM Sans"/>
              </a:rPr>
              <a:t>Bases de datos</a:t>
            </a:r>
            <a:endParaRPr sz="4000" b="1" i="0" u="none" strike="noStrike" cap="none" dirty="0">
              <a:solidFill>
                <a:schemeClr val="lt1"/>
              </a:solidFill>
              <a:latin typeface="DM Sans"/>
              <a:ea typeface="DM Sans"/>
              <a:cs typeface="DM Sans"/>
              <a:sym typeface="DM Sans"/>
            </a:endParaRPr>
          </a:p>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rgbClr val="EA90FF"/>
                </a:solidFill>
                <a:latin typeface="DM Sans"/>
                <a:ea typeface="DM Sans"/>
                <a:cs typeface="DM Sans"/>
                <a:sym typeface="DM Sans"/>
              </a:rPr>
              <a:t>relacionales</a:t>
            </a:r>
            <a:endParaRPr sz="4000" b="1" i="0" u="none" strike="noStrike" cap="none" dirty="0">
              <a:solidFill>
                <a:srgbClr val="EA90FF"/>
              </a:solidFill>
              <a:latin typeface="DM Sans"/>
              <a:ea typeface="DM Sans"/>
              <a:cs typeface="DM Sans"/>
              <a:sym typeface="DM Sans"/>
            </a:endParaRPr>
          </a:p>
        </p:txBody>
      </p:sp>
    </p:spTree>
    <p:extLst>
      <p:ext uri="{BB962C8B-B14F-4D97-AF65-F5344CB8AC3E}">
        <p14:creationId xmlns:p14="http://schemas.microsoft.com/office/powerpoint/2010/main" val="28254043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0"/>
          <p:cNvSpPr txBox="1"/>
          <p:nvPr/>
        </p:nvSpPr>
        <p:spPr>
          <a:xfrm>
            <a:off x="834768" y="2185822"/>
            <a:ext cx="7815600" cy="274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 sz="2500" dirty="0" smtClean="0">
                <a:solidFill>
                  <a:srgbClr val="F8F2E8"/>
                </a:solidFill>
                <a:latin typeface="Plus Jakarta Sans Light"/>
                <a:ea typeface="Plus Jakarta Sans Light"/>
                <a:cs typeface="Plus Jakarta Sans Light"/>
                <a:sym typeface="Plus Jakarta Sans Light"/>
              </a:rPr>
              <a:t>Excel, o las planillas de cálculo en general, ¿pueden ser consideradas como bases de datos?</a:t>
            </a:r>
            <a:endParaRPr sz="2500" dirty="0">
              <a:solidFill>
                <a:srgbClr val="F8F2E8"/>
              </a:solidFill>
              <a:latin typeface="Plus Jakarta Sans Light"/>
              <a:ea typeface="Plus Jakarta Sans Light"/>
              <a:cs typeface="Plus Jakarta Sans Light"/>
              <a:sym typeface="Plus Jakarta Sans Light"/>
            </a:endParaRPr>
          </a:p>
        </p:txBody>
      </p:sp>
      <p:sp>
        <p:nvSpPr>
          <p:cNvPr id="257" name="Google Shape;257;p40"/>
          <p:cNvSpPr txBox="1"/>
          <p:nvPr/>
        </p:nvSpPr>
        <p:spPr>
          <a:xfrm>
            <a:off x="2552187" y="952434"/>
            <a:ext cx="6462900" cy="1138800"/>
          </a:xfrm>
          <a:prstGeom prst="rect">
            <a:avLst/>
          </a:prstGeom>
          <a:noFill/>
          <a:ln>
            <a:noFill/>
          </a:ln>
        </p:spPr>
        <p:txBody>
          <a:bodyPr spcFirstLastPara="1" wrap="square" lIns="91425" tIns="91425" rIns="91425" bIns="91425" anchor="t" anchorCtr="0">
            <a:noAutofit/>
          </a:bodyPr>
          <a:lstStyle/>
          <a:p>
            <a:pPr marL="0" lvl="0" indent="0" algn="ctr" rtl="0">
              <a:lnSpc>
                <a:spcPct val="70000"/>
              </a:lnSpc>
              <a:spcBef>
                <a:spcPts val="0"/>
              </a:spcBef>
              <a:spcAft>
                <a:spcPts val="0"/>
              </a:spcAft>
              <a:buNone/>
            </a:pPr>
            <a:r>
              <a:rPr lang="es" sz="4800" dirty="0">
                <a:solidFill>
                  <a:srgbClr val="F8F2E8"/>
                </a:solidFill>
                <a:latin typeface="Plus Jakarta Sans ExtraBold"/>
                <a:ea typeface="Plus Jakarta Sans ExtraBold"/>
                <a:cs typeface="Plus Jakarta Sans ExtraBold"/>
                <a:sym typeface="Plus Jakarta Sans ExtraBold"/>
              </a:rPr>
              <a:t>Para pensar</a:t>
            </a:r>
            <a:endParaRPr sz="4800" dirty="0">
              <a:solidFill>
                <a:srgbClr val="F8F2E8"/>
              </a:solidFill>
              <a:latin typeface="Plus Jakarta Sans ExtraBold"/>
              <a:ea typeface="Plus Jakarta Sans ExtraBold"/>
              <a:cs typeface="Plus Jakarta Sans ExtraBold"/>
              <a:sym typeface="Plus Jakarta Sans ExtraBold"/>
            </a:endParaRPr>
          </a:p>
        </p:txBody>
      </p:sp>
      <p:pic>
        <p:nvPicPr>
          <p:cNvPr id="4" name="Google Shape;93;p23" title="logo gradient 1.png"/>
          <p:cNvPicPr preferRelativeResize="0"/>
          <p:nvPr/>
        </p:nvPicPr>
        <p:blipFill>
          <a:blip r:embed="rId3">
            <a:alphaModFix/>
          </a:blip>
          <a:stretch>
            <a:fillRect/>
          </a:stretch>
        </p:blipFill>
        <p:spPr>
          <a:xfrm>
            <a:off x="7467137" y="4691250"/>
            <a:ext cx="1547950" cy="452250"/>
          </a:xfrm>
          <a:prstGeom prst="rect">
            <a:avLst/>
          </a:prstGeom>
          <a:noFill/>
          <a:ln>
            <a:noFill/>
          </a:ln>
        </p:spPr>
      </p:pic>
    </p:spTree>
    <p:extLst>
      <p:ext uri="{BB962C8B-B14F-4D97-AF65-F5344CB8AC3E}">
        <p14:creationId xmlns:p14="http://schemas.microsoft.com/office/powerpoint/2010/main" val="40009532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7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a:solidFill>
                  <a:schemeClr val="dk1"/>
                </a:solidFill>
                <a:latin typeface="DM Sans"/>
                <a:ea typeface="DM Sans"/>
                <a:cs typeface="DM Sans"/>
                <a:sym typeface="DM Sans"/>
              </a:rPr>
              <a:t>Concepto</a:t>
            </a:r>
            <a:endParaRPr sz="4000" b="1" i="0" u="none" strike="noStrike" cap="none">
              <a:solidFill>
                <a:schemeClr val="dk1"/>
              </a:solidFill>
              <a:latin typeface="DM Sans"/>
              <a:ea typeface="DM Sans"/>
              <a:cs typeface="DM Sans"/>
              <a:sym typeface="DM Sans"/>
            </a:endParaRPr>
          </a:p>
        </p:txBody>
      </p:sp>
      <p:sp>
        <p:nvSpPr>
          <p:cNvPr id="335" name="Google Shape;335;p71"/>
          <p:cNvSpPr txBox="1"/>
          <p:nvPr/>
        </p:nvSpPr>
        <p:spPr>
          <a:xfrm>
            <a:off x="473350" y="1908175"/>
            <a:ext cx="3834600" cy="1015800"/>
          </a:xfrm>
          <a:prstGeom prst="rect">
            <a:avLst/>
          </a:prstGeom>
          <a:noFill/>
          <a:ln>
            <a:noFill/>
          </a:ln>
        </p:spPr>
        <p:txBody>
          <a:bodyPr spcFirstLastPara="1" wrap="square" lIns="91425" tIns="91425" rIns="91425" bIns="91425" anchor="t" anchorCtr="0">
            <a:spAutoFit/>
          </a:bodyPr>
          <a:lstStyle/>
          <a:p>
            <a:pPr marL="0" marR="38100" lvl="0" indent="0" algn="l" rtl="0">
              <a:lnSpc>
                <a:spcPct val="100000"/>
              </a:lnSpc>
              <a:spcBef>
                <a:spcPts val="0"/>
              </a:spcBef>
              <a:spcAft>
                <a:spcPts val="0"/>
              </a:spcAft>
              <a:buClr>
                <a:srgbClr val="000000"/>
              </a:buClr>
              <a:buSzPts val="1350"/>
              <a:buFont typeface="Arial"/>
              <a:buNone/>
            </a:pPr>
            <a:r>
              <a:rPr lang="es-419" sz="1350" b="0" i="0" u="none" strike="noStrike" cap="none">
                <a:solidFill>
                  <a:srgbClr val="000000"/>
                </a:solidFill>
                <a:latin typeface="DM Sans"/>
                <a:ea typeface="DM Sans"/>
                <a:cs typeface="DM Sans"/>
                <a:sym typeface="DM Sans"/>
              </a:rPr>
              <a:t>Las bases de datos relacionales se basan en el Modelo Relacional usando tablas para representar los datos y las relaciones entre ellos.</a:t>
            </a:r>
            <a:endParaRPr sz="1350" b="0" i="0" u="none" strike="noStrike" cap="none">
              <a:solidFill>
                <a:srgbClr val="000000"/>
              </a:solidFill>
              <a:latin typeface="DM Sans"/>
              <a:ea typeface="DM Sans"/>
              <a:cs typeface="DM Sans"/>
              <a:sym typeface="DM Sans"/>
            </a:endParaRPr>
          </a:p>
        </p:txBody>
      </p:sp>
      <p:sp>
        <p:nvSpPr>
          <p:cNvPr id="336" name="Google Shape;336;p71"/>
          <p:cNvSpPr txBox="1"/>
          <p:nvPr/>
        </p:nvSpPr>
        <p:spPr>
          <a:xfrm>
            <a:off x="4527575" y="1908175"/>
            <a:ext cx="3834600" cy="1015800"/>
          </a:xfrm>
          <a:prstGeom prst="rect">
            <a:avLst/>
          </a:prstGeom>
          <a:noFill/>
          <a:ln>
            <a:noFill/>
          </a:ln>
        </p:spPr>
        <p:txBody>
          <a:bodyPr spcFirstLastPara="1" wrap="square" lIns="91425" tIns="91425" rIns="91425" bIns="91425" anchor="t" anchorCtr="0">
            <a:spAutoFit/>
          </a:bodyPr>
          <a:lstStyle/>
          <a:p>
            <a:pPr marL="0" marR="38100" lvl="0" indent="0" algn="l" rtl="0">
              <a:lnSpc>
                <a:spcPct val="100000"/>
              </a:lnSpc>
              <a:spcBef>
                <a:spcPts val="0"/>
              </a:spcBef>
              <a:spcAft>
                <a:spcPts val="0"/>
              </a:spcAft>
              <a:buClr>
                <a:srgbClr val="000000"/>
              </a:buClr>
              <a:buSzPts val="1350"/>
              <a:buFont typeface="Arial"/>
              <a:buNone/>
            </a:pPr>
            <a:r>
              <a:rPr lang="es-419" sz="1350" b="0" i="0" u="none" strike="noStrike" cap="none">
                <a:solidFill>
                  <a:schemeClr val="dk1"/>
                </a:solidFill>
                <a:latin typeface="DM Sans"/>
                <a:ea typeface="DM Sans"/>
                <a:cs typeface="DM Sans"/>
                <a:sym typeface="DM Sans"/>
              </a:rPr>
              <a:t>Es poco frecuente encontrar casos de una DB con una sola tabla pero, en el caso de que se dé esta situación, se la denomina DB plana.</a:t>
            </a:r>
            <a:endParaRPr sz="1350" b="0" i="0" u="none" strike="noStrike" cap="none">
              <a:solidFill>
                <a:srgbClr val="000000"/>
              </a:solidFill>
              <a:latin typeface="DM Sans"/>
              <a:ea typeface="DM Sans"/>
              <a:cs typeface="DM Sans"/>
              <a:sym typeface="DM Sans"/>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329;p70"/>
          <p:cNvSpPr txBox="1"/>
          <p:nvPr/>
        </p:nvSpPr>
        <p:spPr>
          <a:xfrm>
            <a:off x="1404863" y="527245"/>
            <a:ext cx="6221400" cy="738633"/>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chemeClr val="lt1"/>
                </a:solidFill>
                <a:latin typeface="DM Sans"/>
                <a:ea typeface="DM Sans"/>
                <a:cs typeface="DM Sans"/>
                <a:sym typeface="DM Sans"/>
              </a:rPr>
              <a:t>Bases de </a:t>
            </a:r>
            <a:r>
              <a:rPr lang="es-419" sz="4000" b="1" i="0" u="none" strike="noStrike" cap="none" dirty="0" smtClean="0">
                <a:solidFill>
                  <a:schemeClr val="lt1"/>
                </a:solidFill>
                <a:latin typeface="DM Sans"/>
                <a:ea typeface="DM Sans"/>
                <a:cs typeface="DM Sans"/>
                <a:sym typeface="DM Sans"/>
              </a:rPr>
              <a:t>datos Planas</a:t>
            </a:r>
            <a:endParaRPr sz="4000" b="1" i="0" u="none" strike="noStrike" cap="none" dirty="0">
              <a:solidFill>
                <a:schemeClr val="lt1"/>
              </a:solidFill>
              <a:latin typeface="DM Sans"/>
              <a:ea typeface="DM Sans"/>
              <a:cs typeface="DM Sans"/>
              <a:sym typeface="DM Sans"/>
            </a:endParaRPr>
          </a:p>
        </p:txBody>
      </p:sp>
      <p:sp>
        <p:nvSpPr>
          <p:cNvPr id="4" name="Google Shape;343;p72"/>
          <p:cNvSpPr txBox="1"/>
          <p:nvPr/>
        </p:nvSpPr>
        <p:spPr>
          <a:xfrm>
            <a:off x="5736025" y="1404850"/>
            <a:ext cx="2568300" cy="2885375"/>
          </a:xfrm>
          <a:prstGeom prst="rect">
            <a:avLst/>
          </a:prstGeom>
          <a:noFill/>
          <a:ln>
            <a:noFill/>
          </a:ln>
        </p:spPr>
        <p:txBody>
          <a:bodyPr spcFirstLastPara="1" wrap="square" lIns="91425" tIns="91425" rIns="91425" bIns="91425" anchor="t" anchorCtr="0">
            <a:spAutoFit/>
          </a:bodyPr>
          <a:lstStyle/>
          <a:p>
            <a:pPr marL="0" marR="38100" lvl="0" indent="0" algn="l" rtl="0">
              <a:lnSpc>
                <a:spcPct val="100000"/>
              </a:lnSpc>
              <a:spcBef>
                <a:spcPts val="0"/>
              </a:spcBef>
              <a:spcAft>
                <a:spcPts val="0"/>
              </a:spcAft>
              <a:buClr>
                <a:schemeClr val="dk1"/>
              </a:buClr>
              <a:buSzPts val="1100"/>
              <a:buFont typeface="Arial"/>
              <a:buNone/>
            </a:pPr>
            <a:r>
              <a:rPr lang="es-419" sz="1350" b="1" i="0" u="none" strike="noStrike" cap="none" dirty="0">
                <a:solidFill>
                  <a:schemeClr val="bg1"/>
                </a:solidFill>
                <a:latin typeface="DM Sans"/>
                <a:ea typeface="DM Sans"/>
                <a:cs typeface="DM Sans"/>
                <a:sym typeface="DM Sans"/>
              </a:rPr>
              <a:t>Ejemplo de cómo se suele estructurar la información en una base de datos plana</a:t>
            </a:r>
            <a:endParaRPr sz="1350" b="1" i="0" u="none" strike="noStrike" cap="none" dirty="0">
              <a:solidFill>
                <a:schemeClr val="bg1"/>
              </a:solidFill>
              <a:latin typeface="DM Sans"/>
              <a:ea typeface="DM Sans"/>
              <a:cs typeface="DM Sans"/>
              <a:sym typeface="DM Sans"/>
            </a:endParaRPr>
          </a:p>
          <a:p>
            <a:pPr marL="0" marR="38100" lvl="0" indent="0" algn="l" rtl="0">
              <a:lnSpc>
                <a:spcPct val="100000"/>
              </a:lnSpc>
              <a:spcBef>
                <a:spcPts val="0"/>
              </a:spcBef>
              <a:spcAft>
                <a:spcPts val="0"/>
              </a:spcAft>
              <a:buClr>
                <a:srgbClr val="000000"/>
              </a:buClr>
              <a:buSzPts val="1350"/>
              <a:buFont typeface="Arial"/>
              <a:buNone/>
            </a:pPr>
            <a:endParaRPr sz="1350" b="0" i="0" u="none" strike="noStrike" cap="none" dirty="0">
              <a:solidFill>
                <a:schemeClr val="bg1"/>
              </a:solidFill>
              <a:latin typeface="DM Sans"/>
              <a:ea typeface="DM Sans"/>
              <a:cs typeface="DM Sans"/>
              <a:sym typeface="DM Sans"/>
            </a:endParaRPr>
          </a:p>
          <a:p>
            <a:pPr marL="0" marR="3810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Si pensamos en un proyecto a gran escala, la redundancia de los datos que encontramos en la columna PROVEEDOR, generaría con el tiempo que la DB crezca en ocupación de disco, y se vuelva lenta para buscar información o para recorrerla.</a:t>
            </a:r>
            <a:endParaRPr sz="1350" b="0" i="0" u="none" strike="noStrike" cap="none" dirty="0">
              <a:solidFill>
                <a:schemeClr val="bg1"/>
              </a:solidFill>
              <a:latin typeface="DM Sans"/>
              <a:ea typeface="DM Sans"/>
              <a:cs typeface="DM Sans"/>
              <a:sym typeface="DM Sans"/>
            </a:endParaRPr>
          </a:p>
        </p:txBody>
      </p:sp>
      <p:pic>
        <p:nvPicPr>
          <p:cNvPr id="6" name="Google Shape;344;p72"/>
          <p:cNvPicPr preferRelativeResize="0"/>
          <p:nvPr/>
        </p:nvPicPr>
        <p:blipFill rotWithShape="1">
          <a:blip r:embed="rId4">
            <a:alphaModFix/>
          </a:blip>
          <a:srcRect/>
          <a:stretch/>
        </p:blipFill>
        <p:spPr>
          <a:xfrm>
            <a:off x="627553" y="1725164"/>
            <a:ext cx="4751200" cy="1756254"/>
          </a:xfrm>
          <a:prstGeom prst="rect">
            <a:avLst/>
          </a:prstGeom>
          <a:noFill/>
          <a:ln>
            <a:noFill/>
          </a:ln>
        </p:spPr>
      </p:pic>
    </p:spTree>
    <p:extLst>
      <p:ext uri="{BB962C8B-B14F-4D97-AF65-F5344CB8AC3E}">
        <p14:creationId xmlns:p14="http://schemas.microsoft.com/office/powerpoint/2010/main" val="146839172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329;p70"/>
          <p:cNvSpPr txBox="1"/>
          <p:nvPr/>
        </p:nvSpPr>
        <p:spPr>
          <a:xfrm>
            <a:off x="1007182" y="477822"/>
            <a:ext cx="6850278" cy="738633"/>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chemeClr val="lt1"/>
                </a:solidFill>
                <a:latin typeface="DM Sans"/>
                <a:ea typeface="DM Sans"/>
                <a:cs typeface="DM Sans"/>
                <a:sym typeface="DM Sans"/>
              </a:rPr>
              <a:t>Bases de </a:t>
            </a:r>
            <a:r>
              <a:rPr lang="es-419" sz="4000" b="1" i="0" u="none" strike="noStrike" cap="none" dirty="0" smtClean="0">
                <a:solidFill>
                  <a:schemeClr val="lt1"/>
                </a:solidFill>
                <a:latin typeface="DM Sans"/>
                <a:ea typeface="DM Sans"/>
                <a:cs typeface="DM Sans"/>
                <a:sym typeface="DM Sans"/>
              </a:rPr>
              <a:t>datos Relacional</a:t>
            </a:r>
            <a:endParaRPr sz="4000" b="1" i="0" u="none" strike="noStrike" cap="none" dirty="0">
              <a:solidFill>
                <a:schemeClr val="lt1"/>
              </a:solidFill>
              <a:latin typeface="DM Sans"/>
              <a:ea typeface="DM Sans"/>
              <a:cs typeface="DM Sans"/>
              <a:sym typeface="DM Sans"/>
            </a:endParaRPr>
          </a:p>
        </p:txBody>
      </p:sp>
      <p:pic>
        <p:nvPicPr>
          <p:cNvPr id="4" name="Google Shape;352;p73"/>
          <p:cNvPicPr preferRelativeResize="0"/>
          <p:nvPr/>
        </p:nvPicPr>
        <p:blipFill rotWithShape="1">
          <a:blip r:embed="rId4">
            <a:alphaModFix/>
          </a:blip>
          <a:srcRect/>
          <a:stretch/>
        </p:blipFill>
        <p:spPr>
          <a:xfrm>
            <a:off x="865313" y="1865775"/>
            <a:ext cx="4773077" cy="1756250"/>
          </a:xfrm>
          <a:prstGeom prst="rect">
            <a:avLst/>
          </a:prstGeom>
          <a:noFill/>
          <a:ln>
            <a:noFill/>
          </a:ln>
        </p:spPr>
      </p:pic>
      <p:sp>
        <p:nvSpPr>
          <p:cNvPr id="6" name="Google Shape;351;p73"/>
          <p:cNvSpPr txBox="1"/>
          <p:nvPr/>
        </p:nvSpPr>
        <p:spPr>
          <a:xfrm>
            <a:off x="5712850" y="1612600"/>
            <a:ext cx="2639700" cy="2054378"/>
          </a:xfrm>
          <a:prstGeom prst="rect">
            <a:avLst/>
          </a:prstGeom>
          <a:noFill/>
          <a:ln>
            <a:noFill/>
          </a:ln>
        </p:spPr>
        <p:txBody>
          <a:bodyPr spcFirstLastPara="1" wrap="square" lIns="91425" tIns="91425" rIns="91425" bIns="91425" anchor="t" anchorCtr="0">
            <a:spAutoFit/>
          </a:bodyPr>
          <a:lstStyle/>
          <a:p>
            <a:pPr marL="0" marR="38100" lvl="0" indent="0" algn="l" rtl="0">
              <a:lnSpc>
                <a:spcPct val="100000"/>
              </a:lnSpc>
              <a:spcBef>
                <a:spcPts val="0"/>
              </a:spcBef>
              <a:spcAft>
                <a:spcPts val="0"/>
              </a:spcAft>
              <a:buClr>
                <a:srgbClr val="000000"/>
              </a:buClr>
              <a:buSzPts val="1350"/>
              <a:buFont typeface="Arial"/>
              <a:buNone/>
            </a:pPr>
            <a:r>
              <a:rPr lang="es-419" sz="1350" b="1" i="0" u="none" strike="noStrike" cap="none" dirty="0">
                <a:solidFill>
                  <a:schemeClr val="bg1"/>
                </a:solidFill>
                <a:latin typeface="DM Sans"/>
                <a:ea typeface="DM Sans"/>
                <a:cs typeface="DM Sans"/>
                <a:sym typeface="DM Sans"/>
              </a:rPr>
              <a:t>Ejemplo de datos correctamente normalizados</a:t>
            </a:r>
            <a:endParaRPr sz="1350" b="1" i="0" u="none" strike="noStrike" cap="none" dirty="0">
              <a:solidFill>
                <a:schemeClr val="bg1"/>
              </a:solidFill>
              <a:latin typeface="DM Sans"/>
              <a:ea typeface="DM Sans"/>
              <a:cs typeface="DM Sans"/>
              <a:sym typeface="DM Sans"/>
            </a:endParaRPr>
          </a:p>
          <a:p>
            <a:pPr marL="0" marR="38100" lvl="0" indent="0" algn="l" rtl="0">
              <a:lnSpc>
                <a:spcPct val="100000"/>
              </a:lnSpc>
              <a:spcBef>
                <a:spcPts val="0"/>
              </a:spcBef>
              <a:spcAft>
                <a:spcPts val="0"/>
              </a:spcAft>
              <a:buClr>
                <a:srgbClr val="000000"/>
              </a:buClr>
              <a:buSzPts val="1350"/>
              <a:buFont typeface="Arial"/>
              <a:buNone/>
            </a:pPr>
            <a:endParaRPr sz="1350" b="0" i="0" u="none" strike="noStrike" cap="none" dirty="0">
              <a:solidFill>
                <a:schemeClr val="bg1"/>
              </a:solidFill>
              <a:latin typeface="DM Sans"/>
              <a:ea typeface="DM Sans"/>
              <a:cs typeface="DM Sans"/>
              <a:sym typeface="DM Sans"/>
            </a:endParaRPr>
          </a:p>
          <a:p>
            <a:pPr marL="0" marR="3810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Para transformar la base de datos plana en una base de datos relacional, esta sería una forma mucho más correcta de “normalizar” la información que representamos.</a:t>
            </a:r>
            <a:endParaRPr sz="1350" b="0" i="0" u="none" strike="noStrike" cap="none" dirty="0">
              <a:solidFill>
                <a:schemeClr val="bg1"/>
              </a:solidFill>
              <a:latin typeface="DM Sans"/>
              <a:ea typeface="DM Sans"/>
              <a:cs typeface="DM Sans"/>
              <a:sym typeface="DM Sans"/>
            </a:endParaRPr>
          </a:p>
        </p:txBody>
      </p:sp>
    </p:spTree>
    <p:extLst>
      <p:ext uri="{BB962C8B-B14F-4D97-AF65-F5344CB8AC3E}">
        <p14:creationId xmlns:p14="http://schemas.microsoft.com/office/powerpoint/2010/main" val="46672324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74"/>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a:solidFill>
                  <a:schemeClr val="dk1"/>
                </a:solidFill>
                <a:latin typeface="DM Sans"/>
                <a:ea typeface="DM Sans"/>
                <a:cs typeface="DM Sans"/>
                <a:sym typeface="DM Sans"/>
              </a:rPr>
              <a:t>Ventajas</a:t>
            </a:r>
            <a:endParaRPr sz="4000" b="1" i="0" u="none" strike="noStrike" cap="none">
              <a:solidFill>
                <a:schemeClr val="dk1"/>
              </a:solidFill>
              <a:latin typeface="DM Sans"/>
              <a:ea typeface="DM Sans"/>
              <a:cs typeface="DM Sans"/>
              <a:sym typeface="DM Sans"/>
            </a:endParaRPr>
          </a:p>
        </p:txBody>
      </p:sp>
      <p:sp>
        <p:nvSpPr>
          <p:cNvPr id="358" name="Google Shape;358;p74"/>
          <p:cNvSpPr txBox="1"/>
          <p:nvPr/>
        </p:nvSpPr>
        <p:spPr>
          <a:xfrm>
            <a:off x="473350" y="1908175"/>
            <a:ext cx="5724300" cy="808200"/>
          </a:xfrm>
          <a:prstGeom prst="rect">
            <a:avLst/>
          </a:prstGeom>
          <a:noFill/>
          <a:ln>
            <a:noFill/>
          </a:ln>
        </p:spPr>
        <p:txBody>
          <a:bodyPr spcFirstLastPara="1" wrap="square" lIns="91425" tIns="91425" rIns="91425" bIns="91425" anchor="t" anchorCtr="0">
            <a:spAutoFit/>
          </a:bodyPr>
          <a:lstStyle/>
          <a:p>
            <a:pPr marL="457200" marR="38100" lvl="0" indent="-314325" algn="l" rtl="0">
              <a:lnSpc>
                <a:spcPct val="100000"/>
              </a:lnSpc>
              <a:spcBef>
                <a:spcPts val="0"/>
              </a:spcBef>
              <a:spcAft>
                <a:spcPts val="0"/>
              </a:spcAft>
              <a:buClr>
                <a:srgbClr val="EA90FF"/>
              </a:buClr>
              <a:buSzPts val="1350"/>
              <a:buFont typeface="DM Sans"/>
              <a:buChar char="✓"/>
            </a:pPr>
            <a:r>
              <a:rPr lang="es-419" sz="1350" b="0" i="0" u="none" strike="noStrike" cap="none">
                <a:solidFill>
                  <a:schemeClr val="dk1"/>
                </a:solidFill>
                <a:latin typeface="DM Sans"/>
                <a:ea typeface="DM Sans"/>
                <a:cs typeface="DM Sans"/>
                <a:sym typeface="DM Sans"/>
              </a:rPr>
              <a:t>Evitar datos duplicados</a:t>
            </a:r>
            <a:endParaRPr sz="1350" b="0" i="0" u="none" strike="noStrike" cap="none">
              <a:solidFill>
                <a:schemeClr val="dk1"/>
              </a:solidFill>
              <a:latin typeface="DM Sans"/>
              <a:ea typeface="DM Sans"/>
              <a:cs typeface="DM Sans"/>
              <a:sym typeface="DM Sans"/>
            </a:endParaRPr>
          </a:p>
          <a:p>
            <a:pPr marL="457200" marR="38100" lvl="0" indent="-314325" algn="l" rtl="0">
              <a:lnSpc>
                <a:spcPct val="100000"/>
              </a:lnSpc>
              <a:spcBef>
                <a:spcPts val="0"/>
              </a:spcBef>
              <a:spcAft>
                <a:spcPts val="0"/>
              </a:spcAft>
              <a:buClr>
                <a:srgbClr val="EA90FF"/>
              </a:buClr>
              <a:buSzPts val="1350"/>
              <a:buFont typeface="DM Sans"/>
              <a:buChar char="✓"/>
            </a:pPr>
            <a:r>
              <a:rPr lang="es-419" sz="1350" b="0" i="0" u="none" strike="noStrike" cap="none">
                <a:solidFill>
                  <a:schemeClr val="dk1"/>
                </a:solidFill>
                <a:latin typeface="DM Sans"/>
                <a:ea typeface="DM Sans"/>
                <a:cs typeface="DM Sans"/>
                <a:sym typeface="DM Sans"/>
              </a:rPr>
              <a:t>Optimiza el espacio de almacenamiento</a:t>
            </a:r>
            <a:endParaRPr sz="1350" b="0" i="0" u="none" strike="noStrike" cap="none">
              <a:solidFill>
                <a:schemeClr val="dk1"/>
              </a:solidFill>
              <a:latin typeface="DM Sans"/>
              <a:ea typeface="DM Sans"/>
              <a:cs typeface="DM Sans"/>
              <a:sym typeface="DM Sans"/>
            </a:endParaRPr>
          </a:p>
          <a:p>
            <a:pPr marL="457200" marR="38100" lvl="0" indent="-314325" algn="l" rtl="0">
              <a:lnSpc>
                <a:spcPct val="100000"/>
              </a:lnSpc>
              <a:spcBef>
                <a:spcPts val="0"/>
              </a:spcBef>
              <a:spcAft>
                <a:spcPts val="0"/>
              </a:spcAft>
              <a:buClr>
                <a:srgbClr val="EA90FF"/>
              </a:buClr>
              <a:buSzPts val="1350"/>
              <a:buFont typeface="DM Sans"/>
              <a:buChar char="✓"/>
            </a:pPr>
            <a:r>
              <a:rPr lang="es-419" sz="1350" b="0" i="0" u="none" strike="noStrike" cap="none">
                <a:solidFill>
                  <a:schemeClr val="dk1"/>
                </a:solidFill>
                <a:latin typeface="DM Sans"/>
                <a:ea typeface="DM Sans"/>
                <a:cs typeface="DM Sans"/>
                <a:sym typeface="DM Sans"/>
              </a:rPr>
              <a:t>Reduce la complejidad del usos de las tablas</a:t>
            </a:r>
            <a:endParaRPr sz="1350" b="0" i="0" u="none" strike="noStrike" cap="none">
              <a:solidFill>
                <a:schemeClr val="dk1"/>
              </a:solidFill>
              <a:latin typeface="DM Sans"/>
              <a:ea typeface="DM Sans"/>
              <a:cs typeface="DM Sans"/>
              <a:sym typeface="DM Sans"/>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4" name="Google Shape;373;p76"/>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chemeClr val="dk1"/>
                </a:solidFill>
                <a:latin typeface="DM Sans"/>
                <a:ea typeface="DM Sans"/>
                <a:cs typeface="DM Sans"/>
                <a:sym typeface="DM Sans"/>
              </a:rPr>
              <a:t>Estructura de tablas</a:t>
            </a:r>
            <a:endParaRPr sz="4000" b="1" i="0" u="none" strike="noStrike" cap="none" dirty="0">
              <a:solidFill>
                <a:schemeClr val="dk1"/>
              </a:solidFill>
              <a:latin typeface="DM Sans"/>
              <a:ea typeface="DM Sans"/>
              <a:cs typeface="DM Sans"/>
              <a:sym typeface="DM Sans"/>
            </a:endParaRPr>
          </a:p>
        </p:txBody>
      </p:sp>
    </p:spTree>
    <p:extLst>
      <p:ext uri="{BB962C8B-B14F-4D97-AF65-F5344CB8AC3E}">
        <p14:creationId xmlns:p14="http://schemas.microsoft.com/office/powerpoint/2010/main" val="51366880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77"/>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i="0" u="none" strike="noStrike" cap="none">
                <a:solidFill>
                  <a:srgbClr val="EAFF6A"/>
                </a:solidFill>
                <a:latin typeface="DM Sans"/>
                <a:ea typeface="DM Sans"/>
                <a:cs typeface="DM Sans"/>
                <a:sym typeface="DM Sans"/>
              </a:rPr>
              <a:t>Ejemplo en vivo</a:t>
            </a:r>
            <a:endParaRPr sz="3500" b="1" i="0" u="none" strike="noStrike" cap="none">
              <a:solidFill>
                <a:srgbClr val="EAFF6A"/>
              </a:solidFill>
              <a:latin typeface="DM Sans"/>
              <a:ea typeface="DM Sans"/>
              <a:cs typeface="DM Sans"/>
              <a:sym typeface="DM Sans"/>
            </a:endParaRPr>
          </a:p>
        </p:txBody>
      </p:sp>
      <p:sp>
        <p:nvSpPr>
          <p:cNvPr id="379" name="Google Shape;379;p77"/>
          <p:cNvSpPr txBox="1"/>
          <p:nvPr/>
        </p:nvSpPr>
        <p:spPr>
          <a:xfrm>
            <a:off x="473350" y="1626100"/>
            <a:ext cx="8191500" cy="153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419" sz="2200" b="0" i="0" u="none" strike="noStrike" cap="none">
                <a:solidFill>
                  <a:srgbClr val="B7B7B7"/>
                </a:solidFill>
                <a:latin typeface="DM Sans"/>
                <a:ea typeface="DM Sans"/>
                <a:cs typeface="DM Sans"/>
                <a:sym typeface="DM Sans"/>
              </a:rPr>
              <a:t>Con las siguientes tablas, diseñemos un diagrama del modelo entidad-relación. </a:t>
            </a:r>
            <a:endParaRPr sz="2200" b="0" i="0" u="none" strike="noStrike" cap="none">
              <a:solidFill>
                <a:srgbClr val="B7B7B7"/>
              </a:solidFill>
              <a:latin typeface="DM Sans"/>
              <a:ea typeface="DM Sans"/>
              <a:cs typeface="DM Sans"/>
              <a:sym typeface="DM Sans"/>
            </a:endParaRPr>
          </a:p>
          <a:p>
            <a:pPr marL="899999" marR="0" lvl="0" indent="-323849" algn="l" rtl="0">
              <a:lnSpc>
                <a:spcPct val="100000"/>
              </a:lnSpc>
              <a:spcBef>
                <a:spcPts val="0"/>
              </a:spcBef>
              <a:spcAft>
                <a:spcPts val="0"/>
              </a:spcAft>
              <a:buClr>
                <a:srgbClr val="E0FF00"/>
              </a:buClr>
              <a:buSzPts val="1500"/>
              <a:buFont typeface="Helvetica Neue"/>
              <a:buChar char="✓"/>
            </a:pPr>
            <a:r>
              <a:rPr lang="es-419" sz="2200" b="0" i="0" u="none" strike="noStrike" cap="none">
                <a:solidFill>
                  <a:srgbClr val="B7B7B7"/>
                </a:solidFill>
                <a:latin typeface="DM Sans"/>
                <a:ea typeface="DM Sans"/>
                <a:cs typeface="DM Sans"/>
                <a:sym typeface="DM Sans"/>
              </a:rPr>
              <a:t>Implementar todos los componentes del diagrama</a:t>
            </a:r>
            <a:endParaRPr sz="2200" b="0" i="0" u="none" strike="noStrike" cap="none">
              <a:solidFill>
                <a:srgbClr val="B7B7B7"/>
              </a:solidFill>
              <a:latin typeface="DM Sans"/>
              <a:ea typeface="DM Sans"/>
              <a:cs typeface="DM Sans"/>
              <a:sym typeface="DM Sans"/>
            </a:endParaRPr>
          </a:p>
          <a:p>
            <a:pPr marL="899999" marR="0" lvl="0" indent="-323849" algn="l" rtl="0">
              <a:lnSpc>
                <a:spcPct val="100000"/>
              </a:lnSpc>
              <a:spcBef>
                <a:spcPts val="0"/>
              </a:spcBef>
              <a:spcAft>
                <a:spcPts val="0"/>
              </a:spcAft>
              <a:buClr>
                <a:srgbClr val="E0FF00"/>
              </a:buClr>
              <a:buSzPts val="1500"/>
              <a:buFont typeface="Helvetica Neue"/>
              <a:buChar char="✓"/>
            </a:pPr>
            <a:r>
              <a:rPr lang="es-419" sz="2200" b="0" i="0" u="none" strike="noStrike" cap="none">
                <a:solidFill>
                  <a:srgbClr val="B7B7B7"/>
                </a:solidFill>
                <a:latin typeface="DM Sans"/>
                <a:ea typeface="DM Sans"/>
                <a:cs typeface="DM Sans"/>
                <a:sym typeface="DM Sans"/>
              </a:rPr>
              <a:t>Identificar los tipos de relación que se dan</a:t>
            </a:r>
            <a:endParaRPr sz="2200" b="0" i="0" u="none" strike="noStrike" cap="none">
              <a:solidFill>
                <a:srgbClr val="B7B7B7"/>
              </a:solidFill>
              <a:latin typeface="DM Sans"/>
              <a:ea typeface="DM Sans"/>
              <a:cs typeface="DM Sans"/>
              <a:sym typeface="DM Sans"/>
            </a:endParaRPr>
          </a:p>
        </p:txBody>
      </p:sp>
      <p:grpSp>
        <p:nvGrpSpPr>
          <p:cNvPr id="380" name="Google Shape;380;p77"/>
          <p:cNvGrpSpPr/>
          <p:nvPr/>
        </p:nvGrpSpPr>
        <p:grpSpPr>
          <a:xfrm>
            <a:off x="473351" y="619523"/>
            <a:ext cx="738900" cy="738900"/>
            <a:chOff x="473351" y="619523"/>
            <a:chExt cx="738900" cy="738900"/>
          </a:xfrm>
        </p:grpSpPr>
        <p:sp>
          <p:nvSpPr>
            <p:cNvPr id="381" name="Google Shape;381;p77"/>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82" name="Google Shape;382;p77" title="ícono de ejemplo en vivo"/>
            <p:cNvPicPr preferRelativeResize="0"/>
            <p:nvPr/>
          </p:nvPicPr>
          <p:blipFill rotWithShape="1">
            <a:blip r:embed="rId3">
              <a:alphaModFix/>
            </a:blip>
            <a:srcRect/>
            <a:stretch/>
          </p:blipFill>
          <p:spPr>
            <a:xfrm>
              <a:off x="616475" y="762650"/>
              <a:ext cx="452650" cy="452650"/>
            </a:xfrm>
            <a:prstGeom prst="rect">
              <a:avLst/>
            </a:prstGeom>
            <a:noFill/>
            <a:ln>
              <a:noFill/>
            </a:ln>
          </p:spPr>
        </p:pic>
      </p:grpSp>
      <p:sp>
        <p:nvSpPr>
          <p:cNvPr id="383" name="Google Shape;383;p77"/>
          <p:cNvSpPr/>
          <p:nvPr/>
        </p:nvSpPr>
        <p:spPr>
          <a:xfrm>
            <a:off x="1588225" y="3399100"/>
            <a:ext cx="1206300" cy="4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s-419" sz="1400" b="0" i="0" u="none" strike="noStrike" cap="none">
                <a:solidFill>
                  <a:srgbClr val="000000"/>
                </a:solidFill>
                <a:latin typeface="DM Sans"/>
                <a:ea typeface="DM Sans"/>
                <a:cs typeface="DM Sans"/>
                <a:sym typeface="DM Sans"/>
              </a:rPr>
              <a:t>Estudiantes</a:t>
            </a:r>
            <a:endParaRPr sz="1400" b="0" i="0" u="none" strike="noStrike" cap="none">
              <a:solidFill>
                <a:srgbClr val="000000"/>
              </a:solidFill>
              <a:latin typeface="DM Sans"/>
              <a:ea typeface="DM Sans"/>
              <a:cs typeface="DM Sans"/>
              <a:sym typeface="DM Sans"/>
            </a:endParaRPr>
          </a:p>
        </p:txBody>
      </p:sp>
      <p:sp>
        <p:nvSpPr>
          <p:cNvPr id="384" name="Google Shape;384;p77"/>
          <p:cNvSpPr/>
          <p:nvPr/>
        </p:nvSpPr>
        <p:spPr>
          <a:xfrm>
            <a:off x="3965950" y="3433075"/>
            <a:ext cx="1206300" cy="4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s-419" sz="1400" b="0" i="0" u="none" strike="noStrike" cap="none">
                <a:solidFill>
                  <a:srgbClr val="000000"/>
                </a:solidFill>
                <a:latin typeface="DM Sans"/>
                <a:ea typeface="DM Sans"/>
                <a:cs typeface="DM Sans"/>
                <a:sym typeface="DM Sans"/>
              </a:rPr>
              <a:t>Profesores</a:t>
            </a:r>
            <a:endParaRPr sz="1400" b="0" i="0" u="none" strike="noStrike" cap="none">
              <a:solidFill>
                <a:srgbClr val="000000"/>
              </a:solidFill>
              <a:latin typeface="DM Sans"/>
              <a:ea typeface="DM Sans"/>
              <a:cs typeface="DM Sans"/>
              <a:sym typeface="DM Sans"/>
            </a:endParaRPr>
          </a:p>
        </p:txBody>
      </p:sp>
      <p:sp>
        <p:nvSpPr>
          <p:cNvPr id="385" name="Google Shape;385;p77"/>
          <p:cNvSpPr/>
          <p:nvPr/>
        </p:nvSpPr>
        <p:spPr>
          <a:xfrm>
            <a:off x="6343675" y="3399100"/>
            <a:ext cx="1206300" cy="4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s-419" sz="1400" b="0" i="0" u="none" strike="noStrike" cap="none">
                <a:solidFill>
                  <a:srgbClr val="000000"/>
                </a:solidFill>
                <a:latin typeface="DM Sans"/>
                <a:ea typeface="DM Sans"/>
                <a:cs typeface="DM Sans"/>
                <a:sym typeface="DM Sans"/>
              </a:rPr>
              <a:t>Asignatura</a:t>
            </a:r>
            <a:endParaRPr sz="1400" b="0" i="0" u="none" strike="noStrike" cap="none">
              <a:solidFill>
                <a:srgbClr val="000000"/>
              </a:solidFill>
              <a:latin typeface="DM Sans"/>
              <a:ea typeface="DM Sans"/>
              <a:cs typeface="DM Sans"/>
              <a:sym typeface="DM Sans"/>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grpSp>
        <p:nvGrpSpPr>
          <p:cNvPr id="5" name="Google Shape;390;p78"/>
          <p:cNvGrpSpPr/>
          <p:nvPr/>
        </p:nvGrpSpPr>
        <p:grpSpPr>
          <a:xfrm>
            <a:off x="4202556" y="994173"/>
            <a:ext cx="738900" cy="738900"/>
            <a:chOff x="974706" y="2467173"/>
            <a:chExt cx="738900" cy="738900"/>
          </a:xfrm>
        </p:grpSpPr>
        <p:sp>
          <p:nvSpPr>
            <p:cNvPr id="6" name="Google Shape;391;p78"/>
            <p:cNvSpPr/>
            <p:nvPr/>
          </p:nvSpPr>
          <p:spPr>
            <a:xfrm>
              <a:off x="974706" y="2467173"/>
              <a:ext cx="738900" cy="738900"/>
            </a:xfrm>
            <a:prstGeom prst="ellipse">
              <a:avLst/>
            </a:prstGeom>
            <a:solidFill>
              <a:srgbClr val="EA90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7" name="Google Shape;392;p78" title="ícono de actividad en clase"/>
            <p:cNvPicPr preferRelativeResize="0"/>
            <p:nvPr/>
          </p:nvPicPr>
          <p:blipFill rotWithShape="1">
            <a:blip r:embed="rId4">
              <a:alphaModFix/>
            </a:blip>
            <a:srcRect/>
            <a:stretch/>
          </p:blipFill>
          <p:spPr>
            <a:xfrm>
              <a:off x="1109750" y="2610275"/>
              <a:ext cx="452650" cy="452650"/>
            </a:xfrm>
            <a:prstGeom prst="rect">
              <a:avLst/>
            </a:prstGeom>
            <a:noFill/>
            <a:ln>
              <a:noFill/>
            </a:ln>
          </p:spPr>
        </p:pic>
      </p:grpSp>
      <p:sp>
        <p:nvSpPr>
          <p:cNvPr id="8" name="Google Shape;393;p78"/>
          <p:cNvSpPr txBox="1"/>
          <p:nvPr/>
        </p:nvSpPr>
        <p:spPr>
          <a:xfrm>
            <a:off x="1461300" y="1827625"/>
            <a:ext cx="6221400" cy="12930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a:solidFill>
                  <a:schemeClr val="dk1"/>
                </a:solidFill>
                <a:latin typeface="DM Sans"/>
                <a:ea typeface="DM Sans"/>
                <a:cs typeface="DM Sans"/>
                <a:sym typeface="DM Sans"/>
              </a:rPr>
              <a:t>Diagrama de entidad-relación</a:t>
            </a:r>
            <a:endParaRPr sz="4000" b="1" i="0" u="none" strike="noStrike" cap="none" dirty="0">
              <a:solidFill>
                <a:schemeClr val="dk1"/>
              </a:solidFill>
              <a:highlight>
                <a:srgbClr val="EAFF6A"/>
              </a:highlight>
              <a:latin typeface="DM Sans"/>
              <a:ea typeface="DM Sans"/>
              <a:cs typeface="DM Sans"/>
              <a:sym typeface="DM Sans"/>
            </a:endParaRPr>
          </a:p>
        </p:txBody>
      </p:sp>
      <p:sp>
        <p:nvSpPr>
          <p:cNvPr id="9" name="Google Shape;395;p78"/>
          <p:cNvSpPr txBox="1"/>
          <p:nvPr/>
        </p:nvSpPr>
        <p:spPr>
          <a:xfrm>
            <a:off x="987300" y="3176138"/>
            <a:ext cx="7169400" cy="8004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s-419" sz="2000" b="0" i="0" u="none" strike="noStrike" cap="none" dirty="0">
                <a:solidFill>
                  <a:schemeClr val="bg1"/>
                </a:solidFill>
                <a:latin typeface="DM Sans"/>
                <a:ea typeface="DM Sans"/>
                <a:cs typeface="DM Sans"/>
                <a:sym typeface="DM Sans"/>
              </a:rPr>
              <a:t>Diseña un diagrama de entidad-relación basado en algún modelo de negocios específico.</a:t>
            </a:r>
            <a:endParaRPr sz="2000" b="0" i="0" u="none" strike="noStrike" cap="none" dirty="0">
              <a:solidFill>
                <a:schemeClr val="bg1"/>
              </a:solidFill>
              <a:latin typeface="DM Sans"/>
              <a:ea typeface="DM Sans"/>
              <a:cs typeface="DM Sans"/>
              <a:sym typeface="DM Sans"/>
            </a:endParaRPr>
          </a:p>
        </p:txBody>
      </p:sp>
    </p:spTree>
    <p:extLst>
      <p:ext uri="{BB962C8B-B14F-4D97-AF65-F5344CB8AC3E}">
        <p14:creationId xmlns:p14="http://schemas.microsoft.com/office/powerpoint/2010/main" val="154009686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7"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dirty="0">
                <a:solidFill>
                  <a:srgbClr val="E8E7E3"/>
                </a:solidFill>
              </a:rPr>
              <a:t>☕</a:t>
            </a:r>
            <a:endParaRPr sz="5000" dirty="0">
              <a:solidFill>
                <a:srgbClr val="E8E7E3"/>
              </a:solidFill>
            </a:endParaRPr>
          </a:p>
          <a:p>
            <a:pPr marL="0" lvl="0" indent="0" algn="ctr" rtl="0">
              <a:lnSpc>
                <a:spcPct val="90000"/>
              </a:lnSpc>
              <a:spcBef>
                <a:spcPts val="0"/>
              </a:spcBef>
              <a:spcAft>
                <a:spcPts val="0"/>
              </a:spcAft>
              <a:buNone/>
            </a:pPr>
            <a:r>
              <a:rPr lang="es" sz="4000" b="1" dirty="0">
                <a:solidFill>
                  <a:srgbClr val="EAFF6A"/>
                </a:solidFill>
                <a:latin typeface="DM Sans"/>
                <a:ea typeface="DM Sans"/>
                <a:cs typeface="DM Sans"/>
                <a:sym typeface="DM Sans"/>
              </a:rPr>
              <a:t>Break</a:t>
            </a:r>
            <a:endParaRPr sz="4000" b="1" dirty="0">
              <a:solidFill>
                <a:schemeClr val="lt1"/>
              </a:solidFill>
              <a:latin typeface="DM Sans"/>
              <a:ea typeface="DM Sans"/>
              <a:cs typeface="DM Sans"/>
              <a:sym typeface="DM Sans"/>
            </a:endParaRPr>
          </a:p>
        </p:txBody>
      </p:sp>
      <p:sp>
        <p:nvSpPr>
          <p:cNvPr id="8"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dirty="0">
                <a:solidFill>
                  <a:schemeClr val="lt1"/>
                </a:solidFill>
                <a:latin typeface="DM Sans"/>
                <a:ea typeface="DM Sans"/>
                <a:cs typeface="DM Sans"/>
                <a:sym typeface="DM Sans"/>
              </a:rPr>
              <a:t>¡5 minutos y volvemos!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54654550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4" name="Google Shape;412;p80"/>
          <p:cNvSpPr txBox="1"/>
          <p:nvPr/>
        </p:nvSpPr>
        <p:spPr>
          <a:xfrm>
            <a:off x="1461300" y="1925250"/>
            <a:ext cx="62214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90000"/>
              </a:lnSpc>
              <a:spcBef>
                <a:spcPts val="0"/>
              </a:spcBef>
              <a:spcAft>
                <a:spcPts val="0"/>
              </a:spcAft>
              <a:buClr>
                <a:srgbClr val="000000"/>
              </a:buClr>
              <a:buSzPts val="4000"/>
              <a:buFont typeface="Arial"/>
              <a:buNone/>
            </a:pPr>
            <a:r>
              <a:rPr lang="es-419" sz="4000" b="1" i="0" u="none" strike="noStrike" cap="none" dirty="0" err="1">
                <a:solidFill>
                  <a:schemeClr val="dk1"/>
                </a:solidFill>
                <a:latin typeface="DM Sans"/>
                <a:ea typeface="DM Sans"/>
                <a:cs typeface="DM Sans"/>
                <a:sym typeface="DM Sans"/>
              </a:rPr>
              <a:t>MySQL</a:t>
            </a:r>
            <a:endParaRPr sz="4000" b="1" i="0" u="none" strike="noStrike" cap="none" dirty="0">
              <a:solidFill>
                <a:schemeClr val="dk1"/>
              </a:solidFill>
              <a:latin typeface="DM Sans"/>
              <a:ea typeface="DM Sans"/>
              <a:cs typeface="DM Sans"/>
              <a:sym typeface="DM Sans"/>
            </a:endParaRPr>
          </a:p>
        </p:txBody>
      </p:sp>
    </p:spTree>
    <p:extLst>
      <p:ext uri="{BB962C8B-B14F-4D97-AF65-F5344CB8AC3E}">
        <p14:creationId xmlns:p14="http://schemas.microsoft.com/office/powerpoint/2010/main" val="115915173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a:solidFill>
                  <a:schemeClr val="dk1"/>
                </a:solidFill>
                <a:latin typeface="DM Sans"/>
                <a:ea typeface="DM Sans"/>
                <a:cs typeface="DM Sans"/>
                <a:sym typeface="DM Sans"/>
              </a:rPr>
              <a:t>MySQL</a:t>
            </a:r>
            <a:endParaRPr sz="4000" b="1" i="0" u="none" strike="noStrike" cap="none">
              <a:solidFill>
                <a:schemeClr val="dk1"/>
              </a:solidFill>
              <a:latin typeface="DM Sans"/>
              <a:ea typeface="DM Sans"/>
              <a:cs typeface="DM Sans"/>
              <a:sym typeface="DM Sans"/>
            </a:endParaRPr>
          </a:p>
        </p:txBody>
      </p:sp>
      <p:sp>
        <p:nvSpPr>
          <p:cNvPr id="6" name="Google Shape;418;p81"/>
          <p:cNvSpPr txBox="1"/>
          <p:nvPr/>
        </p:nvSpPr>
        <p:spPr>
          <a:xfrm>
            <a:off x="457725" y="2211625"/>
            <a:ext cx="4730100" cy="1639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r>
              <a:rPr lang="es-419" sz="1350" i="0" u="none" strike="noStrike" cap="none" dirty="0">
                <a:solidFill>
                  <a:srgbClr val="000000"/>
                </a:solidFill>
                <a:latin typeface="DM Sans"/>
                <a:ea typeface="DM Sans"/>
                <a:cs typeface="DM Sans"/>
                <a:sym typeface="DM Sans"/>
              </a:rPr>
              <a:t>Es un sistema de gestión de Base de datos Relacional.</a:t>
            </a:r>
            <a:endParaRPr sz="1350" i="0" u="none" strike="noStrike" cap="none" dirty="0">
              <a:solidFill>
                <a:srgbClr val="000000"/>
              </a:solidFill>
              <a:latin typeface="DM Sans"/>
              <a:ea typeface="DM Sans"/>
              <a:cs typeface="DM Sans"/>
              <a:sym typeface="DM Sans"/>
            </a:endParaRPr>
          </a:p>
          <a:p>
            <a:pPr marL="0" marR="0" lvl="0" indent="0" algn="l" rtl="0">
              <a:lnSpc>
                <a:spcPct val="100000"/>
              </a:lnSpc>
              <a:spcBef>
                <a:spcPts val="0"/>
              </a:spcBef>
              <a:spcAft>
                <a:spcPts val="0"/>
              </a:spcAft>
              <a:buClr>
                <a:schemeClr val="dk1"/>
              </a:buClr>
              <a:buSzPts val="2100"/>
              <a:buFont typeface="Arial"/>
              <a:buNone/>
            </a:pPr>
            <a:endParaRPr sz="1350" i="0" u="none" strike="noStrike" cap="none" dirty="0">
              <a:solidFill>
                <a:srgbClr val="000000"/>
              </a:solidFill>
              <a:latin typeface="DM Sans"/>
              <a:ea typeface="DM Sans"/>
              <a:cs typeface="DM Sans"/>
              <a:sym typeface="DM Sans"/>
            </a:endParaRPr>
          </a:p>
          <a:p>
            <a:pPr marL="0" marR="0" lvl="0" indent="0" algn="l" rtl="0">
              <a:lnSpc>
                <a:spcPct val="100000"/>
              </a:lnSpc>
              <a:spcBef>
                <a:spcPts val="0"/>
              </a:spcBef>
              <a:spcAft>
                <a:spcPts val="0"/>
              </a:spcAft>
              <a:buClr>
                <a:schemeClr val="dk1"/>
              </a:buClr>
              <a:buSzPts val="2100"/>
              <a:buFont typeface="Arial"/>
              <a:buNone/>
            </a:pPr>
            <a:r>
              <a:rPr lang="es-419" sz="1350" i="0" u="none" strike="noStrike" cap="none" dirty="0">
                <a:solidFill>
                  <a:srgbClr val="000000"/>
                </a:solidFill>
                <a:latin typeface="DM Sans"/>
                <a:ea typeface="DM Sans"/>
                <a:cs typeface="DM Sans"/>
                <a:sym typeface="DM Sans"/>
              </a:rPr>
              <a:t>ORACLE es su dueño actual, pero mantiene una licencia dual, que le permite tener una opción bajo el estándar open </a:t>
            </a:r>
            <a:r>
              <a:rPr lang="es-419" sz="1350" i="0" u="none" strike="noStrike" cap="none" dirty="0" err="1">
                <a:solidFill>
                  <a:srgbClr val="000000"/>
                </a:solidFill>
                <a:latin typeface="DM Sans"/>
                <a:ea typeface="DM Sans"/>
                <a:cs typeface="DM Sans"/>
                <a:sym typeface="DM Sans"/>
              </a:rPr>
              <a:t>source</a:t>
            </a:r>
            <a:r>
              <a:rPr lang="es-419" sz="1350" i="0" u="none" strike="noStrike" cap="none" dirty="0">
                <a:solidFill>
                  <a:srgbClr val="000000"/>
                </a:solidFill>
                <a:latin typeface="DM Sans"/>
                <a:ea typeface="DM Sans"/>
                <a:cs typeface="DM Sans"/>
                <a:sym typeface="DM Sans"/>
              </a:rPr>
              <a:t> (código abierto).</a:t>
            </a:r>
            <a:endParaRPr sz="1350" i="0" u="none" strike="noStrike" cap="none" dirty="0">
              <a:solidFill>
                <a:srgbClr val="000000"/>
              </a:solidFill>
              <a:latin typeface="DM Sans"/>
              <a:ea typeface="DM Sans"/>
              <a:cs typeface="DM Sans"/>
              <a:sym typeface="DM Sans"/>
            </a:endParaRPr>
          </a:p>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https://dev.mysql.com/downloads/workbench/ </a:t>
            </a:r>
            <a:endParaRPr sz="1350" b="0" i="0" u="sng" strike="noStrike" cap="none" dirty="0">
              <a:solidFill>
                <a:schemeClr val="accent5"/>
              </a:solidFill>
              <a:latin typeface="DM Sans"/>
              <a:ea typeface="DM Sans"/>
              <a:cs typeface="DM Sans"/>
              <a:sym typeface="DM Sans"/>
            </a:endParaRPr>
          </a:p>
        </p:txBody>
      </p:sp>
      <p:pic>
        <p:nvPicPr>
          <p:cNvPr id="8" name="Google Shape;419;p81"/>
          <p:cNvPicPr preferRelativeResize="0"/>
          <p:nvPr/>
        </p:nvPicPr>
        <p:blipFill rotWithShape="1">
          <a:blip r:embed="rId4">
            <a:alphaModFix/>
          </a:blip>
          <a:srcRect l="9018" r="6221"/>
          <a:stretch/>
        </p:blipFill>
        <p:spPr>
          <a:xfrm>
            <a:off x="5712875" y="1615649"/>
            <a:ext cx="2923973" cy="1707687"/>
          </a:xfrm>
          <a:prstGeom prst="rect">
            <a:avLst/>
          </a:prstGeom>
          <a:noFill/>
          <a:ln>
            <a:noFill/>
          </a:ln>
        </p:spPr>
      </p:pic>
    </p:spTree>
    <p:extLst>
      <p:ext uri="{BB962C8B-B14F-4D97-AF65-F5344CB8AC3E}">
        <p14:creationId xmlns:p14="http://schemas.microsoft.com/office/powerpoint/2010/main" val="38427975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a:solidFill>
                  <a:schemeClr val="dk1"/>
                </a:solidFill>
                <a:latin typeface="DM Sans"/>
                <a:ea typeface="DM Sans"/>
                <a:cs typeface="DM Sans"/>
                <a:sym typeface="DM Sans"/>
              </a:rPr>
              <a:t>MySQL</a:t>
            </a:r>
            <a:endParaRPr sz="4000" b="1" i="0" u="none" strike="noStrike" cap="none">
              <a:solidFill>
                <a:schemeClr val="dk1"/>
              </a:solidFill>
              <a:latin typeface="DM Sans"/>
              <a:ea typeface="DM Sans"/>
              <a:cs typeface="DM Sans"/>
              <a:sym typeface="DM Sans"/>
            </a:endParaRPr>
          </a:p>
        </p:txBody>
      </p:sp>
      <p:sp>
        <p:nvSpPr>
          <p:cNvPr id="7" name="Google Shape;425;p82"/>
          <p:cNvSpPr txBox="1"/>
          <p:nvPr/>
        </p:nvSpPr>
        <p:spPr>
          <a:xfrm>
            <a:off x="260697" y="2072667"/>
            <a:ext cx="8628121" cy="210823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1000"/>
              </a:spcBef>
              <a:spcAft>
                <a:spcPts val="0"/>
              </a:spcAft>
              <a:buClr>
                <a:srgbClr val="000000"/>
              </a:buClr>
              <a:buSzPts val="2500"/>
              <a:buFont typeface="Arial"/>
              <a:buNone/>
            </a:pPr>
            <a:r>
              <a:rPr lang="es-419" sz="2500" dirty="0">
                <a:solidFill>
                  <a:schemeClr val="bg1"/>
                </a:solidFill>
                <a:latin typeface="DM Sans"/>
                <a:ea typeface="DM Sans"/>
                <a:cs typeface="DM Sans"/>
                <a:sym typeface="DM Sans"/>
              </a:rPr>
              <a:t>Observaremos el paso a paso para </a:t>
            </a:r>
            <a:r>
              <a:rPr lang="es-419" sz="2500" dirty="0" err="1">
                <a:solidFill>
                  <a:schemeClr val="bg1"/>
                </a:solidFill>
                <a:latin typeface="DM Sans"/>
                <a:ea typeface="DM Sans"/>
                <a:cs typeface="DM Sans"/>
                <a:sym typeface="DM Sans"/>
              </a:rPr>
              <a:t>instalarMySQL</a:t>
            </a:r>
            <a:r>
              <a:rPr lang="es-419" sz="2500" dirty="0">
                <a:solidFill>
                  <a:schemeClr val="bg1"/>
                </a:solidFill>
                <a:latin typeface="DM Sans"/>
                <a:ea typeface="DM Sans"/>
                <a:cs typeface="DM Sans"/>
                <a:sym typeface="DM Sans"/>
              </a:rPr>
              <a:t> </a:t>
            </a:r>
            <a:r>
              <a:rPr lang="es-419" sz="2500" dirty="0" err="1">
                <a:solidFill>
                  <a:schemeClr val="bg1"/>
                </a:solidFill>
                <a:latin typeface="DM Sans"/>
                <a:ea typeface="DM Sans"/>
                <a:cs typeface="DM Sans"/>
                <a:sym typeface="DM Sans"/>
              </a:rPr>
              <a:t>workbench</a:t>
            </a:r>
            <a:r>
              <a:rPr lang="es-419" sz="2500" dirty="0">
                <a:solidFill>
                  <a:schemeClr val="bg1"/>
                </a:solidFill>
                <a:latin typeface="DM Sans"/>
                <a:ea typeface="DM Sans"/>
                <a:cs typeface="DM Sans"/>
                <a:sym typeface="DM Sans"/>
              </a:rPr>
              <a:t>.</a:t>
            </a:r>
            <a:endParaRPr sz="2500" dirty="0">
              <a:solidFill>
                <a:schemeClr val="bg1"/>
              </a:solidFill>
              <a:latin typeface="DM Sans"/>
              <a:ea typeface="DM Sans"/>
              <a:cs typeface="DM Sans"/>
              <a:sym typeface="DM Sans"/>
            </a:endParaRPr>
          </a:p>
          <a:p>
            <a:pPr marL="0" marR="0" lvl="0" indent="0" algn="l" rtl="0">
              <a:lnSpc>
                <a:spcPct val="100000"/>
              </a:lnSpc>
              <a:spcBef>
                <a:spcPts val="1000"/>
              </a:spcBef>
              <a:spcAft>
                <a:spcPts val="0"/>
              </a:spcAft>
              <a:buClr>
                <a:srgbClr val="000000"/>
              </a:buClr>
              <a:buSzPts val="2500"/>
              <a:buFont typeface="Arial"/>
              <a:buNone/>
            </a:pPr>
            <a:r>
              <a:rPr lang="es-419" sz="2500" dirty="0">
                <a:solidFill>
                  <a:srgbClr val="B7B7B7"/>
                </a:solidFill>
                <a:latin typeface="DM Sans"/>
                <a:ea typeface="DM Sans"/>
                <a:cs typeface="DM Sans"/>
                <a:sym typeface="DM Sans"/>
              </a:rPr>
              <a:t> </a:t>
            </a:r>
            <a:endParaRPr sz="3500" b="1" dirty="0">
              <a:solidFill>
                <a:schemeClr val="accent6"/>
              </a:solidFill>
              <a:latin typeface="DM Sans"/>
              <a:ea typeface="DM Sans"/>
              <a:cs typeface="DM Sans"/>
              <a:sym typeface="DM Sans"/>
            </a:endParaRPr>
          </a:p>
          <a:p>
            <a:pPr marL="0" marR="0" lvl="0" indent="0" algn="l" rtl="0">
              <a:lnSpc>
                <a:spcPct val="100000"/>
              </a:lnSpc>
              <a:spcBef>
                <a:spcPts val="1000"/>
              </a:spcBef>
              <a:spcAft>
                <a:spcPts val="0"/>
              </a:spcAft>
              <a:buClr>
                <a:srgbClr val="000000"/>
              </a:buClr>
              <a:buSzPts val="2500"/>
              <a:buFont typeface="Arial"/>
              <a:buNone/>
            </a:pPr>
            <a:endParaRPr sz="2500" dirty="0">
              <a:solidFill>
                <a:srgbClr val="B7B7B7"/>
              </a:solidFill>
              <a:latin typeface="DM Sans"/>
              <a:ea typeface="DM Sans"/>
              <a:cs typeface="DM Sans"/>
              <a:sym typeface="DM Sans"/>
            </a:endParaRPr>
          </a:p>
        </p:txBody>
      </p:sp>
      <p:sp>
        <p:nvSpPr>
          <p:cNvPr id="9" name="Google Shape;429;p82"/>
          <p:cNvSpPr txBox="1"/>
          <p:nvPr/>
        </p:nvSpPr>
        <p:spPr>
          <a:xfrm>
            <a:off x="302453" y="3560667"/>
            <a:ext cx="50763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2000" dirty="0">
                <a:solidFill>
                  <a:schemeClr val="tx1"/>
                </a:solidFill>
                <a:latin typeface="DM Sans"/>
                <a:ea typeface="DM Sans"/>
                <a:cs typeface="DM Sans"/>
                <a:sym typeface="DM Sans"/>
              </a:rPr>
              <a:t>Duración: 15/20  minutos</a:t>
            </a:r>
            <a:endParaRPr sz="2000" dirty="0">
              <a:solidFill>
                <a:schemeClr val="tx1"/>
              </a:solidFill>
              <a:latin typeface="DM Sans"/>
              <a:ea typeface="DM Sans"/>
              <a:cs typeface="DM Sans"/>
              <a:sym typeface="DM Sans"/>
            </a:endParaRPr>
          </a:p>
        </p:txBody>
      </p:sp>
    </p:spTree>
    <p:extLst>
      <p:ext uri="{BB962C8B-B14F-4D97-AF65-F5344CB8AC3E}">
        <p14:creationId xmlns:p14="http://schemas.microsoft.com/office/powerpoint/2010/main" val="108630108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5337019"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MySQL-Instalacion</a:t>
            </a:r>
            <a:endParaRPr sz="4000" b="1" i="0" u="none" strike="noStrike" cap="none" dirty="0">
              <a:solidFill>
                <a:schemeClr val="dk1"/>
              </a:solidFill>
              <a:latin typeface="DM Sans"/>
              <a:ea typeface="DM Sans"/>
              <a:cs typeface="DM Sans"/>
              <a:sym typeface="DM Sans"/>
            </a:endParaRPr>
          </a:p>
        </p:txBody>
      </p:sp>
      <p:pic>
        <p:nvPicPr>
          <p:cNvPr id="3" name="Imagen 2"/>
          <p:cNvPicPr>
            <a:picLocks noChangeAspect="1"/>
          </p:cNvPicPr>
          <p:nvPr/>
        </p:nvPicPr>
        <p:blipFill>
          <a:blip r:embed="rId4"/>
          <a:stretch>
            <a:fillRect/>
          </a:stretch>
        </p:blipFill>
        <p:spPr>
          <a:xfrm>
            <a:off x="1650419" y="1386544"/>
            <a:ext cx="5741899" cy="2596600"/>
          </a:xfrm>
          <a:prstGeom prst="rect">
            <a:avLst/>
          </a:prstGeom>
        </p:spPr>
      </p:pic>
    </p:spTree>
    <p:extLst>
      <p:ext uri="{BB962C8B-B14F-4D97-AF65-F5344CB8AC3E}">
        <p14:creationId xmlns:p14="http://schemas.microsoft.com/office/powerpoint/2010/main" val="89391365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5337019"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MySQL-Instalacion</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787037"/>
            <a:ext cx="4730100"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https://dev.mysql.com/downloads/workbench/ </a:t>
            </a:r>
            <a:endParaRPr sz="1350" b="0" i="0" u="sng" strike="noStrike" cap="none" dirty="0">
              <a:solidFill>
                <a:schemeClr val="accent5"/>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2167028" y="1286443"/>
            <a:ext cx="4487160" cy="2634955"/>
          </a:xfrm>
          <a:prstGeom prst="rect">
            <a:avLst/>
          </a:prstGeom>
        </p:spPr>
      </p:pic>
    </p:spTree>
    <p:extLst>
      <p:ext uri="{BB962C8B-B14F-4D97-AF65-F5344CB8AC3E}">
        <p14:creationId xmlns:p14="http://schemas.microsoft.com/office/powerpoint/2010/main" val="144051673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5337019"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smtClean="0">
                <a:solidFill>
                  <a:schemeClr val="dk1"/>
                </a:solidFill>
                <a:latin typeface="DM Sans"/>
                <a:ea typeface="DM Sans"/>
                <a:cs typeface="DM Sans"/>
                <a:sym typeface="DM Sans"/>
              </a:rPr>
              <a:t>No </a:t>
            </a:r>
            <a:r>
              <a:rPr lang="es-419" sz="4000" b="1" i="0" u="none" strike="noStrike" cap="none" dirty="0" err="1" smtClean="0">
                <a:solidFill>
                  <a:schemeClr val="dk1"/>
                </a:solidFill>
                <a:latin typeface="DM Sans"/>
                <a:ea typeface="DM Sans"/>
                <a:cs typeface="DM Sans"/>
                <a:sym typeface="DM Sans"/>
              </a:rPr>
              <a:t>Thanks</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787037"/>
            <a:ext cx="4730100"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https://dev.mysql.com/downloads/workbench/ </a:t>
            </a:r>
            <a:endParaRPr sz="1350" b="0" i="0" u="sng" strike="noStrike" cap="none" dirty="0">
              <a:solidFill>
                <a:schemeClr val="accent5"/>
              </a:solidFill>
              <a:latin typeface="DM Sans"/>
              <a:ea typeface="DM Sans"/>
              <a:cs typeface="DM Sans"/>
              <a:sym typeface="DM Sans"/>
            </a:endParaRPr>
          </a:p>
        </p:txBody>
      </p:sp>
      <p:pic>
        <p:nvPicPr>
          <p:cNvPr id="3" name="Imagen 2"/>
          <p:cNvPicPr>
            <a:picLocks noChangeAspect="1"/>
          </p:cNvPicPr>
          <p:nvPr/>
        </p:nvPicPr>
        <p:blipFill>
          <a:blip r:embed="rId4"/>
          <a:stretch>
            <a:fillRect/>
          </a:stretch>
        </p:blipFill>
        <p:spPr>
          <a:xfrm>
            <a:off x="4133016" y="621642"/>
            <a:ext cx="4290869" cy="3165395"/>
          </a:xfrm>
          <a:prstGeom prst="rect">
            <a:avLst/>
          </a:prstGeom>
        </p:spPr>
      </p:pic>
    </p:spTree>
    <p:extLst>
      <p:ext uri="{BB962C8B-B14F-4D97-AF65-F5344CB8AC3E}">
        <p14:creationId xmlns:p14="http://schemas.microsoft.com/office/powerpoint/2010/main" val="270350838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a:t>
            </a:r>
            <a:r>
              <a:rPr lang="es-419" sz="4000" b="1" i="0" u="none" strike="noStrike" cap="none" dirty="0" smtClean="0">
                <a:solidFill>
                  <a:schemeClr val="dk1"/>
                </a:solidFill>
                <a:latin typeface="DM Sans"/>
                <a:ea typeface="DM Sans"/>
                <a:cs typeface="DM Sans"/>
                <a:sym typeface="DM Sans"/>
              </a:rPr>
              <a:t>-</a:t>
            </a:r>
            <a:r>
              <a:rPr lang="es-419" sz="4000" b="1" i="0" u="none" strike="noStrike" cap="none" dirty="0" err="1" smtClean="0">
                <a:solidFill>
                  <a:schemeClr val="dk1"/>
                </a:solidFill>
                <a:latin typeface="DM Sans"/>
                <a:ea typeface="DM Sans"/>
                <a:cs typeface="DM Sans"/>
                <a:sym typeface="DM Sans"/>
              </a:rPr>
              <a:t>Instalacion</a:t>
            </a:r>
            <a:r>
              <a:rPr lang="es-419" sz="4000" b="1" dirty="0" smtClean="0">
                <a:solidFill>
                  <a:schemeClr val="dk1"/>
                </a:solidFill>
                <a:latin typeface="DM Sans"/>
                <a:ea typeface="DM Sans"/>
                <a:cs typeface="DM Sans"/>
                <a:sym typeface="DM Sans"/>
              </a:rPr>
              <a:t>-error</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787037"/>
            <a:ext cx="8203594"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https://learn.microsoft.com/en-us/cpp/windows/latest-supported-vc-redist?view=msvc-170/ </a:t>
            </a:r>
            <a:endParaRPr sz="1350" b="0" i="0" u="sng" strike="noStrike" cap="none" dirty="0">
              <a:solidFill>
                <a:schemeClr val="accent5"/>
              </a:solidFill>
              <a:latin typeface="DM Sans"/>
              <a:ea typeface="DM Sans"/>
              <a:cs typeface="DM Sans"/>
              <a:sym typeface="DM Sans"/>
            </a:endParaRPr>
          </a:p>
        </p:txBody>
      </p:sp>
      <p:pic>
        <p:nvPicPr>
          <p:cNvPr id="3" name="Imagen 2"/>
          <p:cNvPicPr>
            <a:picLocks noChangeAspect="1"/>
          </p:cNvPicPr>
          <p:nvPr/>
        </p:nvPicPr>
        <p:blipFill>
          <a:blip r:embed="rId4"/>
          <a:stretch>
            <a:fillRect/>
          </a:stretch>
        </p:blipFill>
        <p:spPr>
          <a:xfrm>
            <a:off x="711112" y="1697118"/>
            <a:ext cx="3334215" cy="1543265"/>
          </a:xfrm>
          <a:prstGeom prst="rect">
            <a:avLst/>
          </a:prstGeom>
        </p:spPr>
      </p:pic>
      <p:pic>
        <p:nvPicPr>
          <p:cNvPr id="4" name="Imagen 3"/>
          <p:cNvPicPr>
            <a:picLocks noChangeAspect="1"/>
          </p:cNvPicPr>
          <p:nvPr/>
        </p:nvPicPr>
        <p:blipFill>
          <a:blip r:embed="rId5"/>
          <a:stretch>
            <a:fillRect/>
          </a:stretch>
        </p:blipFill>
        <p:spPr>
          <a:xfrm>
            <a:off x="4292557" y="1150464"/>
            <a:ext cx="4128430" cy="2762450"/>
          </a:xfrm>
          <a:prstGeom prst="rect">
            <a:avLst/>
          </a:prstGeom>
        </p:spPr>
      </p:pic>
    </p:spTree>
    <p:extLst>
      <p:ext uri="{BB962C8B-B14F-4D97-AF65-F5344CB8AC3E}">
        <p14:creationId xmlns:p14="http://schemas.microsoft.com/office/powerpoint/2010/main" val="297969941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a:t>
            </a:r>
            <a:r>
              <a:rPr lang="es-419" sz="4000" b="1" i="0" u="none" strike="noStrike" cap="none" dirty="0" smtClean="0">
                <a:solidFill>
                  <a:schemeClr val="dk1"/>
                </a:solidFill>
                <a:latin typeface="DM Sans"/>
                <a:ea typeface="DM Sans"/>
                <a:cs typeface="DM Sans"/>
                <a:sym typeface="DM Sans"/>
              </a:rPr>
              <a:t>-</a:t>
            </a:r>
            <a:r>
              <a:rPr lang="es-419" sz="4000" b="1" i="0" u="none" strike="noStrike" cap="none" dirty="0" err="1" smtClean="0">
                <a:solidFill>
                  <a:schemeClr val="dk1"/>
                </a:solidFill>
                <a:latin typeface="DM Sans"/>
                <a:ea typeface="DM Sans"/>
                <a:cs typeface="DM Sans"/>
                <a:sym typeface="DM Sans"/>
              </a:rPr>
              <a:t>Instalacion</a:t>
            </a:r>
            <a:r>
              <a:rPr lang="es-419" sz="4000" b="1" dirty="0" smtClean="0">
                <a:solidFill>
                  <a:schemeClr val="dk1"/>
                </a:solidFill>
                <a:latin typeface="DM Sans"/>
                <a:ea typeface="DM Sans"/>
                <a:cs typeface="DM Sans"/>
                <a:sym typeface="DM Sans"/>
              </a:rPr>
              <a:t>-error</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787037"/>
            <a:ext cx="8203594"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https://learn.microsoft.com/en-us/cpp/windows/latest-supported-vc-redist?view=msvc-170/ </a:t>
            </a:r>
            <a:endParaRPr sz="1350" b="0" i="0" u="sng" strike="noStrike" cap="none" dirty="0">
              <a:solidFill>
                <a:schemeClr val="accent5"/>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302453" y="1264594"/>
            <a:ext cx="4344006" cy="2648320"/>
          </a:xfrm>
          <a:prstGeom prst="rect">
            <a:avLst/>
          </a:prstGeom>
        </p:spPr>
      </p:pic>
      <p:pic>
        <p:nvPicPr>
          <p:cNvPr id="3" name="Imagen 2"/>
          <p:cNvPicPr>
            <a:picLocks noChangeAspect="1"/>
          </p:cNvPicPr>
          <p:nvPr/>
        </p:nvPicPr>
        <p:blipFill>
          <a:blip r:embed="rId5"/>
          <a:stretch>
            <a:fillRect/>
          </a:stretch>
        </p:blipFill>
        <p:spPr>
          <a:xfrm>
            <a:off x="5016411" y="1121590"/>
            <a:ext cx="3704444" cy="2808451"/>
          </a:xfrm>
          <a:prstGeom prst="rect">
            <a:avLst/>
          </a:prstGeom>
        </p:spPr>
      </p:pic>
    </p:spTree>
    <p:extLst>
      <p:ext uri="{BB962C8B-B14F-4D97-AF65-F5344CB8AC3E}">
        <p14:creationId xmlns:p14="http://schemas.microsoft.com/office/powerpoint/2010/main" val="184218676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MySQL-Instalacion</a:t>
            </a:r>
            <a:endParaRPr sz="4000" b="1" i="0" u="none" strike="noStrike" cap="none" dirty="0">
              <a:solidFill>
                <a:schemeClr val="dk1"/>
              </a:solidFill>
              <a:latin typeface="DM Sans"/>
              <a:ea typeface="DM Sans"/>
              <a:cs typeface="DM Sans"/>
              <a:sym typeface="DM Sans"/>
            </a:endParaRPr>
          </a:p>
        </p:txBody>
      </p:sp>
      <p:pic>
        <p:nvPicPr>
          <p:cNvPr id="4" name="Imagen 3"/>
          <p:cNvPicPr>
            <a:picLocks noChangeAspect="1"/>
          </p:cNvPicPr>
          <p:nvPr/>
        </p:nvPicPr>
        <p:blipFill>
          <a:blip r:embed="rId4"/>
          <a:stretch>
            <a:fillRect/>
          </a:stretch>
        </p:blipFill>
        <p:spPr>
          <a:xfrm>
            <a:off x="780283" y="1318437"/>
            <a:ext cx="3653494" cy="2814987"/>
          </a:xfrm>
          <a:prstGeom prst="rect">
            <a:avLst/>
          </a:prstGeom>
        </p:spPr>
      </p:pic>
      <p:pic>
        <p:nvPicPr>
          <p:cNvPr id="7" name="Imagen 6"/>
          <p:cNvPicPr>
            <a:picLocks noChangeAspect="1"/>
          </p:cNvPicPr>
          <p:nvPr/>
        </p:nvPicPr>
        <p:blipFill>
          <a:blip r:embed="rId5"/>
          <a:stretch>
            <a:fillRect/>
          </a:stretch>
        </p:blipFill>
        <p:spPr>
          <a:xfrm>
            <a:off x="5044267" y="1318437"/>
            <a:ext cx="3648731" cy="2787122"/>
          </a:xfrm>
          <a:prstGeom prst="rect">
            <a:avLst/>
          </a:prstGeom>
        </p:spPr>
      </p:pic>
    </p:spTree>
    <p:extLst>
      <p:ext uri="{BB962C8B-B14F-4D97-AF65-F5344CB8AC3E}">
        <p14:creationId xmlns:p14="http://schemas.microsoft.com/office/powerpoint/2010/main" val="326532450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MySQL-Instalacion</a:t>
            </a:r>
            <a:endParaRPr sz="4000" b="1" i="0" u="none" strike="noStrike" cap="none" dirty="0">
              <a:solidFill>
                <a:schemeClr val="dk1"/>
              </a:solidFill>
              <a:latin typeface="DM Sans"/>
              <a:ea typeface="DM Sans"/>
              <a:cs typeface="DM Sans"/>
              <a:sym typeface="DM Sans"/>
            </a:endParaRPr>
          </a:p>
        </p:txBody>
      </p:sp>
      <p:pic>
        <p:nvPicPr>
          <p:cNvPr id="4" name="Imagen 3"/>
          <p:cNvPicPr>
            <a:picLocks noChangeAspect="1"/>
          </p:cNvPicPr>
          <p:nvPr/>
        </p:nvPicPr>
        <p:blipFill>
          <a:blip r:embed="rId4"/>
          <a:stretch>
            <a:fillRect/>
          </a:stretch>
        </p:blipFill>
        <p:spPr>
          <a:xfrm>
            <a:off x="780283" y="1318437"/>
            <a:ext cx="3653494" cy="2814987"/>
          </a:xfrm>
          <a:prstGeom prst="rect">
            <a:avLst/>
          </a:prstGeom>
        </p:spPr>
      </p:pic>
      <p:pic>
        <p:nvPicPr>
          <p:cNvPr id="7" name="Imagen 6"/>
          <p:cNvPicPr>
            <a:picLocks noChangeAspect="1"/>
          </p:cNvPicPr>
          <p:nvPr/>
        </p:nvPicPr>
        <p:blipFill>
          <a:blip r:embed="rId5"/>
          <a:stretch>
            <a:fillRect/>
          </a:stretch>
        </p:blipFill>
        <p:spPr>
          <a:xfrm>
            <a:off x="5044267" y="1318437"/>
            <a:ext cx="3648731" cy="2787122"/>
          </a:xfrm>
          <a:prstGeom prst="rect">
            <a:avLst/>
          </a:prstGeom>
        </p:spPr>
      </p:pic>
    </p:spTree>
    <p:extLst>
      <p:ext uri="{BB962C8B-B14F-4D97-AF65-F5344CB8AC3E}">
        <p14:creationId xmlns:p14="http://schemas.microsoft.com/office/powerpoint/2010/main" val="223253925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a:t>
            </a:r>
            <a:r>
              <a:rPr lang="es-419" sz="4000" b="1" i="0" u="none" strike="noStrike" cap="none" dirty="0" smtClean="0">
                <a:solidFill>
                  <a:schemeClr val="dk1"/>
                </a:solidFill>
                <a:latin typeface="DM Sans"/>
                <a:ea typeface="DM Sans"/>
                <a:cs typeface="DM Sans"/>
                <a:sym typeface="DM Sans"/>
              </a:rPr>
              <a:t> </a:t>
            </a:r>
            <a:r>
              <a:rPr lang="es-419" sz="4000" b="1" i="0" u="none" strike="noStrike" cap="none" dirty="0" err="1" smtClean="0">
                <a:solidFill>
                  <a:schemeClr val="dk1"/>
                </a:solidFill>
                <a:latin typeface="DM Sans"/>
                <a:ea typeface="DM Sans"/>
                <a:cs typeface="DM Sans"/>
                <a:sym typeface="DM Sans"/>
              </a:rPr>
              <a:t>Community</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923016"/>
            <a:ext cx="8203594"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https://dev.mysql.com/downloads/mysql// </a:t>
            </a:r>
            <a:endParaRPr sz="1350" b="0" i="0" u="sng" strike="noStrike" cap="none" dirty="0">
              <a:solidFill>
                <a:schemeClr val="accent5"/>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383077" y="1139485"/>
            <a:ext cx="4316513" cy="2947619"/>
          </a:xfrm>
          <a:prstGeom prst="rect">
            <a:avLst/>
          </a:prstGeom>
        </p:spPr>
      </p:pic>
      <p:pic>
        <p:nvPicPr>
          <p:cNvPr id="3" name="Imagen 2"/>
          <p:cNvPicPr>
            <a:picLocks noChangeAspect="1"/>
          </p:cNvPicPr>
          <p:nvPr/>
        </p:nvPicPr>
        <p:blipFill>
          <a:blip r:embed="rId5"/>
          <a:stretch>
            <a:fillRect/>
          </a:stretch>
        </p:blipFill>
        <p:spPr>
          <a:xfrm>
            <a:off x="5043488" y="1150464"/>
            <a:ext cx="3811538" cy="2947801"/>
          </a:xfrm>
          <a:prstGeom prst="rect">
            <a:avLst/>
          </a:prstGeom>
        </p:spPr>
      </p:pic>
    </p:spTree>
    <p:extLst>
      <p:ext uri="{BB962C8B-B14F-4D97-AF65-F5344CB8AC3E}">
        <p14:creationId xmlns:p14="http://schemas.microsoft.com/office/powerpoint/2010/main" val="210257604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a:t>
            </a:r>
            <a:r>
              <a:rPr lang="es-419" sz="4000" b="1" i="0" u="none" strike="noStrike" cap="none" dirty="0" smtClean="0">
                <a:solidFill>
                  <a:schemeClr val="dk1"/>
                </a:solidFill>
                <a:latin typeface="DM Sans"/>
                <a:ea typeface="DM Sans"/>
                <a:cs typeface="DM Sans"/>
                <a:sym typeface="DM Sans"/>
              </a:rPr>
              <a:t> </a:t>
            </a:r>
            <a:r>
              <a:rPr lang="es-419" sz="4000" b="1" i="0" u="none" strike="noStrike" cap="none" dirty="0" err="1" smtClean="0">
                <a:solidFill>
                  <a:schemeClr val="dk1"/>
                </a:solidFill>
                <a:latin typeface="DM Sans"/>
                <a:ea typeface="DM Sans"/>
                <a:cs typeface="DM Sans"/>
                <a:sym typeface="DM Sans"/>
              </a:rPr>
              <a:t>Community</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923016"/>
            <a:ext cx="8203594"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https://dev.mysql.com/downloads/mysql// </a:t>
            </a:r>
            <a:endParaRPr sz="1350" b="0" i="0" u="sng" strike="noStrike" cap="none" dirty="0">
              <a:solidFill>
                <a:schemeClr val="accent5"/>
              </a:solidFill>
              <a:latin typeface="DM Sans"/>
              <a:ea typeface="DM Sans"/>
              <a:cs typeface="DM Sans"/>
              <a:sym typeface="DM Sans"/>
            </a:endParaRPr>
          </a:p>
        </p:txBody>
      </p:sp>
      <p:pic>
        <p:nvPicPr>
          <p:cNvPr id="4" name="Imagen 3"/>
          <p:cNvPicPr>
            <a:picLocks noChangeAspect="1"/>
          </p:cNvPicPr>
          <p:nvPr/>
        </p:nvPicPr>
        <p:blipFill>
          <a:blip r:embed="rId4"/>
          <a:stretch>
            <a:fillRect/>
          </a:stretch>
        </p:blipFill>
        <p:spPr>
          <a:xfrm>
            <a:off x="706491" y="1286579"/>
            <a:ext cx="3769816" cy="2872708"/>
          </a:xfrm>
          <a:prstGeom prst="rect">
            <a:avLst/>
          </a:prstGeom>
        </p:spPr>
      </p:pic>
      <p:pic>
        <p:nvPicPr>
          <p:cNvPr id="7" name="Imagen 6"/>
          <p:cNvPicPr>
            <a:picLocks noChangeAspect="1"/>
          </p:cNvPicPr>
          <p:nvPr/>
        </p:nvPicPr>
        <p:blipFill>
          <a:blip r:embed="rId5"/>
          <a:stretch>
            <a:fillRect/>
          </a:stretch>
        </p:blipFill>
        <p:spPr>
          <a:xfrm>
            <a:off x="4604778" y="1452134"/>
            <a:ext cx="4188348" cy="1563796"/>
          </a:xfrm>
          <a:prstGeom prst="rect">
            <a:avLst/>
          </a:prstGeom>
        </p:spPr>
      </p:pic>
    </p:spTree>
    <p:extLst>
      <p:ext uri="{BB962C8B-B14F-4D97-AF65-F5344CB8AC3E}">
        <p14:creationId xmlns:p14="http://schemas.microsoft.com/office/powerpoint/2010/main" val="94511688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417;p81"/>
          <p:cNvSpPr txBox="1"/>
          <p:nvPr/>
        </p:nvSpPr>
        <p:spPr>
          <a:xfrm>
            <a:off x="302453" y="411831"/>
            <a:ext cx="6566180" cy="738633"/>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4000"/>
              <a:buFont typeface="Arial"/>
              <a:buNone/>
            </a:pPr>
            <a:r>
              <a:rPr lang="es-419" sz="4000" b="1" i="0" u="none" strike="noStrike" cap="none" dirty="0" err="1" smtClean="0">
                <a:solidFill>
                  <a:schemeClr val="dk1"/>
                </a:solidFill>
                <a:latin typeface="DM Sans"/>
                <a:ea typeface="DM Sans"/>
                <a:cs typeface="DM Sans"/>
                <a:sym typeface="DM Sans"/>
              </a:rPr>
              <a:t>MySQL</a:t>
            </a:r>
            <a:r>
              <a:rPr lang="es-419" sz="4000" b="1" i="0" u="none" strike="noStrike" cap="none" dirty="0" smtClean="0">
                <a:solidFill>
                  <a:schemeClr val="dk1"/>
                </a:solidFill>
                <a:latin typeface="DM Sans"/>
                <a:ea typeface="DM Sans"/>
                <a:cs typeface="DM Sans"/>
                <a:sym typeface="DM Sans"/>
              </a:rPr>
              <a:t> </a:t>
            </a:r>
            <a:r>
              <a:rPr lang="es-419" sz="4000" b="1" i="0" u="none" strike="noStrike" cap="none" dirty="0" err="1" smtClean="0">
                <a:solidFill>
                  <a:schemeClr val="dk1"/>
                </a:solidFill>
                <a:latin typeface="DM Sans"/>
                <a:ea typeface="DM Sans"/>
                <a:cs typeface="DM Sans"/>
                <a:sym typeface="DM Sans"/>
              </a:rPr>
              <a:t>Community</a:t>
            </a:r>
            <a:endParaRPr sz="4000" b="1" i="0" u="none" strike="noStrike" cap="none" dirty="0">
              <a:solidFill>
                <a:schemeClr val="dk1"/>
              </a:solidFill>
              <a:latin typeface="DM Sans"/>
              <a:ea typeface="DM Sans"/>
              <a:cs typeface="DM Sans"/>
              <a:sym typeface="DM Sans"/>
            </a:endParaRPr>
          </a:p>
        </p:txBody>
      </p:sp>
      <p:sp>
        <p:nvSpPr>
          <p:cNvPr id="6" name="Google Shape;418;p81"/>
          <p:cNvSpPr txBox="1"/>
          <p:nvPr/>
        </p:nvSpPr>
        <p:spPr>
          <a:xfrm>
            <a:off x="302453" y="3923016"/>
            <a:ext cx="8203594" cy="60013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100"/>
              <a:buFont typeface="Arial"/>
              <a:buNone/>
            </a:pPr>
            <a:endParaRPr sz="1350" b="0" i="0" u="none" strike="noStrike" cap="none" dirty="0">
              <a:solidFill>
                <a:srgbClr val="000000"/>
              </a:solidFill>
              <a:latin typeface="DM Sans"/>
              <a:ea typeface="DM Sans"/>
              <a:cs typeface="DM Sans"/>
              <a:sym typeface="DM Sans"/>
            </a:endParaRPr>
          </a:p>
          <a:p>
            <a:pPr lvl="0">
              <a:buClr>
                <a:schemeClr val="dk1"/>
              </a:buClr>
              <a:buSzPts val="2100"/>
            </a:pPr>
            <a:r>
              <a:rPr lang="es-419" sz="1350" u="sng" dirty="0">
                <a:solidFill>
                  <a:schemeClr val="accent5"/>
                </a:solidFill>
                <a:latin typeface="DM Sans"/>
                <a:ea typeface="DM Sans"/>
                <a:cs typeface="DM Sans"/>
                <a:sym typeface="DM Sans"/>
              </a:rPr>
              <a:t>https://dev.mysql.com/downloads/mysql// </a:t>
            </a:r>
            <a:endParaRPr sz="1350" b="0" i="0" u="sng" strike="noStrike" cap="none" dirty="0">
              <a:solidFill>
                <a:schemeClr val="accent5"/>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2172124" y="1371716"/>
            <a:ext cx="4069188" cy="2851367"/>
          </a:xfrm>
          <a:prstGeom prst="rect">
            <a:avLst/>
          </a:prstGeom>
        </p:spPr>
      </p:pic>
    </p:spTree>
    <p:extLst>
      <p:ext uri="{BB962C8B-B14F-4D97-AF65-F5344CB8AC3E}">
        <p14:creationId xmlns:p14="http://schemas.microsoft.com/office/powerpoint/2010/main" val="314330880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9" name="Google Shape;429;p82"/>
          <p:cNvSpPr txBox="1"/>
          <p:nvPr/>
        </p:nvSpPr>
        <p:spPr>
          <a:xfrm>
            <a:off x="302453" y="3560667"/>
            <a:ext cx="50763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419" sz="2000" dirty="0">
                <a:solidFill>
                  <a:schemeClr val="tx1"/>
                </a:solidFill>
                <a:latin typeface="DM Sans"/>
                <a:ea typeface="DM Sans"/>
                <a:cs typeface="DM Sans"/>
                <a:sym typeface="DM Sans"/>
              </a:rPr>
              <a:t>Duración: </a:t>
            </a:r>
            <a:r>
              <a:rPr lang="es-419" sz="2000" dirty="0" smtClean="0">
                <a:solidFill>
                  <a:schemeClr val="tx1"/>
                </a:solidFill>
                <a:latin typeface="DM Sans"/>
                <a:ea typeface="DM Sans"/>
                <a:cs typeface="DM Sans"/>
                <a:sym typeface="DM Sans"/>
              </a:rPr>
              <a:t>20  </a:t>
            </a:r>
            <a:r>
              <a:rPr lang="es-419" sz="2000" dirty="0">
                <a:solidFill>
                  <a:schemeClr val="tx1"/>
                </a:solidFill>
                <a:latin typeface="DM Sans"/>
                <a:ea typeface="DM Sans"/>
                <a:cs typeface="DM Sans"/>
                <a:sym typeface="DM Sans"/>
              </a:rPr>
              <a:t>minutos</a:t>
            </a:r>
            <a:endParaRPr sz="2000" dirty="0">
              <a:solidFill>
                <a:schemeClr val="tx1"/>
              </a:solidFill>
              <a:latin typeface="DM Sans"/>
              <a:ea typeface="DM Sans"/>
              <a:cs typeface="DM Sans"/>
              <a:sym typeface="DM Sans"/>
            </a:endParaRPr>
          </a:p>
        </p:txBody>
      </p:sp>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i="0" u="none" strike="noStrike" cap="none">
                <a:solidFill>
                  <a:srgbClr val="EAFF6A"/>
                </a:solidFill>
                <a:latin typeface="DM Sans"/>
                <a:ea typeface="DM Sans"/>
                <a:cs typeface="DM Sans"/>
                <a:sym typeface="DM Sans"/>
              </a:rPr>
              <a:t>MySQL workbench</a:t>
            </a:r>
            <a:endParaRPr sz="3500" b="1" i="0" u="none" strike="noStrike" cap="none">
              <a:solidFill>
                <a:srgbClr val="EAFF6A"/>
              </a:solidFill>
              <a:latin typeface="DM Sans"/>
              <a:ea typeface="DM Sans"/>
              <a:cs typeface="DM Sans"/>
              <a:sym typeface="DM Sans"/>
            </a:endParaRPr>
          </a:p>
        </p:txBody>
      </p:sp>
      <p:sp>
        <p:nvSpPr>
          <p:cNvPr id="10" name="Google Shape;435;p83"/>
          <p:cNvSpPr txBox="1"/>
          <p:nvPr/>
        </p:nvSpPr>
        <p:spPr>
          <a:xfrm>
            <a:off x="260697" y="1853741"/>
            <a:ext cx="6806700" cy="1082317"/>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1000"/>
              </a:spcBef>
              <a:spcAft>
                <a:spcPts val="0"/>
              </a:spcAft>
              <a:buClr>
                <a:srgbClr val="000000"/>
              </a:buClr>
              <a:buSzPts val="2500"/>
              <a:buFont typeface="Arial"/>
              <a:buNone/>
            </a:pPr>
            <a:r>
              <a:rPr lang="es-419" sz="2500" b="0" i="0" u="none" strike="noStrike" cap="none" dirty="0">
                <a:solidFill>
                  <a:schemeClr val="bg1"/>
                </a:solidFill>
                <a:latin typeface="DM Sans"/>
                <a:ea typeface="DM Sans"/>
                <a:cs typeface="DM Sans"/>
                <a:sym typeface="DM Sans"/>
              </a:rPr>
              <a:t>Conozcamos este sistema de gestión de base de datos, y sus principales herramientas.</a:t>
            </a:r>
            <a:endParaRPr sz="2500" b="1" i="0" u="none" strike="noStrike" cap="none" dirty="0">
              <a:solidFill>
                <a:schemeClr val="bg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131211863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46103" y="339483"/>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i="0" u="none" strike="noStrike" cap="none" dirty="0" err="1">
                <a:solidFill>
                  <a:srgbClr val="EAFF6A"/>
                </a:solidFill>
                <a:latin typeface="DM Sans"/>
                <a:ea typeface="DM Sans"/>
                <a:cs typeface="DM Sans"/>
                <a:sym typeface="DM Sans"/>
              </a:rPr>
              <a:t>MySQL</a:t>
            </a:r>
            <a:r>
              <a:rPr lang="es-419" sz="3500" b="1" i="0" u="none" strike="noStrike" cap="none" dirty="0">
                <a:solidFill>
                  <a:srgbClr val="EAFF6A"/>
                </a:solidFill>
                <a:latin typeface="DM Sans"/>
                <a:ea typeface="DM Sans"/>
                <a:cs typeface="DM Sans"/>
                <a:sym typeface="DM Sans"/>
              </a:rPr>
              <a:t> </a:t>
            </a:r>
            <a:r>
              <a:rPr lang="es-419" sz="3500" b="1" i="0" u="none" strike="noStrike" cap="none" dirty="0" err="1">
                <a:solidFill>
                  <a:srgbClr val="EAFF6A"/>
                </a:solidFill>
                <a:latin typeface="DM Sans"/>
                <a:ea typeface="DM Sans"/>
                <a:cs typeface="DM Sans"/>
                <a:sym typeface="DM Sans"/>
              </a:rPr>
              <a:t>workbench</a:t>
            </a:r>
            <a:endParaRPr sz="3500" b="1" i="0" u="none" strike="noStrike" cap="none" dirty="0">
              <a:solidFill>
                <a:srgbClr val="EAFF6A"/>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929236" y="1078414"/>
            <a:ext cx="6624492" cy="3444736"/>
          </a:xfrm>
          <a:prstGeom prst="rect">
            <a:avLst/>
          </a:prstGeom>
        </p:spPr>
      </p:pic>
    </p:spTree>
    <p:extLst>
      <p:ext uri="{BB962C8B-B14F-4D97-AF65-F5344CB8AC3E}">
        <p14:creationId xmlns:p14="http://schemas.microsoft.com/office/powerpoint/2010/main" val="27635579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46103" y="339483"/>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i="0" u="none" strike="noStrike" cap="none" dirty="0" err="1">
                <a:solidFill>
                  <a:srgbClr val="EAFF6A"/>
                </a:solidFill>
                <a:latin typeface="DM Sans"/>
                <a:ea typeface="DM Sans"/>
                <a:cs typeface="DM Sans"/>
                <a:sym typeface="DM Sans"/>
              </a:rPr>
              <a:t>MySQL</a:t>
            </a:r>
            <a:r>
              <a:rPr lang="es-419" sz="3500" b="1" i="0" u="none" strike="noStrike" cap="none" dirty="0">
                <a:solidFill>
                  <a:srgbClr val="EAFF6A"/>
                </a:solidFill>
                <a:latin typeface="DM Sans"/>
                <a:ea typeface="DM Sans"/>
                <a:cs typeface="DM Sans"/>
                <a:sym typeface="DM Sans"/>
              </a:rPr>
              <a:t> </a:t>
            </a:r>
            <a:r>
              <a:rPr lang="es-419" sz="3500" b="1" i="0" u="none" strike="noStrike" cap="none" dirty="0" err="1" smtClean="0">
                <a:solidFill>
                  <a:srgbClr val="EAFF6A"/>
                </a:solidFill>
                <a:latin typeface="DM Sans"/>
                <a:ea typeface="DM Sans"/>
                <a:cs typeface="DM Sans"/>
                <a:sym typeface="DM Sans"/>
              </a:rPr>
              <a:t>workbench</a:t>
            </a:r>
            <a:r>
              <a:rPr lang="es-419" sz="3500" b="1" i="0" u="none" strike="noStrike" cap="none" dirty="0" smtClean="0">
                <a:solidFill>
                  <a:srgbClr val="EAFF6A"/>
                </a:solidFill>
                <a:latin typeface="DM Sans"/>
                <a:ea typeface="DM Sans"/>
                <a:cs typeface="DM Sans"/>
                <a:sym typeface="DM Sans"/>
              </a:rPr>
              <a:t> </a:t>
            </a:r>
            <a:r>
              <a:rPr lang="es-419" sz="3500" b="1" i="0" u="none" strike="noStrike" cap="none" dirty="0" err="1" smtClean="0">
                <a:solidFill>
                  <a:srgbClr val="EAFF6A"/>
                </a:solidFill>
                <a:latin typeface="DM Sans"/>
                <a:ea typeface="DM Sans"/>
                <a:cs typeface="DM Sans"/>
                <a:sym typeface="DM Sans"/>
              </a:rPr>
              <a:t>Connection</a:t>
            </a:r>
            <a:endParaRPr sz="3500" b="1" i="0" u="none" strike="noStrike" cap="none" dirty="0">
              <a:solidFill>
                <a:srgbClr val="EAFF6A"/>
              </a:solidFill>
              <a:latin typeface="DM Sans"/>
              <a:ea typeface="DM Sans"/>
              <a:cs typeface="DM Sans"/>
              <a:sym typeface="DM Sans"/>
            </a:endParaRPr>
          </a:p>
        </p:txBody>
      </p:sp>
      <p:pic>
        <p:nvPicPr>
          <p:cNvPr id="3" name="Imagen 2"/>
          <p:cNvPicPr>
            <a:picLocks noChangeAspect="1"/>
          </p:cNvPicPr>
          <p:nvPr/>
        </p:nvPicPr>
        <p:blipFill>
          <a:blip r:embed="rId4"/>
          <a:stretch>
            <a:fillRect/>
          </a:stretch>
        </p:blipFill>
        <p:spPr>
          <a:xfrm>
            <a:off x="853076" y="1009083"/>
            <a:ext cx="5515828" cy="3444751"/>
          </a:xfrm>
          <a:prstGeom prst="rect">
            <a:avLst/>
          </a:prstGeom>
        </p:spPr>
      </p:pic>
      <p:pic>
        <p:nvPicPr>
          <p:cNvPr id="4" name="Imagen 3"/>
          <p:cNvPicPr>
            <a:picLocks noChangeAspect="1"/>
          </p:cNvPicPr>
          <p:nvPr/>
        </p:nvPicPr>
        <p:blipFill>
          <a:blip r:embed="rId5"/>
          <a:stretch>
            <a:fillRect/>
          </a:stretch>
        </p:blipFill>
        <p:spPr>
          <a:xfrm>
            <a:off x="6467101" y="1009083"/>
            <a:ext cx="2676899" cy="924054"/>
          </a:xfrm>
          <a:prstGeom prst="rect">
            <a:avLst/>
          </a:prstGeom>
        </p:spPr>
      </p:pic>
      <p:pic>
        <p:nvPicPr>
          <p:cNvPr id="7" name="Imagen 6"/>
          <p:cNvPicPr>
            <a:picLocks noChangeAspect="1"/>
          </p:cNvPicPr>
          <p:nvPr/>
        </p:nvPicPr>
        <p:blipFill>
          <a:blip r:embed="rId6"/>
          <a:stretch>
            <a:fillRect/>
          </a:stretch>
        </p:blipFill>
        <p:spPr>
          <a:xfrm>
            <a:off x="6368904" y="2444164"/>
            <a:ext cx="2769177" cy="2009670"/>
          </a:xfrm>
          <a:prstGeom prst="rect">
            <a:avLst/>
          </a:prstGeom>
        </p:spPr>
      </p:pic>
    </p:spTree>
    <p:extLst>
      <p:ext uri="{BB962C8B-B14F-4D97-AF65-F5344CB8AC3E}">
        <p14:creationId xmlns:p14="http://schemas.microsoft.com/office/powerpoint/2010/main" val="264548145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i="0" u="none" strike="noStrike" cap="none">
                <a:solidFill>
                  <a:srgbClr val="EAFF6A"/>
                </a:solidFill>
                <a:latin typeface="DM Sans"/>
                <a:ea typeface="DM Sans"/>
                <a:cs typeface="DM Sans"/>
                <a:sym typeface="DM Sans"/>
              </a:rPr>
              <a:t>MySQL workbench</a:t>
            </a:r>
            <a:endParaRPr sz="3500" b="1" i="0" u="none" strike="noStrike" cap="none">
              <a:solidFill>
                <a:srgbClr val="EAFF6A"/>
              </a:solidFill>
              <a:latin typeface="DM Sans"/>
              <a:ea typeface="DM Sans"/>
              <a:cs typeface="DM Sans"/>
              <a:sym typeface="DM Sans"/>
            </a:endParaRPr>
          </a:p>
        </p:txBody>
      </p:sp>
      <p:sp>
        <p:nvSpPr>
          <p:cNvPr id="7" name="Google Shape;446;p84"/>
          <p:cNvSpPr txBox="1"/>
          <p:nvPr/>
        </p:nvSpPr>
        <p:spPr>
          <a:xfrm>
            <a:off x="260697" y="2079698"/>
            <a:ext cx="4987200" cy="1639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Es una herramienta visual que permite crear y gestionar bases de datos de forma gráfica.</a:t>
            </a:r>
            <a:endParaRPr sz="1350" b="0" i="0" u="none" strike="noStrike" cap="none" dirty="0">
              <a:solidFill>
                <a:schemeClr val="bg1"/>
              </a:solidFill>
              <a:latin typeface="DM Sans"/>
              <a:ea typeface="DM Sans"/>
              <a:cs typeface="DM Sans"/>
              <a:sym typeface="DM Sans"/>
            </a:endParaRPr>
          </a:p>
          <a:p>
            <a:pPr marL="0" marR="0" lvl="0" indent="0" algn="l" rtl="0">
              <a:lnSpc>
                <a:spcPct val="100000"/>
              </a:lnSpc>
              <a:spcBef>
                <a:spcPts val="0"/>
              </a:spcBef>
              <a:spcAft>
                <a:spcPts val="0"/>
              </a:spcAft>
              <a:buClr>
                <a:schemeClr val="dk1"/>
              </a:buClr>
              <a:buSzPts val="2100"/>
              <a:buFont typeface="Arial"/>
              <a:buNone/>
            </a:pPr>
            <a:r>
              <a:rPr lang="es-419" sz="1350" b="0" i="0" u="none" strike="noStrike" cap="none" dirty="0">
                <a:solidFill>
                  <a:schemeClr val="bg1"/>
                </a:solidFill>
                <a:latin typeface="DM Sans"/>
                <a:ea typeface="DM Sans"/>
                <a:cs typeface="DM Sans"/>
                <a:sym typeface="DM Sans"/>
              </a:rPr>
              <a:t>Este software integra:</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Helvetica Neue"/>
              <a:buChar char="✓"/>
            </a:pPr>
            <a:r>
              <a:rPr lang="es-419" sz="1350" b="0" i="0" u="none" strike="noStrike" cap="none" dirty="0">
                <a:solidFill>
                  <a:schemeClr val="bg1"/>
                </a:solidFill>
                <a:latin typeface="DM Sans"/>
                <a:ea typeface="DM Sans"/>
                <a:cs typeface="DM Sans"/>
                <a:sym typeface="DM Sans"/>
              </a:rPr>
              <a:t>Diseño de las DB</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Helvetica Neue"/>
              <a:buChar char="✓"/>
            </a:pPr>
            <a:r>
              <a:rPr lang="es-419" sz="1350" b="0" i="0" u="none" strike="noStrike" cap="none" dirty="0">
                <a:solidFill>
                  <a:schemeClr val="bg1"/>
                </a:solidFill>
                <a:latin typeface="DM Sans"/>
                <a:ea typeface="DM Sans"/>
                <a:cs typeface="DM Sans"/>
                <a:sym typeface="DM Sans"/>
              </a:rPr>
              <a:t>Desarrollo de las DB</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Helvetica Neue"/>
              <a:buChar char="✓"/>
            </a:pPr>
            <a:r>
              <a:rPr lang="es-419" sz="1350" b="0" i="0" u="none" strike="noStrike" cap="none" dirty="0">
                <a:solidFill>
                  <a:schemeClr val="bg1"/>
                </a:solidFill>
                <a:latin typeface="DM Sans"/>
                <a:ea typeface="DM Sans"/>
                <a:cs typeface="DM Sans"/>
                <a:sym typeface="DM Sans"/>
              </a:rPr>
              <a:t>Administración de las DB</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Helvetica Neue"/>
              <a:buChar char="✓"/>
            </a:pPr>
            <a:r>
              <a:rPr lang="es-419" sz="1350" b="0" i="0" u="none" strike="noStrike" cap="none" dirty="0">
                <a:solidFill>
                  <a:schemeClr val="bg1"/>
                </a:solidFill>
                <a:latin typeface="DM Sans"/>
                <a:ea typeface="DM Sans"/>
                <a:cs typeface="DM Sans"/>
                <a:sym typeface="DM Sans"/>
              </a:rPr>
              <a:t>Mantenimiento de las DB</a:t>
            </a:r>
            <a:endParaRPr sz="1350" b="0" i="0" u="none" strike="noStrike" cap="none" dirty="0">
              <a:solidFill>
                <a:schemeClr val="bg1"/>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5300364" y="1722473"/>
            <a:ext cx="3706023" cy="2206995"/>
          </a:xfrm>
          <a:prstGeom prst="rect">
            <a:avLst/>
          </a:prstGeom>
        </p:spPr>
      </p:pic>
    </p:spTree>
    <p:extLst>
      <p:ext uri="{BB962C8B-B14F-4D97-AF65-F5344CB8AC3E}">
        <p14:creationId xmlns:p14="http://schemas.microsoft.com/office/powerpoint/2010/main" val="82167634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dirty="0" smtClean="0">
                <a:solidFill>
                  <a:srgbClr val="EAFF6A"/>
                </a:solidFill>
                <a:latin typeface="DM Sans"/>
                <a:ea typeface="DM Sans"/>
                <a:cs typeface="DM Sans"/>
                <a:sym typeface="DM Sans"/>
              </a:rPr>
              <a:t>Panel </a:t>
            </a:r>
            <a:r>
              <a:rPr lang="es-419" sz="3500" b="1" dirty="0" err="1" smtClean="0">
                <a:solidFill>
                  <a:srgbClr val="EAFF6A"/>
                </a:solidFill>
                <a:latin typeface="DM Sans"/>
                <a:ea typeface="DM Sans"/>
                <a:cs typeface="DM Sans"/>
                <a:sym typeface="DM Sans"/>
              </a:rPr>
              <a:t>Schemas</a:t>
            </a:r>
            <a:endParaRPr sz="3500" b="1" i="0" u="none" strike="noStrike" cap="none" dirty="0">
              <a:solidFill>
                <a:srgbClr val="EAFF6A"/>
              </a:solidFill>
              <a:latin typeface="DM Sans"/>
              <a:ea typeface="DM Sans"/>
              <a:cs typeface="DM Sans"/>
              <a:sym typeface="DM Sans"/>
            </a:endParaRPr>
          </a:p>
        </p:txBody>
      </p:sp>
      <p:sp>
        <p:nvSpPr>
          <p:cNvPr id="10" name="Google Shape;454;p85"/>
          <p:cNvSpPr txBox="1"/>
          <p:nvPr/>
        </p:nvSpPr>
        <p:spPr>
          <a:xfrm>
            <a:off x="108859" y="2079698"/>
            <a:ext cx="4987200" cy="1431600"/>
          </a:xfrm>
          <a:prstGeom prst="rect">
            <a:avLst/>
          </a:prstGeom>
          <a:noFill/>
          <a:ln>
            <a:noFill/>
          </a:ln>
        </p:spPr>
        <p:txBody>
          <a:bodyPr spcFirstLastPara="1" wrap="square" lIns="91425" tIns="91425" rIns="91425" bIns="91425" anchor="t" anchorCtr="0">
            <a:spAutoFit/>
          </a:bodyPr>
          <a:lstStyle/>
          <a:p>
            <a:pPr marL="457200" marR="0" lvl="0" indent="-314325" algn="l" rtl="0">
              <a:lnSpc>
                <a:spcPct val="100000"/>
              </a:lnSpc>
              <a:spcBef>
                <a:spcPts val="0"/>
              </a:spcBef>
              <a:spcAft>
                <a:spcPts val="0"/>
              </a:spcAft>
              <a:buClr>
                <a:srgbClr val="EA90FF"/>
              </a:buClr>
              <a:buSzPts val="1350"/>
              <a:buFont typeface="DM Sans"/>
              <a:buChar char="✓"/>
            </a:pPr>
            <a:r>
              <a:rPr lang="es-419" sz="1350" b="0" i="0" u="none" strike="noStrike" cap="none" dirty="0">
                <a:solidFill>
                  <a:schemeClr val="bg1"/>
                </a:solidFill>
                <a:latin typeface="DM Sans"/>
                <a:ea typeface="DM Sans"/>
                <a:cs typeface="DM Sans"/>
                <a:sym typeface="DM Sans"/>
              </a:rPr>
              <a:t>El Panel </a:t>
            </a:r>
            <a:r>
              <a:rPr lang="es-419" sz="1350" b="0" i="0" u="none" strike="noStrike" cap="none" dirty="0" err="1">
                <a:solidFill>
                  <a:schemeClr val="bg1"/>
                </a:solidFill>
                <a:latin typeface="DM Sans"/>
                <a:ea typeface="DM Sans"/>
                <a:cs typeface="DM Sans"/>
                <a:sym typeface="DM Sans"/>
              </a:rPr>
              <a:t>Schemas</a:t>
            </a:r>
            <a:r>
              <a:rPr lang="es-419" sz="1350" b="0" i="0" u="none" strike="noStrike" cap="none" dirty="0">
                <a:solidFill>
                  <a:schemeClr val="bg1"/>
                </a:solidFill>
                <a:latin typeface="DM Sans"/>
                <a:ea typeface="DM Sans"/>
                <a:cs typeface="DM Sans"/>
                <a:sym typeface="DM Sans"/>
              </a:rPr>
              <a:t> nos lista todas las bases de datos que tengamos, junto a sus objetos.</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rgbClr val="EA90FF"/>
              </a:buClr>
              <a:buSzPts val="1350"/>
              <a:buFont typeface="DM Sans"/>
              <a:buChar char="✓"/>
            </a:pPr>
            <a:r>
              <a:rPr lang="es-419" sz="1350" b="0" i="0" u="none" strike="noStrike" cap="none" dirty="0">
                <a:solidFill>
                  <a:schemeClr val="bg1"/>
                </a:solidFill>
                <a:latin typeface="DM Sans"/>
                <a:ea typeface="DM Sans"/>
                <a:cs typeface="DM Sans"/>
                <a:sym typeface="DM Sans"/>
              </a:rPr>
              <a:t>Podemos navegar cada objeto a través del menú de árbol, para ver sus propiedades y acciones.</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rgbClr val="EA90FF"/>
              </a:buClr>
              <a:buSzPts val="1350"/>
              <a:buFont typeface="DM Sans"/>
              <a:buChar char="✓"/>
            </a:pPr>
            <a:r>
              <a:rPr lang="es-419" sz="1350" b="0" i="0" u="none" strike="noStrike" cap="none" dirty="0">
                <a:solidFill>
                  <a:schemeClr val="bg1"/>
                </a:solidFill>
                <a:latin typeface="DM Sans"/>
                <a:ea typeface="DM Sans"/>
                <a:cs typeface="DM Sans"/>
                <a:sym typeface="DM Sans"/>
              </a:rPr>
              <a:t>Al </a:t>
            </a:r>
            <a:r>
              <a:rPr lang="es-419" sz="1350" b="0" i="0" u="none" strike="noStrike" cap="none" dirty="0" err="1">
                <a:solidFill>
                  <a:schemeClr val="bg1"/>
                </a:solidFill>
                <a:latin typeface="DM Sans"/>
                <a:ea typeface="DM Sans"/>
                <a:cs typeface="DM Sans"/>
                <a:sym typeface="DM Sans"/>
              </a:rPr>
              <a:t>pié</a:t>
            </a:r>
            <a:r>
              <a:rPr lang="es-419" sz="1350" b="0" i="0" u="none" strike="noStrike" cap="none" dirty="0">
                <a:solidFill>
                  <a:schemeClr val="bg1"/>
                </a:solidFill>
                <a:latin typeface="DM Sans"/>
                <a:ea typeface="DM Sans"/>
                <a:cs typeface="DM Sans"/>
                <a:sym typeface="DM Sans"/>
              </a:rPr>
              <a:t>, obtenemos información general del elemento seleccionado.</a:t>
            </a:r>
            <a:endParaRPr sz="1350" b="0" i="0" u="none" strike="noStrike" cap="none" dirty="0">
              <a:solidFill>
                <a:schemeClr val="bg1"/>
              </a:solidFill>
              <a:latin typeface="DM Sans"/>
              <a:ea typeface="DM Sans"/>
              <a:cs typeface="DM Sans"/>
              <a:sym typeface="DM Sans"/>
            </a:endParaRPr>
          </a:p>
        </p:txBody>
      </p:sp>
      <p:pic>
        <p:nvPicPr>
          <p:cNvPr id="3" name="Imagen 2"/>
          <p:cNvPicPr>
            <a:picLocks noChangeAspect="1"/>
          </p:cNvPicPr>
          <p:nvPr/>
        </p:nvPicPr>
        <p:blipFill>
          <a:blip r:embed="rId4"/>
          <a:stretch>
            <a:fillRect/>
          </a:stretch>
        </p:blipFill>
        <p:spPr>
          <a:xfrm>
            <a:off x="5640165" y="816416"/>
            <a:ext cx="2648320" cy="3581900"/>
          </a:xfrm>
          <a:prstGeom prst="rect">
            <a:avLst/>
          </a:prstGeom>
        </p:spPr>
      </p:pic>
    </p:spTree>
    <p:extLst>
      <p:ext uri="{BB962C8B-B14F-4D97-AF65-F5344CB8AC3E}">
        <p14:creationId xmlns:p14="http://schemas.microsoft.com/office/powerpoint/2010/main" val="372675624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dirty="0" smtClean="0">
                <a:solidFill>
                  <a:srgbClr val="EAFF6A"/>
                </a:solidFill>
                <a:latin typeface="DM Sans"/>
                <a:ea typeface="DM Sans"/>
                <a:cs typeface="DM Sans"/>
                <a:sym typeface="DM Sans"/>
              </a:rPr>
              <a:t>Barras de herramientas superior</a:t>
            </a:r>
            <a:endParaRPr sz="3500" b="1" i="0" u="none" strike="noStrike" cap="none" dirty="0">
              <a:solidFill>
                <a:srgbClr val="EAFF6A"/>
              </a:solidFill>
              <a:latin typeface="DM Sans"/>
              <a:ea typeface="DM Sans"/>
              <a:cs typeface="DM Sans"/>
              <a:sym typeface="DM Sans"/>
            </a:endParaRPr>
          </a:p>
        </p:txBody>
      </p:sp>
      <p:sp>
        <p:nvSpPr>
          <p:cNvPr id="7" name="Google Shape;461;p86"/>
          <p:cNvSpPr txBox="1"/>
          <p:nvPr/>
        </p:nvSpPr>
        <p:spPr>
          <a:xfrm>
            <a:off x="473350" y="1908175"/>
            <a:ext cx="3834600" cy="1223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Incluye botones para iniciar cualquiera de las principales tareas tales como crear una base de datos, abrir una ventana de script, crear una tabla, una función, un </a:t>
            </a:r>
            <a:r>
              <a:rPr lang="es-419" sz="1350" b="0" i="0" u="none" strike="noStrike" cap="none" dirty="0" err="1">
                <a:solidFill>
                  <a:schemeClr val="bg1"/>
                </a:solidFill>
                <a:latin typeface="DM Sans"/>
                <a:ea typeface="DM Sans"/>
                <a:cs typeface="DM Sans"/>
                <a:sym typeface="DM Sans"/>
              </a:rPr>
              <a:t>stored</a:t>
            </a:r>
            <a:r>
              <a:rPr lang="es-419" sz="1350" b="0" i="0" u="none" strike="noStrike" cap="none" dirty="0">
                <a:solidFill>
                  <a:schemeClr val="bg1"/>
                </a:solidFill>
                <a:latin typeface="DM Sans"/>
                <a:ea typeface="DM Sans"/>
                <a:cs typeface="DM Sans"/>
                <a:sym typeface="DM Sans"/>
              </a:rPr>
              <a:t> </a:t>
            </a:r>
            <a:r>
              <a:rPr lang="es-419" sz="1350" b="0" i="0" u="none" strike="noStrike" cap="none" dirty="0" err="1">
                <a:solidFill>
                  <a:schemeClr val="bg1"/>
                </a:solidFill>
                <a:latin typeface="DM Sans"/>
                <a:ea typeface="DM Sans"/>
                <a:cs typeface="DM Sans"/>
                <a:sym typeface="DM Sans"/>
              </a:rPr>
              <a:t>procedures</a:t>
            </a:r>
            <a:r>
              <a:rPr lang="es-419" sz="1350" b="0" i="0" u="none" strike="noStrike" cap="none" dirty="0">
                <a:solidFill>
                  <a:schemeClr val="bg1"/>
                </a:solidFill>
                <a:latin typeface="DM Sans"/>
                <a:ea typeface="DM Sans"/>
                <a:cs typeface="DM Sans"/>
                <a:sym typeface="DM Sans"/>
              </a:rPr>
              <a:t> y otras opciones más.</a:t>
            </a:r>
            <a:endParaRPr sz="1350" b="0" i="0" u="none" strike="noStrike" cap="none" dirty="0">
              <a:solidFill>
                <a:schemeClr val="bg1"/>
              </a:solidFill>
              <a:latin typeface="DM Sans"/>
              <a:ea typeface="DM Sans"/>
              <a:cs typeface="DM Sans"/>
              <a:sym typeface="DM Sans"/>
            </a:endParaRPr>
          </a:p>
        </p:txBody>
      </p:sp>
      <p:sp>
        <p:nvSpPr>
          <p:cNvPr id="8" name="Google Shape;462;p86"/>
          <p:cNvSpPr txBox="1"/>
          <p:nvPr/>
        </p:nvSpPr>
        <p:spPr>
          <a:xfrm>
            <a:off x="4527575" y="1908175"/>
            <a:ext cx="3834600" cy="600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Al pie se encuentran las pestañas de acción para navegar entre los objetos en uso.</a:t>
            </a:r>
            <a:endParaRPr sz="1350" b="0" i="0" u="none" strike="noStrike" cap="none" dirty="0">
              <a:solidFill>
                <a:schemeClr val="bg1"/>
              </a:solidFill>
              <a:latin typeface="DM Sans"/>
              <a:ea typeface="DM Sans"/>
              <a:cs typeface="DM Sans"/>
              <a:sym typeface="DM Sans"/>
            </a:endParaRPr>
          </a:p>
        </p:txBody>
      </p:sp>
      <p:pic>
        <p:nvPicPr>
          <p:cNvPr id="2" name="Imagen 1"/>
          <p:cNvPicPr>
            <a:picLocks noChangeAspect="1"/>
          </p:cNvPicPr>
          <p:nvPr/>
        </p:nvPicPr>
        <p:blipFill>
          <a:blip r:embed="rId4"/>
          <a:stretch>
            <a:fillRect/>
          </a:stretch>
        </p:blipFill>
        <p:spPr>
          <a:xfrm>
            <a:off x="2038060" y="3253006"/>
            <a:ext cx="4153480" cy="495369"/>
          </a:xfrm>
          <a:prstGeom prst="rect">
            <a:avLst/>
          </a:prstGeom>
        </p:spPr>
      </p:pic>
    </p:spTree>
    <p:extLst>
      <p:ext uri="{BB962C8B-B14F-4D97-AF65-F5344CB8AC3E}">
        <p14:creationId xmlns:p14="http://schemas.microsoft.com/office/powerpoint/2010/main" val="320983391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dirty="0" smtClean="0">
                <a:solidFill>
                  <a:srgbClr val="EAFF6A"/>
                </a:solidFill>
                <a:latin typeface="DM Sans"/>
                <a:ea typeface="DM Sans"/>
                <a:cs typeface="DM Sans"/>
                <a:sym typeface="DM Sans"/>
              </a:rPr>
              <a:t>Panel Central</a:t>
            </a:r>
            <a:endParaRPr sz="3500" b="1" i="0" u="none" strike="noStrike" cap="none" dirty="0">
              <a:solidFill>
                <a:srgbClr val="EAFF6A"/>
              </a:solidFill>
              <a:latin typeface="DM Sans"/>
              <a:ea typeface="DM Sans"/>
              <a:cs typeface="DM Sans"/>
              <a:sym typeface="DM Sans"/>
            </a:endParaRPr>
          </a:p>
        </p:txBody>
      </p:sp>
      <p:sp>
        <p:nvSpPr>
          <p:cNvPr id="9" name="Google Shape;470;p87"/>
          <p:cNvSpPr txBox="1"/>
          <p:nvPr/>
        </p:nvSpPr>
        <p:spPr>
          <a:xfrm>
            <a:off x="391553" y="2127383"/>
            <a:ext cx="4987200" cy="877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Permite visualizar diferentes pestañas para ver o escribir comandos SQL, junto a la ventana de resultados al pie de este panel</a:t>
            </a:r>
            <a:r>
              <a:rPr lang="es-419" sz="1800" b="0" i="0" u="none" strike="noStrike" cap="none" dirty="0">
                <a:solidFill>
                  <a:schemeClr val="bg1"/>
                </a:solidFill>
                <a:latin typeface="Helvetica Neue"/>
                <a:ea typeface="Helvetica Neue"/>
                <a:cs typeface="Helvetica Neue"/>
                <a:sym typeface="Helvetica Neue"/>
              </a:rPr>
              <a:t>.</a:t>
            </a:r>
            <a:endParaRPr sz="1350" b="0" i="0" u="none" strike="noStrike" cap="none" dirty="0">
              <a:solidFill>
                <a:schemeClr val="bg1"/>
              </a:solidFill>
              <a:latin typeface="DM Sans"/>
              <a:ea typeface="DM Sans"/>
              <a:cs typeface="DM Sans"/>
              <a:sym typeface="DM Sans"/>
            </a:endParaRPr>
          </a:p>
        </p:txBody>
      </p:sp>
      <p:pic>
        <p:nvPicPr>
          <p:cNvPr id="10" name="Google Shape;471;p87"/>
          <p:cNvPicPr preferRelativeResize="0"/>
          <p:nvPr/>
        </p:nvPicPr>
        <p:blipFill rotWithShape="1">
          <a:blip r:embed="rId4">
            <a:alphaModFix/>
          </a:blip>
          <a:srcRect/>
          <a:stretch/>
        </p:blipFill>
        <p:spPr>
          <a:xfrm>
            <a:off x="5648970" y="1957333"/>
            <a:ext cx="2909513" cy="1217300"/>
          </a:xfrm>
          <a:prstGeom prst="rect">
            <a:avLst/>
          </a:prstGeom>
          <a:noFill/>
          <a:ln>
            <a:noFill/>
          </a:ln>
        </p:spPr>
      </p:pic>
    </p:spTree>
    <p:extLst>
      <p:ext uri="{BB962C8B-B14F-4D97-AF65-F5344CB8AC3E}">
        <p14:creationId xmlns:p14="http://schemas.microsoft.com/office/powerpoint/2010/main" val="156880239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669600"/>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dirty="0" smtClean="0">
                <a:solidFill>
                  <a:srgbClr val="EAFF6A"/>
                </a:solidFill>
                <a:latin typeface="DM Sans"/>
                <a:ea typeface="DM Sans"/>
                <a:cs typeface="DM Sans"/>
                <a:sym typeface="DM Sans"/>
              </a:rPr>
              <a:t>Pestaña de acciones</a:t>
            </a:r>
            <a:endParaRPr sz="3500" b="1" i="0" u="none" strike="noStrike" cap="none" dirty="0">
              <a:solidFill>
                <a:srgbClr val="EAFF6A"/>
              </a:solidFill>
              <a:latin typeface="DM Sans"/>
              <a:ea typeface="DM Sans"/>
              <a:cs typeface="DM Sans"/>
              <a:sym typeface="DM Sans"/>
            </a:endParaRPr>
          </a:p>
        </p:txBody>
      </p:sp>
      <p:sp>
        <p:nvSpPr>
          <p:cNvPr id="7" name="Google Shape;477;p88"/>
          <p:cNvSpPr txBox="1"/>
          <p:nvPr/>
        </p:nvSpPr>
        <p:spPr>
          <a:xfrm>
            <a:off x="473350" y="1908175"/>
            <a:ext cx="7780500" cy="808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Al </a:t>
            </a:r>
            <a:r>
              <a:rPr lang="es-419" sz="1350" b="0" i="0" u="none" strike="noStrike" cap="none" dirty="0" err="1">
                <a:solidFill>
                  <a:schemeClr val="bg1"/>
                </a:solidFill>
                <a:latin typeface="DM Sans"/>
                <a:ea typeface="DM Sans"/>
                <a:cs typeface="DM Sans"/>
                <a:sym typeface="DM Sans"/>
              </a:rPr>
              <a:t>pié</a:t>
            </a:r>
            <a:r>
              <a:rPr lang="es-419" sz="1350" b="0" i="0" u="none" strike="noStrike" cap="none" dirty="0">
                <a:solidFill>
                  <a:schemeClr val="bg1"/>
                </a:solidFill>
                <a:latin typeface="DM Sans"/>
                <a:ea typeface="DM Sans"/>
                <a:cs typeface="DM Sans"/>
                <a:sym typeface="DM Sans"/>
              </a:rPr>
              <a:t> de la ventana está la pestaña de acciones, donde veremos el resultado de cada consulta o comando SQL que se dispare; la confirmación de ejecución, los errores, y demás mensajes del sistema.</a:t>
            </a:r>
            <a:endParaRPr sz="1350" b="0" i="0" u="none" strike="noStrike" cap="none" dirty="0">
              <a:solidFill>
                <a:schemeClr val="bg1"/>
              </a:solidFill>
              <a:latin typeface="DM Sans"/>
              <a:ea typeface="DM Sans"/>
              <a:cs typeface="DM Sans"/>
              <a:sym typeface="DM Sans"/>
            </a:endParaRPr>
          </a:p>
        </p:txBody>
      </p:sp>
      <p:pic>
        <p:nvPicPr>
          <p:cNvPr id="8" name="Google Shape;478;p88"/>
          <p:cNvPicPr preferRelativeResize="0"/>
          <p:nvPr/>
        </p:nvPicPr>
        <p:blipFill rotWithShape="1">
          <a:blip r:embed="rId4">
            <a:alphaModFix/>
          </a:blip>
          <a:srcRect/>
          <a:stretch/>
        </p:blipFill>
        <p:spPr>
          <a:xfrm>
            <a:off x="757912" y="3266125"/>
            <a:ext cx="7571976" cy="879200"/>
          </a:xfrm>
          <a:prstGeom prst="rect">
            <a:avLst/>
          </a:prstGeom>
          <a:noFill/>
          <a:ln>
            <a:noFill/>
          </a:ln>
        </p:spPr>
      </p:pic>
    </p:spTree>
    <p:extLst>
      <p:ext uri="{BB962C8B-B14F-4D97-AF65-F5344CB8AC3E}">
        <p14:creationId xmlns:p14="http://schemas.microsoft.com/office/powerpoint/2010/main" val="80476960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6" name="Google Shape;434;p83"/>
          <p:cNvSpPr txBox="1"/>
          <p:nvPr/>
        </p:nvSpPr>
        <p:spPr>
          <a:xfrm>
            <a:off x="260697" y="816416"/>
            <a:ext cx="7169400" cy="1154132"/>
          </a:xfrm>
          <a:prstGeom prst="rect">
            <a:avLst/>
          </a:prstGeom>
          <a:noFill/>
          <a:ln>
            <a:noFill/>
          </a:ln>
        </p:spPr>
        <p:txBody>
          <a:bodyPr spcFirstLastPara="1" wrap="square" lIns="91425" tIns="91425" rIns="91425" bIns="91425" anchor="t" anchorCtr="0">
            <a:spAutoFit/>
          </a:bodyPr>
          <a:lstStyle/>
          <a:p>
            <a:pPr marL="0" marR="0" lvl="0" indent="0" algn="l" rtl="0">
              <a:lnSpc>
                <a:spcPct val="90000"/>
              </a:lnSpc>
              <a:spcBef>
                <a:spcPts val="0"/>
              </a:spcBef>
              <a:spcAft>
                <a:spcPts val="0"/>
              </a:spcAft>
              <a:buClr>
                <a:srgbClr val="000000"/>
              </a:buClr>
              <a:buSzPts val="3500"/>
              <a:buFont typeface="Arial"/>
              <a:buNone/>
            </a:pPr>
            <a:r>
              <a:rPr lang="es-419" sz="3500" b="1" dirty="0" err="1" smtClean="0">
                <a:solidFill>
                  <a:srgbClr val="EAFF6A"/>
                </a:solidFill>
                <a:latin typeface="DM Sans"/>
                <a:ea typeface="DM Sans"/>
                <a:cs typeface="DM Sans"/>
                <a:sym typeface="DM Sans"/>
              </a:rPr>
              <a:t>Tematicas</a:t>
            </a:r>
            <a:r>
              <a:rPr lang="es-419" sz="3500" b="1" dirty="0" smtClean="0">
                <a:solidFill>
                  <a:srgbClr val="EAFF6A"/>
                </a:solidFill>
                <a:latin typeface="DM Sans"/>
                <a:ea typeface="DM Sans"/>
                <a:cs typeface="DM Sans"/>
                <a:sym typeface="DM Sans"/>
              </a:rPr>
              <a:t> Posibles para el proyecto final</a:t>
            </a:r>
            <a:endParaRPr sz="3500" b="1" i="0" u="none" strike="noStrike" cap="none" dirty="0">
              <a:solidFill>
                <a:srgbClr val="EAFF6A"/>
              </a:solidFill>
              <a:latin typeface="DM Sans"/>
              <a:ea typeface="DM Sans"/>
              <a:cs typeface="DM Sans"/>
              <a:sym typeface="DM Sans"/>
            </a:endParaRPr>
          </a:p>
        </p:txBody>
      </p:sp>
      <p:sp>
        <p:nvSpPr>
          <p:cNvPr id="11" name="Google Shape;483;p89"/>
          <p:cNvSpPr txBox="1"/>
          <p:nvPr/>
        </p:nvSpPr>
        <p:spPr>
          <a:xfrm>
            <a:off x="457350" y="2517775"/>
            <a:ext cx="3834600" cy="1388298"/>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1" i="0" u="none" strike="noStrike" cap="none" dirty="0">
                <a:solidFill>
                  <a:schemeClr val="bg1"/>
                </a:solidFill>
                <a:latin typeface="DM Sans"/>
                <a:ea typeface="DM Sans"/>
                <a:cs typeface="DM Sans"/>
                <a:sym typeface="DM Sans"/>
              </a:rPr>
              <a:t>Consigna</a:t>
            </a:r>
            <a:endParaRPr sz="1350" b="1" i="0" u="none" strike="noStrike" cap="none" dirty="0">
              <a:solidFill>
                <a:schemeClr val="bg1"/>
              </a:solidFill>
              <a:latin typeface="DM Sans"/>
              <a:ea typeface="DM Sans"/>
              <a:cs typeface="DM Sans"/>
              <a:sym typeface="DM Sans"/>
            </a:endParaRPr>
          </a:p>
          <a:p>
            <a:pPr marL="0" marR="0" lvl="0" indent="0" algn="l" rtl="0">
              <a:lnSpc>
                <a:spcPct val="30000"/>
              </a:lnSpc>
              <a:spcBef>
                <a:spcPts val="0"/>
              </a:spcBef>
              <a:spcAft>
                <a:spcPts val="0"/>
              </a:spcAft>
              <a:buClr>
                <a:srgbClr val="000000"/>
              </a:buClr>
              <a:buSzPts val="1350"/>
              <a:buFont typeface="Arial"/>
              <a:buNone/>
            </a:pPr>
            <a:endParaRPr sz="1350" b="1" i="0" u="none" strike="noStrike" cap="none" dirty="0">
              <a:solidFill>
                <a:schemeClr val="bg1"/>
              </a:solidFill>
              <a:latin typeface="DM Sans"/>
              <a:ea typeface="DM Sans"/>
              <a:cs typeface="DM Sans"/>
              <a:sym typeface="DM Sans"/>
            </a:endParaRPr>
          </a:p>
          <a:p>
            <a:pPr marL="0" marR="0" lvl="0" indent="0" algn="l" rtl="0">
              <a:lnSpc>
                <a:spcPct val="100000"/>
              </a:lnSpc>
              <a:spcBef>
                <a:spcPts val="0"/>
              </a:spcBef>
              <a:spcAft>
                <a:spcPts val="800"/>
              </a:spcAft>
              <a:buClr>
                <a:srgbClr val="000000"/>
              </a:buClr>
              <a:buSzPts val="1350"/>
              <a:buFont typeface="Arial"/>
              <a:buNone/>
            </a:pPr>
            <a:r>
              <a:rPr lang="es-419" sz="1350" b="0" i="0" u="none" strike="noStrike" cap="none" dirty="0">
                <a:solidFill>
                  <a:schemeClr val="bg1"/>
                </a:solidFill>
                <a:latin typeface="DM Sans"/>
                <a:ea typeface="DM Sans"/>
                <a:cs typeface="DM Sans"/>
                <a:sym typeface="DM Sans"/>
              </a:rPr>
              <a:t>Pensar una serie de temáticas de cara a ir moldeando tu proyecto final y generar un listado de posibles temáticas a abordar para tu base de datos.</a:t>
            </a:r>
            <a:endParaRPr sz="1350" b="0" i="0" u="sng" strike="noStrike" cap="none" dirty="0">
              <a:solidFill>
                <a:schemeClr val="bg1"/>
              </a:solidFill>
              <a:latin typeface="DM Sans"/>
              <a:ea typeface="DM Sans"/>
              <a:cs typeface="DM Sans"/>
              <a:sym typeface="DM Sans"/>
            </a:endParaRPr>
          </a:p>
        </p:txBody>
      </p:sp>
      <p:sp>
        <p:nvSpPr>
          <p:cNvPr id="12" name="Google Shape;486;p89"/>
          <p:cNvSpPr txBox="1"/>
          <p:nvPr/>
        </p:nvSpPr>
        <p:spPr>
          <a:xfrm>
            <a:off x="4541850" y="2517775"/>
            <a:ext cx="3834600" cy="1909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50"/>
              <a:buFont typeface="Arial"/>
              <a:buNone/>
            </a:pPr>
            <a:r>
              <a:rPr lang="es-419" sz="1350" b="1" i="0" u="none" strike="noStrike" cap="none" dirty="0">
                <a:solidFill>
                  <a:schemeClr val="bg1"/>
                </a:solidFill>
                <a:latin typeface="DM Sans"/>
                <a:ea typeface="DM Sans"/>
                <a:cs typeface="DM Sans"/>
                <a:sym typeface="DM Sans"/>
              </a:rPr>
              <a:t>Aspectos a incluir</a:t>
            </a:r>
            <a:endParaRPr sz="1350" b="1" i="0" u="none" strike="noStrike" cap="none" dirty="0">
              <a:solidFill>
                <a:schemeClr val="bg1"/>
              </a:solidFill>
              <a:latin typeface="DM Sans"/>
              <a:ea typeface="DM Sans"/>
              <a:cs typeface="DM Sans"/>
              <a:sym typeface="DM Sans"/>
            </a:endParaRPr>
          </a:p>
          <a:p>
            <a:pPr marL="0" marR="0" lvl="0" indent="0" algn="l" rtl="0">
              <a:lnSpc>
                <a:spcPct val="30000"/>
              </a:lnSpc>
              <a:spcBef>
                <a:spcPts val="0"/>
              </a:spcBef>
              <a:spcAft>
                <a:spcPts val="0"/>
              </a:spcAft>
              <a:buClr>
                <a:srgbClr val="000000"/>
              </a:buClr>
              <a:buSzPts val="1350"/>
              <a:buFont typeface="Arial"/>
              <a:buNone/>
            </a:pPr>
            <a:endParaRPr sz="1350" b="1"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DM Sans"/>
              <a:buChar char="✓"/>
            </a:pPr>
            <a:r>
              <a:rPr lang="es-419" sz="1350" b="0" i="0" u="none" strike="noStrike" cap="none" dirty="0">
                <a:solidFill>
                  <a:schemeClr val="bg1"/>
                </a:solidFill>
                <a:latin typeface="DM Sans"/>
                <a:ea typeface="DM Sans"/>
                <a:cs typeface="DM Sans"/>
                <a:sym typeface="DM Sans"/>
              </a:rPr>
              <a:t>Para la clase 04 comenzaremos a diseñar el Diagrama Entidad-Relación de nuestro proyecto final.</a:t>
            </a:r>
            <a:endParaRPr sz="1350" b="0" i="0" u="none" strike="noStrike" cap="none" dirty="0">
              <a:solidFill>
                <a:schemeClr val="bg1"/>
              </a:solidFill>
              <a:latin typeface="DM Sans"/>
              <a:ea typeface="DM Sans"/>
              <a:cs typeface="DM Sans"/>
              <a:sym typeface="DM Sans"/>
            </a:endParaRPr>
          </a:p>
          <a:p>
            <a:pPr marL="457200" marR="0" lvl="0" indent="-314325" algn="l" rtl="0">
              <a:lnSpc>
                <a:spcPct val="100000"/>
              </a:lnSpc>
              <a:spcBef>
                <a:spcPts val="0"/>
              </a:spcBef>
              <a:spcAft>
                <a:spcPts val="0"/>
              </a:spcAft>
              <a:buClr>
                <a:schemeClr val="accent4"/>
              </a:buClr>
              <a:buSzPts val="1350"/>
              <a:buFont typeface="DM Sans"/>
              <a:buChar char="✓"/>
            </a:pPr>
            <a:r>
              <a:rPr lang="es-419" sz="1350" b="0" i="0" u="none" strike="noStrike" cap="none" dirty="0">
                <a:solidFill>
                  <a:schemeClr val="bg1"/>
                </a:solidFill>
                <a:latin typeface="DM Sans"/>
                <a:ea typeface="DM Sans"/>
                <a:cs typeface="DM Sans"/>
                <a:sym typeface="DM Sans"/>
              </a:rPr>
              <a:t>Si bien el mismo puede variar, al menos ya podemos construir las bases para que luego sean modificadas según lo que vayamos agregando en éste.</a:t>
            </a:r>
            <a:endParaRPr sz="1350" b="0" i="0" u="none" strike="noStrike" cap="none" dirty="0">
              <a:solidFill>
                <a:schemeClr val="bg1"/>
              </a:solidFill>
              <a:latin typeface="DM Sans"/>
              <a:ea typeface="DM Sans"/>
              <a:cs typeface="DM Sans"/>
              <a:sym typeface="DM Sans"/>
            </a:endParaRPr>
          </a:p>
        </p:txBody>
      </p:sp>
    </p:spTree>
    <p:extLst>
      <p:ext uri="{BB962C8B-B14F-4D97-AF65-F5344CB8AC3E}">
        <p14:creationId xmlns:p14="http://schemas.microsoft.com/office/powerpoint/2010/main" val="2936056909"/>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3"/>
          <p:cNvSpPr txBox="1"/>
          <p:nvPr/>
        </p:nvSpPr>
        <p:spPr>
          <a:xfrm>
            <a:off x="287079" y="323260"/>
            <a:ext cx="8346558" cy="1416059"/>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5000" dirty="0" smtClean="0">
                <a:solidFill>
                  <a:srgbClr val="F8F2E8"/>
                </a:solidFill>
                <a:latin typeface="Plus Jakarta Sans ExtraBold"/>
                <a:ea typeface="Plus Jakarta Sans ExtraBold"/>
                <a:cs typeface="Plus Jakarta Sans ExtraBold"/>
                <a:sym typeface="Plus Jakarta Sans ExtraBold"/>
              </a:rPr>
              <a:t>Resumen de la clase de hoy</a:t>
            </a:r>
            <a:endParaRPr sz="2000" dirty="0">
              <a:solidFill>
                <a:srgbClr val="F8F2E8"/>
              </a:solidFill>
              <a:latin typeface="Plus Jakarta Sans ExtraBold"/>
              <a:ea typeface="Plus Jakarta Sans ExtraBold"/>
              <a:cs typeface="Plus Jakarta Sans ExtraBold"/>
              <a:sym typeface="Plus Jakarta Sans ExtraBold"/>
            </a:endParaRPr>
          </a:p>
        </p:txBody>
      </p:sp>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7" name="Google Shape;500;p91"/>
          <p:cNvSpPr txBox="1"/>
          <p:nvPr/>
        </p:nvSpPr>
        <p:spPr>
          <a:xfrm>
            <a:off x="2222204" y="1739319"/>
            <a:ext cx="7846829" cy="2123628"/>
          </a:xfrm>
          <a:prstGeom prst="rect">
            <a:avLst/>
          </a:prstGeom>
          <a:noFill/>
          <a:ln>
            <a:noFill/>
          </a:ln>
        </p:spPr>
        <p:txBody>
          <a:bodyPr spcFirstLastPara="1" wrap="square" lIns="91425" tIns="91425" rIns="91425" bIns="91425" anchor="t" anchorCtr="0">
            <a:spAutoFit/>
          </a:bodyPr>
          <a:lstStyle/>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Tecnologías relacionadas con una DB.</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Historia de las DB</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Tipos de DB</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SQL y no SQL</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Bases de datos relacionales</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Modelo de entidad-relación</a:t>
            </a:r>
            <a:endParaRPr sz="1800" b="0" i="0" u="none" strike="noStrike" cap="none" dirty="0">
              <a:solidFill>
                <a:schemeClr val="lt1"/>
              </a:solidFill>
              <a:latin typeface="DM Sans"/>
              <a:ea typeface="DM Sans"/>
              <a:cs typeface="DM Sans"/>
              <a:sym typeface="DM Sans"/>
            </a:endParaRPr>
          </a:p>
          <a:p>
            <a:pPr marL="457200" marR="0" lvl="0" indent="-314325" algn="l" rtl="0">
              <a:lnSpc>
                <a:spcPct val="100000"/>
              </a:lnSpc>
              <a:spcBef>
                <a:spcPts val="0"/>
              </a:spcBef>
              <a:spcAft>
                <a:spcPts val="0"/>
              </a:spcAft>
              <a:buClr>
                <a:srgbClr val="E0FF00"/>
              </a:buClr>
              <a:buSzPts val="1350"/>
              <a:buFont typeface="Arial"/>
              <a:buChar char="✓"/>
            </a:pPr>
            <a:r>
              <a:rPr lang="es-419" sz="1800" b="0" i="0" u="none" strike="noStrike" cap="none" dirty="0">
                <a:solidFill>
                  <a:schemeClr val="lt1"/>
                </a:solidFill>
                <a:latin typeface="DM Sans"/>
                <a:ea typeface="DM Sans"/>
                <a:cs typeface="DM Sans"/>
                <a:sym typeface="DM Sans"/>
              </a:rPr>
              <a:t>Diseño de base de datos</a:t>
            </a:r>
            <a:endParaRPr sz="1800" b="0" i="0" u="none" strike="noStrike" cap="none"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3444087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3" name="Google Shape;93;p23" title="logo gradient 1.png"/>
          <p:cNvPicPr preferRelativeResize="0"/>
          <p:nvPr/>
        </p:nvPicPr>
        <p:blipFill>
          <a:blip r:embed="rId3">
            <a:alphaModFix/>
          </a:blip>
          <a:stretch>
            <a:fillRect/>
          </a:stretch>
        </p:blipFill>
        <p:spPr>
          <a:xfrm>
            <a:off x="3830803" y="4523150"/>
            <a:ext cx="1547950" cy="452250"/>
          </a:xfrm>
          <a:prstGeom prst="rect">
            <a:avLst/>
          </a:prstGeom>
          <a:noFill/>
          <a:ln>
            <a:noFill/>
          </a:ln>
        </p:spPr>
      </p:pic>
      <p:sp>
        <p:nvSpPr>
          <p:cNvPr id="5"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6"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3092262364"/>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447</TotalTime>
  <Words>1297</Words>
  <Application>Microsoft Office PowerPoint</Application>
  <PresentationFormat>Presentación en pantalla (16:9)</PresentationFormat>
  <Paragraphs>172</Paragraphs>
  <Slides>46</Slides>
  <Notes>46</Notes>
  <HiddenSlides>0</HiddenSlides>
  <MMClips>0</MMClips>
  <ScaleCrop>false</ScaleCrop>
  <HeadingPairs>
    <vt:vector size="6" baseType="variant">
      <vt:variant>
        <vt:lpstr>Fuentes usadas</vt:lpstr>
      </vt:variant>
      <vt:variant>
        <vt:i4>7</vt:i4>
      </vt:variant>
      <vt:variant>
        <vt:lpstr>Tema</vt:lpstr>
      </vt:variant>
      <vt:variant>
        <vt:i4>4</vt:i4>
      </vt:variant>
      <vt:variant>
        <vt:lpstr>Títulos de diapositiva</vt:lpstr>
      </vt:variant>
      <vt:variant>
        <vt:i4>46</vt:i4>
      </vt:variant>
    </vt:vector>
  </HeadingPairs>
  <TitlesOfParts>
    <vt:vector size="57" baseType="lpstr">
      <vt:lpstr>Arial</vt:lpstr>
      <vt:lpstr>Calibri</vt:lpstr>
      <vt:lpstr>DM Sans</vt:lpstr>
      <vt:lpstr>Helvetica Neue</vt:lpstr>
      <vt:lpstr>Plus Jakarta Sans</vt:lpstr>
      <vt:lpstr>Plus Jakarta Sans ExtraBold</vt:lpstr>
      <vt:lpstr>Plus Jakarta Sans Light</vt:lpstr>
      <vt:lpstr>Simple Light</vt:lpstr>
      <vt:lpstr>Coder</vt:lpstr>
      <vt:lpstr>Simple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Turi</dc:creator>
  <cp:lastModifiedBy>Turi</cp:lastModifiedBy>
  <cp:revision>17</cp:revision>
  <dcterms:modified xsi:type="dcterms:W3CDTF">2026-02-12T01:40:36Z</dcterms:modified>
</cp:coreProperties>
</file>